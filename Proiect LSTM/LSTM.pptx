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65" autoAdjust="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hai Duzi" userId="704f943f541a0e7e" providerId="LiveId" clId="{5262A6A1-5A07-46DF-944E-68C114D87898}"/>
    <pc:docChg chg="custSel addSld delSld modSld">
      <pc:chgData name="Mihai Duzi" userId="704f943f541a0e7e" providerId="LiveId" clId="{5262A6A1-5A07-46DF-944E-68C114D87898}" dt="2026-02-05T10:55:56.389" v="965" actId="20577"/>
      <pc:docMkLst>
        <pc:docMk/>
      </pc:docMkLst>
      <pc:sldChg chg="modSp mod">
        <pc:chgData name="Mihai Duzi" userId="704f943f541a0e7e" providerId="LiveId" clId="{5262A6A1-5A07-46DF-944E-68C114D87898}" dt="2026-02-05T10:30:37.904" v="3" actId="20577"/>
        <pc:sldMkLst>
          <pc:docMk/>
          <pc:sldMk cId="1806788409" sldId="256"/>
        </pc:sldMkLst>
        <pc:spChg chg="mod">
          <ac:chgData name="Mihai Duzi" userId="704f943f541a0e7e" providerId="LiveId" clId="{5262A6A1-5A07-46DF-944E-68C114D87898}" dt="2026-02-05T10:30:37.904" v="3" actId="20577"/>
          <ac:spMkLst>
            <pc:docMk/>
            <pc:sldMk cId="1806788409" sldId="256"/>
            <ac:spMk id="3" creationId="{F45CF869-41FB-4FD3-BAD0-34192B1541B8}"/>
          </ac:spMkLst>
        </pc:spChg>
      </pc:sldChg>
      <pc:sldChg chg="addSp modSp mod">
        <pc:chgData name="Mihai Duzi" userId="704f943f541a0e7e" providerId="LiveId" clId="{5262A6A1-5A07-46DF-944E-68C114D87898}" dt="2026-02-05T10:37:44.604" v="68" actId="20577"/>
        <pc:sldMkLst>
          <pc:docMk/>
          <pc:sldMk cId="1129322399" sldId="260"/>
        </pc:sldMkLst>
        <pc:spChg chg="mod">
          <ac:chgData name="Mihai Duzi" userId="704f943f541a0e7e" providerId="LiveId" clId="{5262A6A1-5A07-46DF-944E-68C114D87898}" dt="2026-02-05T10:37:44.604" v="68" actId="20577"/>
          <ac:spMkLst>
            <pc:docMk/>
            <pc:sldMk cId="1129322399" sldId="260"/>
            <ac:spMk id="3" creationId="{50F12275-2B39-4102-8A25-EE36C5397D21}"/>
          </ac:spMkLst>
        </pc:spChg>
        <pc:picChg chg="add mod">
          <ac:chgData name="Mihai Duzi" userId="704f943f541a0e7e" providerId="LiveId" clId="{5262A6A1-5A07-46DF-944E-68C114D87898}" dt="2026-02-05T10:32:46.875" v="10" actId="14100"/>
          <ac:picMkLst>
            <pc:docMk/>
            <pc:sldMk cId="1129322399" sldId="260"/>
            <ac:picMk id="5" creationId="{7AFF1622-9A54-49AA-9EC3-1FBD52116CD0}"/>
          </ac:picMkLst>
        </pc:picChg>
      </pc:sldChg>
      <pc:sldChg chg="addSp delSp modSp del mod">
        <pc:chgData name="Mihai Duzi" userId="704f943f541a0e7e" providerId="LiveId" clId="{5262A6A1-5A07-46DF-944E-68C114D87898}" dt="2026-02-05T10:32:51.014" v="11" actId="2696"/>
        <pc:sldMkLst>
          <pc:docMk/>
          <pc:sldMk cId="2799363934" sldId="261"/>
        </pc:sldMkLst>
        <pc:spChg chg="add mod">
          <ac:chgData name="Mihai Duzi" userId="704f943f541a0e7e" providerId="LiveId" clId="{5262A6A1-5A07-46DF-944E-68C114D87898}" dt="2026-02-05T10:32:31.758" v="5" actId="21"/>
          <ac:spMkLst>
            <pc:docMk/>
            <pc:sldMk cId="2799363934" sldId="261"/>
            <ac:spMk id="4" creationId="{93402814-2506-2A46-CDAF-07428A979571}"/>
          </ac:spMkLst>
        </pc:spChg>
        <pc:picChg chg="del">
          <ac:chgData name="Mihai Duzi" userId="704f943f541a0e7e" providerId="LiveId" clId="{5262A6A1-5A07-46DF-944E-68C114D87898}" dt="2026-02-05T10:32:31.758" v="5" actId="21"/>
          <ac:picMkLst>
            <pc:docMk/>
            <pc:sldMk cId="2799363934" sldId="261"/>
            <ac:picMk id="5" creationId="{7AFF1622-9A54-49AA-9EC3-1FBD52116CD0}"/>
          </ac:picMkLst>
        </pc:picChg>
      </pc:sldChg>
      <pc:sldChg chg="modSp mod">
        <pc:chgData name="Mihai Duzi" userId="704f943f541a0e7e" providerId="LiveId" clId="{5262A6A1-5A07-46DF-944E-68C114D87898}" dt="2026-02-05T10:37:11.231" v="56" actId="20577"/>
        <pc:sldMkLst>
          <pc:docMk/>
          <pc:sldMk cId="3953936144" sldId="263"/>
        </pc:sldMkLst>
        <pc:spChg chg="mod">
          <ac:chgData name="Mihai Duzi" userId="704f943f541a0e7e" providerId="LiveId" clId="{5262A6A1-5A07-46DF-944E-68C114D87898}" dt="2026-02-05T10:37:11.231" v="56" actId="20577"/>
          <ac:spMkLst>
            <pc:docMk/>
            <pc:sldMk cId="3953936144" sldId="263"/>
            <ac:spMk id="2" creationId="{B668B3B8-ECB1-47F1-B91C-61447F4CBA9A}"/>
          </ac:spMkLst>
        </pc:spChg>
        <pc:spChg chg="mod">
          <ac:chgData name="Mihai Duzi" userId="704f943f541a0e7e" providerId="LiveId" clId="{5262A6A1-5A07-46DF-944E-68C114D87898}" dt="2026-02-05T10:35:51.055" v="41" actId="20577"/>
          <ac:spMkLst>
            <pc:docMk/>
            <pc:sldMk cId="3953936144" sldId="263"/>
            <ac:spMk id="3" creationId="{ABF63BEA-6CEE-45C7-933B-64D59CA0994B}"/>
          </ac:spMkLst>
        </pc:spChg>
      </pc:sldChg>
      <pc:sldChg chg="modSp mod">
        <pc:chgData name="Mihai Duzi" userId="704f943f541a0e7e" providerId="LiveId" clId="{5262A6A1-5A07-46DF-944E-68C114D87898}" dt="2026-02-05T10:37:00.640" v="50" actId="20577"/>
        <pc:sldMkLst>
          <pc:docMk/>
          <pc:sldMk cId="3572836539" sldId="264"/>
        </pc:sldMkLst>
        <pc:spChg chg="mod">
          <ac:chgData name="Mihai Duzi" userId="704f943f541a0e7e" providerId="LiveId" clId="{5262A6A1-5A07-46DF-944E-68C114D87898}" dt="2026-02-05T10:37:00.640" v="50" actId="20577"/>
          <ac:spMkLst>
            <pc:docMk/>
            <pc:sldMk cId="3572836539" sldId="264"/>
            <ac:spMk id="4" creationId="{F4AB566F-80FE-4244-BD69-CB0F2612C4B4}"/>
          </ac:spMkLst>
        </pc:spChg>
      </pc:sldChg>
      <pc:sldChg chg="modSp mod">
        <pc:chgData name="Mihai Duzi" userId="704f943f541a0e7e" providerId="LiveId" clId="{5262A6A1-5A07-46DF-944E-68C114D87898}" dt="2026-02-05T10:36:32.654" v="45" actId="20577"/>
        <pc:sldMkLst>
          <pc:docMk/>
          <pc:sldMk cId="1605974186" sldId="265"/>
        </pc:sldMkLst>
        <pc:spChg chg="mod">
          <ac:chgData name="Mihai Duzi" userId="704f943f541a0e7e" providerId="LiveId" clId="{5262A6A1-5A07-46DF-944E-68C114D87898}" dt="2026-02-05T10:36:32.654" v="45" actId="20577"/>
          <ac:spMkLst>
            <pc:docMk/>
            <pc:sldMk cId="1605974186" sldId="265"/>
            <ac:spMk id="3" creationId="{83546C92-4BD3-4F24-8FA8-E74809788802}"/>
          </ac:spMkLst>
        </pc:spChg>
      </pc:sldChg>
      <pc:sldChg chg="modSp mod">
        <pc:chgData name="Mihai Duzi" userId="704f943f541a0e7e" providerId="LiveId" clId="{5262A6A1-5A07-46DF-944E-68C114D87898}" dt="2026-02-05T10:38:24.361" v="69" actId="1076"/>
        <pc:sldMkLst>
          <pc:docMk/>
          <pc:sldMk cId="2188110260" sldId="270"/>
        </pc:sldMkLst>
        <pc:picChg chg="mod">
          <ac:chgData name="Mihai Duzi" userId="704f943f541a0e7e" providerId="LiveId" clId="{5262A6A1-5A07-46DF-944E-68C114D87898}" dt="2026-02-05T10:38:24.361" v="69" actId="1076"/>
          <ac:picMkLst>
            <pc:docMk/>
            <pc:sldMk cId="2188110260" sldId="270"/>
            <ac:picMk id="13" creationId="{27F240F9-4931-4216-BC1E-2A266F9948AB}"/>
          </ac:picMkLst>
        </pc:picChg>
      </pc:sldChg>
      <pc:sldChg chg="modSp mod">
        <pc:chgData name="Mihai Duzi" userId="704f943f541a0e7e" providerId="LiveId" clId="{5262A6A1-5A07-46DF-944E-68C114D87898}" dt="2026-02-05T10:38:33.292" v="70" actId="20577"/>
        <pc:sldMkLst>
          <pc:docMk/>
          <pc:sldMk cId="1203172557" sldId="273"/>
        </pc:sldMkLst>
        <pc:spChg chg="mod">
          <ac:chgData name="Mihai Duzi" userId="704f943f541a0e7e" providerId="LiveId" clId="{5262A6A1-5A07-46DF-944E-68C114D87898}" dt="2026-02-05T10:38:33.292" v="70" actId="20577"/>
          <ac:spMkLst>
            <pc:docMk/>
            <pc:sldMk cId="1203172557" sldId="273"/>
            <ac:spMk id="2" creationId="{756A5118-CC87-4935-A84E-3FCFA1ED8FE3}"/>
          </ac:spMkLst>
        </pc:spChg>
      </pc:sldChg>
      <pc:sldChg chg="modSp mod">
        <pc:chgData name="Mihai Duzi" userId="704f943f541a0e7e" providerId="LiveId" clId="{5262A6A1-5A07-46DF-944E-68C114D87898}" dt="2026-02-05T10:38:54.489" v="75" actId="20577"/>
        <pc:sldMkLst>
          <pc:docMk/>
          <pc:sldMk cId="191421355" sldId="275"/>
        </pc:sldMkLst>
        <pc:spChg chg="mod">
          <ac:chgData name="Mihai Duzi" userId="704f943f541a0e7e" providerId="LiveId" clId="{5262A6A1-5A07-46DF-944E-68C114D87898}" dt="2026-02-05T10:38:54.489" v="75" actId="20577"/>
          <ac:spMkLst>
            <pc:docMk/>
            <pc:sldMk cId="191421355" sldId="275"/>
            <ac:spMk id="3" creationId="{87664D9C-AF68-4955-BEE6-539AF2E766AB}"/>
          </ac:spMkLst>
        </pc:spChg>
      </pc:sldChg>
      <pc:sldChg chg="addSp modSp mod">
        <pc:chgData name="Mihai Duzi" userId="704f943f541a0e7e" providerId="LiveId" clId="{5262A6A1-5A07-46DF-944E-68C114D87898}" dt="2026-02-05T10:41:03.168" v="84" actId="1076"/>
        <pc:sldMkLst>
          <pc:docMk/>
          <pc:sldMk cId="493744284" sldId="276"/>
        </pc:sldMkLst>
        <pc:graphicFrameChg chg="add mod">
          <ac:chgData name="Mihai Duzi" userId="704f943f541a0e7e" providerId="LiveId" clId="{5262A6A1-5A07-46DF-944E-68C114D87898}" dt="2026-02-05T10:41:03.168" v="84" actId="1076"/>
          <ac:graphicFrameMkLst>
            <pc:docMk/>
            <pc:sldMk cId="493744284" sldId="276"/>
            <ac:graphicFrameMk id="4" creationId="{C4205C32-40AA-4464-4A55-B6D2D3443379}"/>
          </ac:graphicFrameMkLst>
        </pc:graphicFrameChg>
        <pc:picChg chg="mod">
          <ac:chgData name="Mihai Duzi" userId="704f943f541a0e7e" providerId="LiveId" clId="{5262A6A1-5A07-46DF-944E-68C114D87898}" dt="2026-02-05T10:40:11.338" v="76" actId="14100"/>
          <ac:picMkLst>
            <pc:docMk/>
            <pc:sldMk cId="493744284" sldId="276"/>
            <ac:picMk id="6" creationId="{6FF8BF22-B2AC-41AA-9324-5363EADAA69E}"/>
          </ac:picMkLst>
        </pc:picChg>
      </pc:sldChg>
      <pc:sldChg chg="modSp new mod">
        <pc:chgData name="Mihai Duzi" userId="704f943f541a0e7e" providerId="LiveId" clId="{5262A6A1-5A07-46DF-944E-68C114D87898}" dt="2026-02-05T10:51:26.813" v="556" actId="20577"/>
        <pc:sldMkLst>
          <pc:docMk/>
          <pc:sldMk cId="864580165" sldId="279"/>
        </pc:sldMkLst>
        <pc:spChg chg="mod">
          <ac:chgData name="Mihai Duzi" userId="704f943f541a0e7e" providerId="LiveId" clId="{5262A6A1-5A07-46DF-944E-68C114D87898}" dt="2026-02-05T10:41:22.245" v="94" actId="20577"/>
          <ac:spMkLst>
            <pc:docMk/>
            <pc:sldMk cId="864580165" sldId="279"/>
            <ac:spMk id="2" creationId="{E1AD4BED-7BA8-F92B-3D07-83277F593818}"/>
          </ac:spMkLst>
        </pc:spChg>
        <pc:spChg chg="mod">
          <ac:chgData name="Mihai Duzi" userId="704f943f541a0e7e" providerId="LiveId" clId="{5262A6A1-5A07-46DF-944E-68C114D87898}" dt="2026-02-05T10:51:26.813" v="556" actId="20577"/>
          <ac:spMkLst>
            <pc:docMk/>
            <pc:sldMk cId="864580165" sldId="279"/>
            <ac:spMk id="3" creationId="{85879E56-2EB4-6E90-8380-4946C9D93B4B}"/>
          </ac:spMkLst>
        </pc:spChg>
      </pc:sldChg>
      <pc:sldChg chg="modSp new mod">
        <pc:chgData name="Mihai Duzi" userId="704f943f541a0e7e" providerId="LiveId" clId="{5262A6A1-5A07-46DF-944E-68C114D87898}" dt="2026-02-05T10:55:56.389" v="965" actId="20577"/>
        <pc:sldMkLst>
          <pc:docMk/>
          <pc:sldMk cId="2966461833" sldId="280"/>
        </pc:sldMkLst>
        <pc:spChg chg="mod">
          <ac:chgData name="Mihai Duzi" userId="704f943f541a0e7e" providerId="LiveId" clId="{5262A6A1-5A07-46DF-944E-68C114D87898}" dt="2026-02-05T10:51:52.154" v="580" actId="20577"/>
          <ac:spMkLst>
            <pc:docMk/>
            <pc:sldMk cId="2966461833" sldId="280"/>
            <ac:spMk id="2" creationId="{A1C2617A-38F1-DA42-1C0E-3DBA396EADD0}"/>
          </ac:spMkLst>
        </pc:spChg>
        <pc:spChg chg="mod">
          <ac:chgData name="Mihai Duzi" userId="704f943f541a0e7e" providerId="LiveId" clId="{5262A6A1-5A07-46DF-944E-68C114D87898}" dt="2026-02-05T10:55:56.389" v="965" actId="20577"/>
          <ac:spMkLst>
            <pc:docMk/>
            <pc:sldMk cId="2966461833" sldId="280"/>
            <ac:spMk id="3" creationId="{AEF9FE2F-144D-AB31-0071-2FD01401A2B6}"/>
          </ac:spMkLst>
        </pc:spChg>
      </pc:sldChg>
      <pc:sldChg chg="modSp new mod">
        <pc:chgData name="Mihai Duzi" userId="704f943f541a0e7e" providerId="LiveId" clId="{5262A6A1-5A07-46DF-944E-68C114D87898}" dt="2026-02-05T10:52:38.217" v="620" actId="14100"/>
        <pc:sldMkLst>
          <pc:docMk/>
          <pc:sldMk cId="537304280" sldId="281"/>
        </pc:sldMkLst>
        <pc:spChg chg="mod">
          <ac:chgData name="Mihai Duzi" userId="704f943f541a0e7e" providerId="LiveId" clId="{5262A6A1-5A07-46DF-944E-68C114D87898}" dt="2026-02-05T10:52:38.217" v="620" actId="14100"/>
          <ac:spMkLst>
            <pc:docMk/>
            <pc:sldMk cId="537304280" sldId="281"/>
            <ac:spMk id="2" creationId="{450A1497-3C06-8BB7-4DE5-795D0CAE69B7}"/>
          </ac:spMkLst>
        </pc:spChg>
        <pc:spChg chg="mod">
          <ac:chgData name="Mihai Duzi" userId="704f943f541a0e7e" providerId="LiveId" clId="{5262A6A1-5A07-46DF-944E-68C114D87898}" dt="2026-02-05T10:52:16.949" v="614" actId="27636"/>
          <ac:spMkLst>
            <pc:docMk/>
            <pc:sldMk cId="537304280" sldId="281"/>
            <ac:spMk id="3" creationId="{B33C04FB-58A5-8786-4E42-5F98984394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39EA8-3790-4309-83C4-87A98AAA4C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06ECB2-BDF5-4935-A64E-92C147E1E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58AE71-CD43-42E9-8302-16853A02AF0F}"/>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5" name="Footer Placeholder 4">
            <a:extLst>
              <a:ext uri="{FF2B5EF4-FFF2-40B4-BE49-F238E27FC236}">
                <a16:creationId xmlns:a16="http://schemas.microsoft.com/office/drawing/2014/main" id="{9C366945-0F71-469A-8E7A-552BAE4FD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CF708A-CCA8-4DF2-BD66-44A6F05364CE}"/>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581531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2017-E48F-4A96-8E5B-53C2193FCC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6F37A3-9125-4838-92CC-A047F3E977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61CA44-5F8E-4ED6-9C16-DA1BE095B82A}"/>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5" name="Footer Placeholder 4">
            <a:extLst>
              <a:ext uri="{FF2B5EF4-FFF2-40B4-BE49-F238E27FC236}">
                <a16:creationId xmlns:a16="http://schemas.microsoft.com/office/drawing/2014/main" id="{B48ACAF0-DFCC-4DB8-B48E-6D88672CE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00CEF-9FC5-4E85-85F3-6CED38F85862}"/>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4276651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28B49-442D-41B3-B6FE-ECE5CF95FD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98E122-FA0A-4E96-9277-6717B17219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43A9F7-B6D9-45C0-888D-8CE83290F4B4}"/>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5" name="Footer Placeholder 4">
            <a:extLst>
              <a:ext uri="{FF2B5EF4-FFF2-40B4-BE49-F238E27FC236}">
                <a16:creationId xmlns:a16="http://schemas.microsoft.com/office/drawing/2014/main" id="{4937EBC8-3B3E-45CC-BD27-578D80E0F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4E925-5C96-4AA3-9530-29EEAC1AEE84}"/>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71965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CBD2E-D185-4A6C-8F38-8C34A5CDA4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6F06B7-6E03-4175-BC57-F12F581546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DB83B6-B01A-41E0-A480-3D4F76A787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4901C3-694D-47AD-AF43-D4940EA33848}"/>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6" name="Footer Placeholder 5">
            <a:extLst>
              <a:ext uri="{FF2B5EF4-FFF2-40B4-BE49-F238E27FC236}">
                <a16:creationId xmlns:a16="http://schemas.microsoft.com/office/drawing/2014/main" id="{C41CC08C-4AFF-4D7B-8C89-8BCE717DD3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6471BD-8459-4461-8812-1E486FFFE541}"/>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2378323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FB73C-FF5F-45E6-A062-78BAC9830B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638DF3-B38A-4536-BC99-1F31108CA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329650-4682-495D-A0E8-BDADBE58E5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629818-2CE4-4BF3-80D5-AC4B298887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29299C-1740-4088-AF91-B42704CC73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E64B77-3B36-4746-BED4-9D9D10C7CA3E}"/>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8" name="Footer Placeholder 7">
            <a:extLst>
              <a:ext uri="{FF2B5EF4-FFF2-40B4-BE49-F238E27FC236}">
                <a16:creationId xmlns:a16="http://schemas.microsoft.com/office/drawing/2014/main" id="{AB746048-8D71-4ACA-8431-3F13DC915B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CEA432-0168-4B4E-887C-B25038638C5E}"/>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472034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EEAE2-7001-4830-BB6D-7FE70B9D75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347A2D-C7D1-42A8-A426-AA8A4AE66577}"/>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4" name="Footer Placeholder 3">
            <a:extLst>
              <a:ext uri="{FF2B5EF4-FFF2-40B4-BE49-F238E27FC236}">
                <a16:creationId xmlns:a16="http://schemas.microsoft.com/office/drawing/2014/main" id="{2B1B0441-999B-4E6A-9008-94C64BC786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F5E1D8-D019-47F7-A509-08271D00CD01}"/>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49605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CFB619-6257-467B-9D70-C50F30E29D54}"/>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3" name="Footer Placeholder 2">
            <a:extLst>
              <a:ext uri="{FF2B5EF4-FFF2-40B4-BE49-F238E27FC236}">
                <a16:creationId xmlns:a16="http://schemas.microsoft.com/office/drawing/2014/main" id="{3B27B9F4-7E80-4E2C-8F93-0BD0111C4E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9880CE-5CCE-45CB-9867-ECC5DE7703B6}"/>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2449679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37726-4C87-44EE-892F-E6101AE050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549B57-5839-4E3B-A162-69536FFCF9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A9A74F-66EE-46A8-A9E2-EC854131C7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F909AF-E330-4AE8-A4A7-8685CDCF563F}"/>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6" name="Footer Placeholder 5">
            <a:extLst>
              <a:ext uri="{FF2B5EF4-FFF2-40B4-BE49-F238E27FC236}">
                <a16:creationId xmlns:a16="http://schemas.microsoft.com/office/drawing/2014/main" id="{D6F6D871-23F9-44F9-B78C-5A2A203E91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A52E3-F527-4B39-BA93-31CC73CBD4E3}"/>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618762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9A5C-1970-4A12-AC4C-D1833A27E8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C0176C-C509-4750-92BF-76F8F89B20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BFE87D-8570-4AB0-BA90-C67F12F095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48B7A-BB3F-48BE-A784-334139FFAAF9}"/>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6" name="Footer Placeholder 5">
            <a:extLst>
              <a:ext uri="{FF2B5EF4-FFF2-40B4-BE49-F238E27FC236}">
                <a16:creationId xmlns:a16="http://schemas.microsoft.com/office/drawing/2014/main" id="{D46F32FA-5123-4B62-B052-F6C46A2393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1F6764-EAAA-426E-A4F5-5BE4F098FAEA}"/>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125018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0B7CB-803B-4DC4-9B10-7DE870D510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7FE808-5AEB-4CCB-A5D6-8BB5FA8E4B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FE138E-3207-462D-BE25-5851130A1F43}"/>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5" name="Footer Placeholder 4">
            <a:extLst>
              <a:ext uri="{FF2B5EF4-FFF2-40B4-BE49-F238E27FC236}">
                <a16:creationId xmlns:a16="http://schemas.microsoft.com/office/drawing/2014/main" id="{4FA686D3-04CB-4C03-A713-C062E1626F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192D8-4CC4-4F4C-85D1-C4B4C3F64BCE}"/>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369990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1880F6-92E5-4B76-8BCF-D25D72E835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B0249-4274-4256-B554-206DA88391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0E025-6A15-4A80-A1FF-B3EBB0882B03}"/>
              </a:ext>
            </a:extLst>
          </p:cNvPr>
          <p:cNvSpPr>
            <a:spLocks noGrp="1"/>
          </p:cNvSpPr>
          <p:nvPr>
            <p:ph type="dt" sz="half" idx="10"/>
          </p:nvPr>
        </p:nvSpPr>
        <p:spPr/>
        <p:txBody>
          <a:bodyPr/>
          <a:lstStyle/>
          <a:p>
            <a:fld id="{8A2EEAC7-19F2-4432-9941-9A73747AE538}" type="datetimeFigureOut">
              <a:rPr lang="en-US" smtClean="0"/>
              <a:t>2/5/2026</a:t>
            </a:fld>
            <a:endParaRPr lang="en-US"/>
          </a:p>
        </p:txBody>
      </p:sp>
      <p:sp>
        <p:nvSpPr>
          <p:cNvPr id="5" name="Footer Placeholder 4">
            <a:extLst>
              <a:ext uri="{FF2B5EF4-FFF2-40B4-BE49-F238E27FC236}">
                <a16:creationId xmlns:a16="http://schemas.microsoft.com/office/drawing/2014/main" id="{FD14FE7F-6AC4-4650-B7EE-E939AFC629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508277-78C3-4B5B-8726-D1533EB9E6B5}"/>
              </a:ext>
            </a:extLst>
          </p:cNvPr>
          <p:cNvSpPr>
            <a:spLocks noGrp="1"/>
          </p:cNvSpPr>
          <p:nvPr>
            <p:ph type="sldNum" sz="quarter" idx="12"/>
          </p:nvPr>
        </p:nvSpPr>
        <p:spPr/>
        <p:txBody>
          <a:bodyPr/>
          <a:lstStyle/>
          <a:p>
            <a:fld id="{0605159A-55C7-4324-BD5E-13910F5EFEE1}" type="slidenum">
              <a:rPr lang="en-US" smtClean="0"/>
              <a:t>‹#›</a:t>
            </a:fld>
            <a:endParaRPr lang="en-US"/>
          </a:p>
        </p:txBody>
      </p:sp>
    </p:spTree>
    <p:extLst>
      <p:ext uri="{BB962C8B-B14F-4D97-AF65-F5344CB8AC3E}">
        <p14:creationId xmlns:p14="http://schemas.microsoft.com/office/powerpoint/2010/main" val="195868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6406A4-A98F-4AB3-A4AC-E793C82EA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2D5963-F819-4339-88AA-AF9EDCD62F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CE189-300A-4FF4-AED4-60CDC675E2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2EEAC7-19F2-4432-9941-9A73747AE538}" type="datetimeFigureOut">
              <a:rPr lang="en-US" smtClean="0"/>
              <a:t>2/5/2026</a:t>
            </a:fld>
            <a:endParaRPr lang="en-US"/>
          </a:p>
        </p:txBody>
      </p:sp>
      <p:sp>
        <p:nvSpPr>
          <p:cNvPr id="5" name="Footer Placeholder 4">
            <a:extLst>
              <a:ext uri="{FF2B5EF4-FFF2-40B4-BE49-F238E27FC236}">
                <a16:creationId xmlns:a16="http://schemas.microsoft.com/office/drawing/2014/main" id="{629A6745-BD92-4860-86F3-3F74C51574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43CA64-06B9-492B-B35C-196017F71A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05159A-55C7-4324-BD5E-13910F5EFEE1}" type="slidenum">
              <a:rPr lang="en-US" smtClean="0"/>
              <a:t>‹#›</a:t>
            </a:fld>
            <a:endParaRPr lang="en-US"/>
          </a:p>
        </p:txBody>
      </p:sp>
    </p:spTree>
    <p:extLst>
      <p:ext uri="{BB962C8B-B14F-4D97-AF65-F5344CB8AC3E}">
        <p14:creationId xmlns:p14="http://schemas.microsoft.com/office/powerpoint/2010/main" val="1037672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7B27-5584-4EA5-AECC-20900FCB1819}"/>
              </a:ext>
            </a:extLst>
          </p:cNvPr>
          <p:cNvSpPr>
            <a:spLocks noGrp="1"/>
          </p:cNvSpPr>
          <p:nvPr>
            <p:ph type="ctrTitle"/>
          </p:nvPr>
        </p:nvSpPr>
        <p:spPr/>
        <p:txBody>
          <a:bodyPr>
            <a:normAutofit/>
          </a:bodyPr>
          <a:lstStyle/>
          <a:p>
            <a:r>
              <a:rPr lang="en-US" sz="4000" b="1" dirty="0"/>
              <a:t>Re</a:t>
            </a:r>
            <a:r>
              <a:rPr lang="ro-RO" sz="4000" b="1" dirty="0"/>
              <a:t>ț</a:t>
            </a:r>
            <a:r>
              <a:rPr lang="en-US" sz="4000" b="1" dirty="0" err="1"/>
              <a:t>ele</a:t>
            </a:r>
            <a:r>
              <a:rPr lang="en-US" sz="4000" b="1" dirty="0"/>
              <a:t> </a:t>
            </a:r>
            <a:r>
              <a:rPr lang="en-US" sz="4000" b="1" dirty="0" err="1"/>
              <a:t>neuronale</a:t>
            </a:r>
            <a:r>
              <a:rPr lang="en-US" sz="4000" b="1" dirty="0"/>
              <a:t> LSTM </a:t>
            </a:r>
            <a:r>
              <a:rPr lang="en-US" sz="4000" b="1" dirty="0" err="1"/>
              <a:t>pentru</a:t>
            </a:r>
            <a:r>
              <a:rPr lang="en-US" sz="4000" b="1" dirty="0"/>
              <a:t> </a:t>
            </a:r>
            <a:r>
              <a:rPr lang="en-US" sz="4000" b="1" dirty="0" err="1"/>
              <a:t>serii</a:t>
            </a:r>
            <a:r>
              <a:rPr lang="en-US" sz="4000" b="1" dirty="0"/>
              <a:t> de </a:t>
            </a:r>
            <a:r>
              <a:rPr lang="en-US" sz="4000" b="1" dirty="0" err="1"/>
              <a:t>timp</a:t>
            </a:r>
            <a:endParaRPr lang="en-US" sz="4000" b="1" dirty="0"/>
          </a:p>
        </p:txBody>
      </p:sp>
      <p:sp>
        <p:nvSpPr>
          <p:cNvPr id="3" name="Subtitle 2">
            <a:extLst>
              <a:ext uri="{FF2B5EF4-FFF2-40B4-BE49-F238E27FC236}">
                <a16:creationId xmlns:a16="http://schemas.microsoft.com/office/drawing/2014/main" id="{F45CF869-41FB-4FD3-BAD0-34192B1541B8}"/>
              </a:ext>
            </a:extLst>
          </p:cNvPr>
          <p:cNvSpPr>
            <a:spLocks noGrp="1"/>
          </p:cNvSpPr>
          <p:nvPr>
            <p:ph type="subTitle" idx="1"/>
          </p:nvPr>
        </p:nvSpPr>
        <p:spPr/>
        <p:txBody>
          <a:bodyPr/>
          <a:lstStyle/>
          <a:p>
            <a:r>
              <a:rPr lang="en-US" dirty="0"/>
              <a:t>Lum</a:t>
            </a:r>
            <a:r>
              <a:rPr lang="ro-RO" dirty="0"/>
              <a:t>î</a:t>
            </a:r>
            <a:r>
              <a:rPr lang="en-US" dirty="0"/>
              <a:t>n</a:t>
            </a:r>
            <a:r>
              <a:rPr lang="ro-RO" dirty="0"/>
              <a:t>ă</a:t>
            </a:r>
            <a:r>
              <a:rPr lang="en-US" dirty="0" err="1"/>
              <a:t>raru</a:t>
            </a:r>
            <a:r>
              <a:rPr lang="en-US" dirty="0"/>
              <a:t> </a:t>
            </a:r>
            <a:r>
              <a:rPr lang="en-US" dirty="0" err="1"/>
              <a:t>Ionu</a:t>
            </a:r>
            <a:r>
              <a:rPr lang="ro-RO" dirty="0"/>
              <a:t>ț</a:t>
            </a:r>
            <a:r>
              <a:rPr lang="en-US" dirty="0"/>
              <a:t> - 342</a:t>
            </a:r>
          </a:p>
          <a:p>
            <a:r>
              <a:rPr lang="en-US" dirty="0"/>
              <a:t>Duzi Mihai-Nicolae - 352</a:t>
            </a:r>
          </a:p>
        </p:txBody>
      </p:sp>
    </p:spTree>
    <p:extLst>
      <p:ext uri="{BB962C8B-B14F-4D97-AF65-F5344CB8AC3E}">
        <p14:creationId xmlns:p14="http://schemas.microsoft.com/office/powerpoint/2010/main" val="1806788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15EA-A3F7-4FA8-B678-68E171D635F2}"/>
              </a:ext>
            </a:extLst>
          </p:cNvPr>
          <p:cNvSpPr>
            <a:spLocks noGrp="1"/>
          </p:cNvSpPr>
          <p:nvPr>
            <p:ph type="title"/>
          </p:nvPr>
        </p:nvSpPr>
        <p:spPr/>
        <p:txBody>
          <a:bodyPr/>
          <a:lstStyle/>
          <a:p>
            <a:r>
              <a:rPr lang="ro-RO" dirty="0"/>
              <a:t>Rezumat</a:t>
            </a:r>
            <a:endParaRPr lang="en-US" dirty="0"/>
          </a:p>
        </p:txBody>
      </p:sp>
      <p:sp>
        <p:nvSpPr>
          <p:cNvPr id="3" name="Content Placeholder 2">
            <a:extLst>
              <a:ext uri="{FF2B5EF4-FFF2-40B4-BE49-F238E27FC236}">
                <a16:creationId xmlns:a16="http://schemas.microsoft.com/office/drawing/2014/main" id="{5156D43B-124D-4C37-ADF8-AC93311F71F9}"/>
              </a:ext>
            </a:extLst>
          </p:cNvPr>
          <p:cNvSpPr>
            <a:spLocks noGrp="1"/>
          </p:cNvSpPr>
          <p:nvPr>
            <p:ph idx="1"/>
          </p:nvPr>
        </p:nvSpPr>
        <p:spPr/>
        <p:txBody>
          <a:bodyPr/>
          <a:lstStyle/>
          <a:p>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    Această lucrare analizează diverse modele de inteligență artificială pentru serii de timp, cu scopul prezicerii consumului de curent electric al unei locuințe. Pentru testarea modelelor, am folosit setul de date </a:t>
            </a:r>
            <a:r>
              <a:rPr lang="ro-RO" sz="1800" b="1" kern="100" dirty="0">
                <a:effectLst/>
                <a:latin typeface="Times New Roman" panose="02020603050405020304" pitchFamily="18" charset="0"/>
                <a:ea typeface="Calibri" panose="020F0502020204030204" pitchFamily="34" charset="0"/>
                <a:cs typeface="Times New Roman" panose="02020603050405020304" pitchFamily="18" charset="0"/>
              </a:rPr>
              <a:t>Individual </a:t>
            </a:r>
            <a:r>
              <a:rPr lang="ro-RO" sz="1800" b="1" kern="100" dirty="0" err="1">
                <a:effectLst/>
                <a:latin typeface="Times New Roman" panose="02020603050405020304" pitchFamily="18" charset="0"/>
                <a:ea typeface="Calibri" panose="020F0502020204030204" pitchFamily="34" charset="0"/>
                <a:cs typeface="Times New Roman" panose="02020603050405020304" pitchFamily="18" charset="0"/>
              </a:rPr>
              <a:t>Household</a:t>
            </a:r>
            <a:r>
              <a:rPr lang="ro-RO" sz="1800" b="1" kern="100" dirty="0">
                <a:effectLst/>
                <a:latin typeface="Times New Roman" panose="02020603050405020304" pitchFamily="18" charset="0"/>
                <a:ea typeface="Calibri" panose="020F0502020204030204" pitchFamily="34" charset="0"/>
                <a:cs typeface="Times New Roman" panose="02020603050405020304" pitchFamily="18" charset="0"/>
              </a:rPr>
              <a:t> Electric Power </a:t>
            </a:r>
            <a:r>
              <a:rPr lang="ro-RO" sz="1800" b="1" kern="100" dirty="0" err="1">
                <a:effectLst/>
                <a:latin typeface="Times New Roman" panose="02020603050405020304" pitchFamily="18" charset="0"/>
                <a:ea typeface="Calibri" panose="020F0502020204030204" pitchFamily="34" charset="0"/>
                <a:cs typeface="Times New Roman" panose="02020603050405020304" pitchFamily="18" charset="0"/>
              </a:rPr>
              <a:t>Consumption</a:t>
            </a:r>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 Sunt prezentate și comparate modele auto-regresive, printre care și modele din sfera învățării adânci precum rețelele neuronale LSTM și </a:t>
            </a:r>
            <a:r>
              <a:rPr lang="ro-RO" sz="1800" kern="100" dirty="0" err="1">
                <a:effectLst/>
                <a:latin typeface="Times New Roman" panose="02020603050405020304" pitchFamily="18" charset="0"/>
                <a:ea typeface="Calibri" panose="020F0502020204030204" pitchFamily="34" charset="0"/>
                <a:cs typeface="Times New Roman" panose="02020603050405020304" pitchFamily="18" charset="0"/>
              </a:rPr>
              <a:t>transformes</a:t>
            </a:r>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a:t>
            </a:r>
          </a:p>
          <a:p>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    Motivația acestui studiu este de a găsi o metoda de regresie care sa prezică cu o precizie rezonabilă consu</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mul cu electricitate dintr-o gospodărie pe o anumită perioadă având in vedere volumul de date si resursele fizice</a:t>
            </a:r>
            <a:endParaRPr lang="en-US" sz="1800" kern="100" dirty="0">
              <a:latin typeface="Times New Roman" panose="02020603050405020304" pitchFamily="18" charset="0"/>
              <a:ea typeface="Calibri" panose="020F0502020204030204" pitchFamily="34" charset="0"/>
              <a:cs typeface="Times New Roman" panose="02020603050405020304" pitchFamily="18" charset="0"/>
            </a:endParaRPr>
          </a:p>
          <a:p>
            <a:r>
              <a:rPr lang="ro-RO"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Principalele metode de a rezolva acest task sunt</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modele</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ARMA,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retele</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Long Short-Term Memory, Transformers.</a:t>
            </a:r>
          </a:p>
          <a:p>
            <a:r>
              <a:rPr lang="en-US" sz="1800" kern="100" dirty="0">
                <a:latin typeface="Times New Roman" panose="02020603050405020304" pitchFamily="18" charset="0"/>
                <a:ea typeface="Calibri" panose="020F0502020204030204" pitchFamily="34" charset="0"/>
                <a:cs typeface="Times New Roman" panose="02020603050405020304" pitchFamily="18" charset="0"/>
              </a:rPr>
              <a:t>     Solu</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ția</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 pe care am ales-o este LSTM deoarece  </a:t>
            </a:r>
            <a:r>
              <a:rPr lang="en-US" sz="1800" dirty="0"/>
              <a:t>LSTM-urile sunt </a:t>
            </a:r>
            <a:r>
              <a:rPr lang="en-US" sz="1800" dirty="0" err="1"/>
              <a:t>avantajoase</a:t>
            </a:r>
            <a:r>
              <a:rPr lang="en-US" sz="1800" dirty="0"/>
              <a:t> </a:t>
            </a:r>
            <a:r>
              <a:rPr lang="en-US" sz="1800" dirty="0" err="1"/>
              <a:t>față</a:t>
            </a:r>
            <a:r>
              <a:rPr lang="en-US" sz="1800" dirty="0"/>
              <a:t> de Transformers </a:t>
            </a:r>
            <a:r>
              <a:rPr lang="en-US" sz="1800" dirty="0" err="1"/>
              <a:t>în</a:t>
            </a:r>
            <a:r>
              <a:rPr lang="en-US" sz="1800" dirty="0"/>
              <a:t> </a:t>
            </a:r>
            <a:r>
              <a:rPr lang="en-US" sz="1800" dirty="0" err="1"/>
              <a:t>cazul</a:t>
            </a:r>
            <a:r>
              <a:rPr lang="en-US" sz="1800" dirty="0"/>
              <a:t> </a:t>
            </a:r>
            <a:r>
              <a:rPr lang="en-US" sz="1800" dirty="0" err="1"/>
              <a:t>seturilor</a:t>
            </a:r>
            <a:r>
              <a:rPr lang="en-US" sz="1800" dirty="0"/>
              <a:t> de date de </a:t>
            </a:r>
            <a:r>
              <a:rPr lang="en-US" sz="1800" dirty="0" err="1"/>
              <a:t>dimensiune</a:t>
            </a:r>
            <a:r>
              <a:rPr lang="en-US" sz="1800" dirty="0"/>
              <a:t> </a:t>
            </a:r>
            <a:r>
              <a:rPr lang="en-US" sz="1800" dirty="0" err="1"/>
              <a:t>medie</a:t>
            </a:r>
            <a:r>
              <a:rPr lang="en-US" sz="1800" dirty="0"/>
              <a:t>, </a:t>
            </a:r>
            <a:r>
              <a:rPr lang="en-US" sz="1800" dirty="0" err="1"/>
              <a:t>deoarece</a:t>
            </a:r>
            <a:r>
              <a:rPr lang="en-US" sz="1800" dirty="0"/>
              <a:t> </a:t>
            </a:r>
            <a:r>
              <a:rPr lang="en-US" sz="1800" dirty="0" err="1"/>
              <a:t>necesită</a:t>
            </a:r>
            <a:r>
              <a:rPr lang="en-US" sz="1800" dirty="0"/>
              <a:t> </a:t>
            </a:r>
            <a:r>
              <a:rPr lang="en-US" sz="1800" dirty="0" err="1"/>
              <a:t>mai</a:t>
            </a:r>
            <a:r>
              <a:rPr lang="en-US" sz="1800" dirty="0"/>
              <a:t> </a:t>
            </a:r>
            <a:r>
              <a:rPr lang="en-US" sz="1800" dirty="0" err="1"/>
              <a:t>puțini</a:t>
            </a:r>
            <a:r>
              <a:rPr lang="en-US" sz="1800" dirty="0"/>
              <a:t> </a:t>
            </a:r>
            <a:r>
              <a:rPr lang="en-US" sz="1800" dirty="0" err="1"/>
              <a:t>parametri</a:t>
            </a:r>
            <a:r>
              <a:rPr lang="en-US" sz="1800" dirty="0"/>
              <a:t>, sunt </a:t>
            </a:r>
            <a:r>
              <a:rPr lang="en-US" sz="1800" dirty="0" err="1"/>
              <a:t>mai</a:t>
            </a:r>
            <a:r>
              <a:rPr lang="en-US" sz="1800" dirty="0"/>
              <a:t> stabile la </a:t>
            </a:r>
            <a:r>
              <a:rPr lang="en-US" sz="1800" dirty="0" err="1"/>
              <a:t>antrenare</a:t>
            </a:r>
            <a:r>
              <a:rPr lang="en-US" sz="1800" dirty="0"/>
              <a:t> </a:t>
            </a:r>
            <a:r>
              <a:rPr lang="en-US" sz="1800" dirty="0" err="1"/>
              <a:t>și</a:t>
            </a:r>
            <a:r>
              <a:rPr lang="en-US" sz="1800" dirty="0"/>
              <a:t> </a:t>
            </a:r>
            <a:r>
              <a:rPr lang="en-US" sz="1800" dirty="0" err="1"/>
              <a:t>modelează</a:t>
            </a:r>
            <a:r>
              <a:rPr lang="en-US" sz="1800" dirty="0"/>
              <a:t> natural </a:t>
            </a:r>
            <a:r>
              <a:rPr lang="en-US" sz="1800" dirty="0" err="1"/>
              <a:t>dependențele</a:t>
            </a:r>
            <a:r>
              <a:rPr lang="en-US" sz="1800" dirty="0"/>
              <a:t> </a:t>
            </a:r>
            <a:r>
              <a:rPr lang="en-US" sz="1800" dirty="0" err="1"/>
              <a:t>secvențiale</a:t>
            </a:r>
            <a:r>
              <a:rPr lang="en-US" sz="1800" dirty="0"/>
              <a:t>, </a:t>
            </a:r>
            <a:r>
              <a:rPr lang="en-US" sz="1800" dirty="0" err="1"/>
              <a:t>având</a:t>
            </a:r>
            <a:r>
              <a:rPr lang="en-US" sz="1800" dirty="0"/>
              <a:t> un </a:t>
            </a:r>
            <a:r>
              <a:rPr lang="en-US" sz="1800" dirty="0" err="1"/>
              <a:t>consum</a:t>
            </a:r>
            <a:r>
              <a:rPr lang="en-US" sz="1800" dirty="0"/>
              <a:t> </a:t>
            </a:r>
            <a:r>
              <a:rPr lang="en-US" sz="1800" dirty="0" err="1"/>
              <a:t>redus</a:t>
            </a:r>
            <a:r>
              <a:rPr lang="en-US" sz="1800" dirty="0"/>
              <a:t> de </a:t>
            </a:r>
            <a:r>
              <a:rPr lang="en-US" sz="1800" dirty="0" err="1"/>
              <a:t>memorie</a:t>
            </a:r>
            <a:r>
              <a:rPr lang="en-US" sz="1800" dirty="0"/>
              <a:t>.</a:t>
            </a:r>
            <a:endParaRPr lang="en-US" sz="1800"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19004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16DB-9754-4E42-9E14-1EEDBF98B2B3}"/>
              </a:ext>
            </a:extLst>
          </p:cNvPr>
          <p:cNvSpPr>
            <a:spLocks noGrp="1"/>
          </p:cNvSpPr>
          <p:nvPr>
            <p:ph type="title"/>
          </p:nvPr>
        </p:nvSpPr>
        <p:spPr>
          <a:xfrm>
            <a:off x="838200" y="365125"/>
            <a:ext cx="10515600" cy="815975"/>
          </a:xfrm>
        </p:spPr>
        <p:txBody>
          <a:bodyPr>
            <a:normAutofit/>
          </a:bodyPr>
          <a:lstStyle/>
          <a:p>
            <a:r>
              <a:rPr lang="ro-RO" sz="3600" dirty="0"/>
              <a:t>Setul de date</a:t>
            </a:r>
            <a:endParaRPr lang="en-US" sz="3600" dirty="0"/>
          </a:p>
        </p:txBody>
      </p:sp>
      <p:sp>
        <p:nvSpPr>
          <p:cNvPr id="3" name="Content Placeholder 2">
            <a:extLst>
              <a:ext uri="{FF2B5EF4-FFF2-40B4-BE49-F238E27FC236}">
                <a16:creationId xmlns:a16="http://schemas.microsoft.com/office/drawing/2014/main" id="{CE9D8685-C15C-49BB-B685-25138E3502CC}"/>
              </a:ext>
            </a:extLst>
          </p:cNvPr>
          <p:cNvSpPr>
            <a:spLocks noGrp="1"/>
          </p:cNvSpPr>
          <p:nvPr>
            <p:ph idx="1"/>
          </p:nvPr>
        </p:nvSpPr>
        <p:spPr>
          <a:xfrm>
            <a:off x="742950" y="1333500"/>
            <a:ext cx="10515600" cy="4852988"/>
          </a:xfrm>
        </p:spPr>
        <p:txBody>
          <a:bodyPr>
            <a:normAutofit/>
          </a:bodyPr>
          <a:lstStyle/>
          <a:p>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In acest </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dataset</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 avem 9 </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features</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-uri </a:t>
            </a:r>
            <a:endParaRPr lang="en-US" sz="1800"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primele</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2 nu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vor</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fi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folosite</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deoarece</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se sub</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î</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n</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ț</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eleg</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din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logica</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seriei</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de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timp.</a:t>
            </a:r>
            <a:endParaRPr lang="ro-RO" sz="1800" kern="100" dirty="0">
              <a:latin typeface="Times New Roman" panose="02020603050405020304" pitchFamily="18" charset="0"/>
              <a:ea typeface="Calibri" panose="020F0502020204030204" pitchFamily="34" charset="0"/>
              <a:cs typeface="Times New Roman" panose="02020603050405020304" pitchFamily="18" charset="0"/>
            </a:endParaRPr>
          </a:p>
          <a:p>
            <a:r>
              <a:rPr lang="ro-RO" sz="1800" kern="100" dirty="0">
                <a:latin typeface="Times New Roman" panose="02020603050405020304" pitchFamily="18" charset="0"/>
                <a:ea typeface="Calibri" panose="020F0502020204030204" pitchFamily="34" charset="0"/>
                <a:cs typeface="Times New Roman" panose="02020603050405020304" pitchFamily="18" charset="0"/>
              </a:rPr>
              <a:t>    </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Feature-ul</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 </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Global_active_power</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 este cel pe care vrem sa îl prezicem iar restul sunt date exogene(date care au o corelație mare cu </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feature-ul</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 pe care vrem să îl prezicem) care vor fi folosite pentru a </a:t>
            </a:r>
            <a:r>
              <a:rPr lang="ro-RO" sz="1800" kern="100" dirty="0" err="1">
                <a:latin typeface="Times New Roman" panose="02020603050405020304" pitchFamily="18" charset="0"/>
                <a:ea typeface="Calibri" panose="020F0502020204030204" pitchFamily="34" charset="0"/>
                <a:cs typeface="Times New Roman" panose="02020603050405020304" pitchFamily="18" charset="0"/>
              </a:rPr>
              <a:t>imbunătății</a:t>
            </a:r>
            <a:r>
              <a:rPr lang="ro-RO" sz="1800" kern="100" dirty="0">
                <a:latin typeface="Times New Roman" panose="02020603050405020304" pitchFamily="18" charset="0"/>
                <a:ea typeface="Calibri" panose="020F0502020204030204" pitchFamily="34" charset="0"/>
                <a:cs typeface="Times New Roman" panose="02020603050405020304" pitchFamily="18" charset="0"/>
              </a:rPr>
              <a:t> prezicerea.</a:t>
            </a:r>
          </a:p>
          <a:p>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    Deoarece setul inițial conținea peste două milioane de eșantioane, am decis să facem o operație de </a:t>
            </a:r>
            <a:r>
              <a:rPr lang="ro-RO" sz="1800" kern="100" dirty="0" err="1">
                <a:effectLst/>
                <a:latin typeface="Times New Roman" panose="02020603050405020304" pitchFamily="18" charset="0"/>
                <a:ea typeface="Calibri" panose="020F0502020204030204" pitchFamily="34" charset="0"/>
                <a:cs typeface="Times New Roman" panose="02020603050405020304" pitchFamily="18" charset="0"/>
              </a:rPr>
              <a:t>downsampling</a:t>
            </a:r>
            <a:r>
              <a:rPr lang="ro-RO" sz="1800" kern="100" dirty="0">
                <a:effectLst/>
                <a:latin typeface="Times New Roman" panose="02020603050405020304" pitchFamily="18" charset="0"/>
                <a:ea typeface="Calibri" panose="020F0502020204030204" pitchFamily="34" charset="0"/>
                <a:cs typeface="Times New Roman" panose="02020603050405020304" pitchFamily="18" charset="0"/>
              </a:rPr>
              <a:t>, luând măsurătorile din oră în oră, astfel reducând setul de date la aproximativ 35000 de eșantioane. Pentru fiecare oră am luat media celor 60 de minute, cu excepția intensității, unde am luat valoarea maximă.</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6762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CB7067-67F8-409E-AF40-5E211B679DA4}"/>
              </a:ext>
            </a:extLst>
          </p:cNvPr>
          <p:cNvGraphicFramePr>
            <a:graphicFrameLocks noGrp="1"/>
          </p:cNvGraphicFramePr>
          <p:nvPr>
            <p:extLst>
              <p:ext uri="{D42A27DB-BD31-4B8C-83A1-F6EECF244321}">
                <p14:modId xmlns:p14="http://schemas.microsoft.com/office/powerpoint/2010/main" val="867762031"/>
              </p:ext>
            </p:extLst>
          </p:nvPr>
        </p:nvGraphicFramePr>
        <p:xfrm>
          <a:off x="828675" y="220663"/>
          <a:ext cx="9797081" cy="6416673"/>
        </p:xfrm>
        <a:graphic>
          <a:graphicData uri="http://schemas.openxmlformats.org/drawingml/2006/table">
            <a:tbl>
              <a:tblPr/>
              <a:tblGrid>
                <a:gridCol w="1632847">
                  <a:extLst>
                    <a:ext uri="{9D8B030D-6E8A-4147-A177-3AD203B41FA5}">
                      <a16:colId xmlns:a16="http://schemas.microsoft.com/office/drawing/2014/main" val="1481306828"/>
                    </a:ext>
                  </a:extLst>
                </a:gridCol>
                <a:gridCol w="1632847">
                  <a:extLst>
                    <a:ext uri="{9D8B030D-6E8A-4147-A177-3AD203B41FA5}">
                      <a16:colId xmlns:a16="http://schemas.microsoft.com/office/drawing/2014/main" val="1373062446"/>
                    </a:ext>
                  </a:extLst>
                </a:gridCol>
                <a:gridCol w="1700192">
                  <a:extLst>
                    <a:ext uri="{9D8B030D-6E8A-4147-A177-3AD203B41FA5}">
                      <a16:colId xmlns:a16="http://schemas.microsoft.com/office/drawing/2014/main" val="1208110548"/>
                    </a:ext>
                  </a:extLst>
                </a:gridCol>
                <a:gridCol w="1565501">
                  <a:extLst>
                    <a:ext uri="{9D8B030D-6E8A-4147-A177-3AD203B41FA5}">
                      <a16:colId xmlns:a16="http://schemas.microsoft.com/office/drawing/2014/main" val="1110364752"/>
                    </a:ext>
                  </a:extLst>
                </a:gridCol>
                <a:gridCol w="1632847">
                  <a:extLst>
                    <a:ext uri="{9D8B030D-6E8A-4147-A177-3AD203B41FA5}">
                      <a16:colId xmlns:a16="http://schemas.microsoft.com/office/drawing/2014/main" val="3245916458"/>
                    </a:ext>
                  </a:extLst>
                </a:gridCol>
                <a:gridCol w="1632847">
                  <a:extLst>
                    <a:ext uri="{9D8B030D-6E8A-4147-A177-3AD203B41FA5}">
                      <a16:colId xmlns:a16="http://schemas.microsoft.com/office/drawing/2014/main" val="624270328"/>
                    </a:ext>
                  </a:extLst>
                </a:gridCol>
              </a:tblGrid>
              <a:tr h="475243">
                <a:tc>
                  <a:txBody>
                    <a:bodyPr/>
                    <a:lstStyle/>
                    <a:p>
                      <a:pPr fontAlgn="ctr"/>
                      <a:r>
                        <a:rPr lang="en-US" sz="1300" dirty="0">
                          <a:effectLst/>
                        </a:rPr>
                        <a:t>Date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Date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dirty="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923856479"/>
                  </a:ext>
                </a:extLst>
              </a:tr>
              <a:tr h="475243">
                <a:tc>
                  <a:txBody>
                    <a:bodyPr/>
                    <a:lstStyle/>
                    <a:p>
                      <a:pPr fontAlgn="ctr"/>
                      <a:r>
                        <a:rPr lang="en-US" sz="1300">
                          <a:effectLst/>
                        </a:rPr>
                        <a:t>Time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Categorical</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785296505"/>
                  </a:ext>
                </a:extLst>
              </a:tr>
              <a:tr h="831824">
                <a:tc>
                  <a:txBody>
                    <a:bodyPr/>
                    <a:lstStyle/>
                    <a:p>
                      <a:pPr fontAlgn="ctr"/>
                      <a:r>
                        <a:rPr lang="en-US" sz="1300">
                          <a:effectLst/>
                        </a:rPr>
                        <a:t>Global_active_power</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983586476"/>
                  </a:ext>
                </a:extLst>
              </a:tr>
              <a:tr h="831824">
                <a:tc>
                  <a:txBody>
                    <a:bodyPr/>
                    <a:lstStyle/>
                    <a:p>
                      <a:pPr fontAlgn="ctr"/>
                      <a:r>
                        <a:rPr lang="en-US" sz="1300">
                          <a:effectLst/>
                        </a:rPr>
                        <a:t>Global_reactive_power</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660199727"/>
                  </a:ext>
                </a:extLst>
              </a:tr>
              <a:tr h="475243">
                <a:tc>
                  <a:txBody>
                    <a:bodyPr/>
                    <a:lstStyle/>
                    <a:p>
                      <a:pPr fontAlgn="ctr"/>
                      <a:r>
                        <a:rPr lang="en-US" sz="1300">
                          <a:effectLst/>
                        </a:rPr>
                        <a:t>Voltage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878912774"/>
                  </a:ext>
                </a:extLst>
              </a:tr>
              <a:tr h="831824">
                <a:tc>
                  <a:txBody>
                    <a:bodyPr/>
                    <a:lstStyle/>
                    <a:p>
                      <a:pPr fontAlgn="ctr"/>
                      <a:r>
                        <a:rPr lang="en-US" sz="1300">
                          <a:effectLst/>
                        </a:rPr>
                        <a:t>Global_intensity</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44957305"/>
                  </a:ext>
                </a:extLst>
              </a:tr>
              <a:tr h="831824">
                <a:tc>
                  <a:txBody>
                    <a:bodyPr/>
                    <a:lstStyle/>
                    <a:p>
                      <a:pPr fontAlgn="ctr"/>
                      <a:r>
                        <a:rPr lang="en-US" sz="1300">
                          <a:effectLst/>
                        </a:rPr>
                        <a:t>Sub_metering_1</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4072470918"/>
                  </a:ext>
                </a:extLst>
              </a:tr>
              <a:tr h="831824">
                <a:tc>
                  <a:txBody>
                    <a:bodyPr/>
                    <a:lstStyle/>
                    <a:p>
                      <a:pPr fontAlgn="ctr"/>
                      <a:r>
                        <a:rPr lang="en-US" sz="1300">
                          <a:effectLst/>
                        </a:rPr>
                        <a:t>Sub_metering_2</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143033152"/>
                  </a:ext>
                </a:extLst>
              </a:tr>
              <a:tr h="831824">
                <a:tc>
                  <a:txBody>
                    <a:bodyPr/>
                    <a:lstStyle/>
                    <a:p>
                      <a:pPr fontAlgn="ctr"/>
                      <a:r>
                        <a:rPr lang="en-US" sz="1300">
                          <a:effectLst/>
                        </a:rPr>
                        <a:t>Sub_metering_3</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Feature</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a:effectLst/>
                        </a:rPr>
                        <a:t>Continuous</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endParaRPr lang="en-US" sz="1300">
                        <a:effectLst/>
                      </a:endParaRP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r>
                        <a:rPr lang="en-US" sz="1300" dirty="0">
                          <a:effectLst/>
                        </a:rPr>
                        <a:t>no</a:t>
                      </a:r>
                    </a:p>
                  </a:txBody>
                  <a:tcPr marL="65929" marR="65929" marT="32965" marB="3296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2478851125"/>
                  </a:ext>
                </a:extLst>
              </a:tr>
            </a:tbl>
          </a:graphicData>
        </a:graphic>
      </p:graphicFrame>
    </p:spTree>
    <p:extLst>
      <p:ext uri="{BB962C8B-B14F-4D97-AF65-F5344CB8AC3E}">
        <p14:creationId xmlns:p14="http://schemas.microsoft.com/office/powerpoint/2010/main" val="3649639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DD8F-ABEF-4F8D-9747-D77265774ED0}"/>
              </a:ext>
            </a:extLst>
          </p:cNvPr>
          <p:cNvSpPr>
            <a:spLocks noGrp="1"/>
          </p:cNvSpPr>
          <p:nvPr>
            <p:ph type="title"/>
          </p:nvPr>
        </p:nvSpPr>
        <p:spPr/>
        <p:txBody>
          <a:bodyPr>
            <a:normAutofit/>
          </a:bodyPr>
          <a:lstStyle/>
          <a:p>
            <a:r>
              <a:rPr lang="en-US" sz="3600" dirty="0"/>
              <a:t>RNN( </a:t>
            </a:r>
            <a:r>
              <a:rPr lang="en-US" sz="3600" dirty="0" err="1"/>
              <a:t>Recurent</a:t>
            </a:r>
            <a:r>
              <a:rPr lang="en-US" sz="3600" dirty="0"/>
              <a:t> Neural Network)</a:t>
            </a:r>
          </a:p>
        </p:txBody>
      </p:sp>
      <p:sp>
        <p:nvSpPr>
          <p:cNvPr id="3" name="Content Placeholder 2">
            <a:extLst>
              <a:ext uri="{FF2B5EF4-FFF2-40B4-BE49-F238E27FC236}">
                <a16:creationId xmlns:a16="http://schemas.microsoft.com/office/drawing/2014/main" id="{50F12275-2B39-4102-8A25-EE36C5397D21}"/>
              </a:ext>
            </a:extLst>
          </p:cNvPr>
          <p:cNvSpPr>
            <a:spLocks noGrp="1"/>
          </p:cNvSpPr>
          <p:nvPr>
            <p:ph idx="1"/>
          </p:nvPr>
        </p:nvSpPr>
        <p:spPr>
          <a:xfrm>
            <a:off x="838200" y="1825625"/>
            <a:ext cx="6083808" cy="4351338"/>
          </a:xfrm>
        </p:spPr>
        <p:txBody>
          <a:bodyPr/>
          <a:lstStyle/>
          <a:p>
            <a:pPr algn="l"/>
            <a:r>
              <a:rPr lang="ro-RO" sz="1800" b="0" i="0" u="none" strike="noStrike" baseline="0" dirty="0">
                <a:latin typeface="SFRM1200"/>
              </a:rPr>
              <a:t>        </a:t>
            </a:r>
            <a:r>
              <a:rPr lang="en-US" sz="2000" b="0" i="0" u="none" strike="noStrike" baseline="0" dirty="0">
                <a:latin typeface="SFRM1200"/>
              </a:rPr>
              <a:t>Re</a:t>
            </a:r>
            <a:r>
              <a:rPr lang="ro-RO" sz="2000" b="0" i="0" u="none" strike="noStrike" baseline="0" dirty="0">
                <a:latin typeface="SFRM1200"/>
              </a:rPr>
              <a:t>ț</a:t>
            </a:r>
            <a:r>
              <a:rPr lang="en-US" sz="2000" b="0" i="0" u="none" strike="noStrike" baseline="0" dirty="0" err="1">
                <a:latin typeface="SFRM1200"/>
              </a:rPr>
              <a:t>elele</a:t>
            </a:r>
            <a:r>
              <a:rPr lang="en-US" sz="2000" b="0" i="0" u="none" strike="noStrike" baseline="0" dirty="0">
                <a:latin typeface="SFRM1200"/>
              </a:rPr>
              <a:t> </a:t>
            </a:r>
            <a:r>
              <a:rPr lang="en-US" sz="2000" b="0" i="0" u="none" strike="noStrike" baseline="0" dirty="0" err="1">
                <a:latin typeface="SFRM1200"/>
              </a:rPr>
              <a:t>neuronale</a:t>
            </a:r>
            <a:r>
              <a:rPr lang="en-US" sz="2000" b="0" i="0" u="none" strike="noStrike" baseline="0" dirty="0">
                <a:latin typeface="SFRM1200"/>
              </a:rPr>
              <a:t> sunt </a:t>
            </a:r>
            <a:r>
              <a:rPr lang="en-US" sz="2000" b="0" i="0" u="none" strike="noStrike" baseline="0" dirty="0" err="1">
                <a:latin typeface="SFRM1200"/>
              </a:rPr>
              <a:t>printre</a:t>
            </a:r>
            <a:r>
              <a:rPr lang="en-US" sz="2000" b="0" i="0" u="none" strike="noStrike" baseline="0" dirty="0">
                <a:latin typeface="SFRM1200"/>
              </a:rPr>
              <a:t> </a:t>
            </a:r>
            <a:r>
              <a:rPr lang="en-US" sz="2000" b="0" i="0" u="none" strike="noStrike" baseline="0" dirty="0" err="1">
                <a:latin typeface="SFRM1200"/>
              </a:rPr>
              <a:t>cele</a:t>
            </a:r>
            <a:r>
              <a:rPr lang="en-US" sz="2000" b="0" i="0" u="none" strike="noStrike" baseline="0" dirty="0">
                <a:latin typeface="SFRM1200"/>
              </a:rPr>
              <a:t> </a:t>
            </a:r>
            <a:r>
              <a:rPr lang="en-US" sz="2000" b="0" i="0" u="none" strike="noStrike" baseline="0" dirty="0" err="1">
                <a:latin typeface="SFRM1200"/>
              </a:rPr>
              <a:t>mai</a:t>
            </a:r>
            <a:r>
              <a:rPr lang="en-US" sz="2000" b="0" i="0" u="none" strike="noStrike" baseline="0" dirty="0">
                <a:latin typeface="SFRM1200"/>
              </a:rPr>
              <a:t> </a:t>
            </a:r>
            <a:r>
              <a:rPr lang="en-US" sz="2000" b="0" i="0" u="none" strike="noStrike" baseline="0" dirty="0" err="1">
                <a:latin typeface="SFRM1200"/>
              </a:rPr>
              <a:t>puternice</a:t>
            </a:r>
            <a:r>
              <a:rPr lang="en-US" sz="2000" b="0" i="0" u="none" strike="noStrike" baseline="0" dirty="0">
                <a:latin typeface="SFRM1200"/>
              </a:rPr>
              <a:t> </a:t>
            </a:r>
            <a:r>
              <a:rPr lang="en-US" sz="2000" b="0" i="0" u="none" strike="noStrike" baseline="0" dirty="0" err="1">
                <a:latin typeface="SFRM1200"/>
              </a:rPr>
              <a:t>modele</a:t>
            </a:r>
            <a:r>
              <a:rPr lang="en-US" sz="2000" b="0" i="0" u="none" strike="noStrike" baseline="0" dirty="0">
                <a:latin typeface="SFRM1200"/>
              </a:rPr>
              <a:t> din </a:t>
            </a:r>
            <a:r>
              <a:rPr lang="en-US" sz="2000" b="0" i="0" u="none" strike="noStrike" baseline="0" dirty="0" err="1">
                <a:latin typeface="SFRM1200"/>
              </a:rPr>
              <a:t>învă</a:t>
            </a:r>
            <a:r>
              <a:rPr lang="ro-RO" sz="2000" b="0" i="0" u="none" strike="noStrike" baseline="0" dirty="0">
                <a:latin typeface="SFRM1200"/>
              </a:rPr>
              <a:t>ț</a:t>
            </a:r>
            <a:r>
              <a:rPr lang="en-US" sz="2000" b="0" i="0" u="none" strike="noStrike" baseline="0" dirty="0">
                <a:latin typeface="SFRM1200"/>
              </a:rPr>
              <a:t>area </a:t>
            </a:r>
            <a:r>
              <a:rPr lang="en-US" sz="2000" b="0" i="0" u="none" strike="noStrike" baseline="0" dirty="0" err="1">
                <a:latin typeface="SFRM1200"/>
              </a:rPr>
              <a:t>automată</a:t>
            </a:r>
            <a:r>
              <a:rPr lang="en-US" sz="2000" b="0" i="0" u="none" strike="noStrike" baseline="0" dirty="0">
                <a:latin typeface="SFRM1200"/>
              </a:rPr>
              <a:t>.</a:t>
            </a:r>
            <a:r>
              <a:rPr lang="ro-RO" sz="2000" b="0" i="0" u="none" strike="noStrike" baseline="0" dirty="0">
                <a:latin typeface="SFRM1200"/>
              </a:rPr>
              <a:t> </a:t>
            </a:r>
            <a:r>
              <a:rPr lang="en-US" sz="2000" b="0" i="0" u="none" strike="noStrike" baseline="0" dirty="0" err="1">
                <a:latin typeface="SFRM1200"/>
              </a:rPr>
              <a:t>Însă</a:t>
            </a:r>
            <a:r>
              <a:rPr lang="en-US" sz="2000" b="0" i="0" u="none" strike="noStrike" baseline="0" dirty="0">
                <a:latin typeface="SFRM1200"/>
              </a:rPr>
              <a:t>, re</a:t>
            </a:r>
            <a:r>
              <a:rPr lang="ro-RO" sz="2000" b="0" i="0" u="none" strike="noStrike" baseline="0" dirty="0">
                <a:latin typeface="SFRM1200"/>
              </a:rPr>
              <a:t>ț</a:t>
            </a:r>
            <a:r>
              <a:rPr lang="en-US" sz="2000" b="0" i="0" u="none" strike="noStrike" baseline="0" dirty="0" err="1">
                <a:latin typeface="SFRM1200"/>
              </a:rPr>
              <a:t>elele</a:t>
            </a:r>
            <a:r>
              <a:rPr lang="en-US" sz="2000" b="0" i="0" u="none" strike="noStrike" baseline="0" dirty="0">
                <a:latin typeface="SFRM1200"/>
              </a:rPr>
              <a:t> </a:t>
            </a:r>
            <a:r>
              <a:rPr lang="en-US" sz="2000" b="0" i="0" u="none" strike="noStrike" baseline="0" dirty="0" err="1">
                <a:latin typeface="SFRM1200"/>
              </a:rPr>
              <a:t>neuronale</a:t>
            </a:r>
            <a:r>
              <a:rPr lang="en-US" sz="2000" b="0" i="0" u="none" strike="noStrike" baseline="0" dirty="0">
                <a:latin typeface="SFRM1200"/>
              </a:rPr>
              <a:t> </a:t>
            </a:r>
            <a:r>
              <a:rPr lang="en-US" sz="2000" b="0" i="0" u="none" strike="noStrike" baseline="0" dirty="0" err="1">
                <a:latin typeface="SFRM1200"/>
              </a:rPr>
              <a:t>clasice</a:t>
            </a:r>
            <a:r>
              <a:rPr lang="en-US" sz="2000" b="0" i="0" u="none" strike="noStrike" baseline="0" dirty="0">
                <a:latin typeface="SFRM1200"/>
              </a:rPr>
              <a:t> au o </a:t>
            </a:r>
            <a:r>
              <a:rPr lang="en-US" sz="2000" b="0" i="0" u="none" strike="noStrike" baseline="0" dirty="0" err="1">
                <a:latin typeface="SFRM1200"/>
              </a:rPr>
              <a:t>problemă</a:t>
            </a:r>
            <a:r>
              <a:rPr lang="en-US" sz="2000" b="0" i="0" u="none" strike="noStrike" baseline="0" dirty="0">
                <a:latin typeface="SFRM1200"/>
              </a:rPr>
              <a:t> </a:t>
            </a:r>
            <a:r>
              <a:rPr lang="en-US" sz="2000" b="0" i="0" u="none" strike="noStrike" baseline="0" dirty="0" err="1">
                <a:latin typeface="SFRM1200"/>
              </a:rPr>
              <a:t>majoră</a:t>
            </a:r>
            <a:r>
              <a:rPr lang="en-US" sz="2000" b="0" i="0" u="none" strike="noStrike" baseline="0" dirty="0">
                <a:latin typeface="SFRM1200"/>
              </a:rPr>
              <a:t>, </a:t>
            </a:r>
            <a:r>
              <a:rPr lang="en-US" sz="2000" b="0" i="0" u="none" strike="noStrike" baseline="0" dirty="0" err="1">
                <a:latin typeface="SFRM1200"/>
              </a:rPr>
              <a:t>anume</a:t>
            </a:r>
            <a:r>
              <a:rPr lang="en-US" sz="2000" b="0" i="0" u="none" strike="noStrike" baseline="0" dirty="0">
                <a:latin typeface="SFRM1200"/>
              </a:rPr>
              <a:t> </a:t>
            </a:r>
            <a:r>
              <a:rPr lang="en-US" sz="2000" b="0" i="0" u="none" strike="noStrike" baseline="0" dirty="0" err="1">
                <a:latin typeface="SFRM1200"/>
              </a:rPr>
              <a:t>lipsa</a:t>
            </a:r>
            <a:r>
              <a:rPr lang="en-US" sz="2000" b="0" i="0" u="none" strike="noStrike" baseline="0" dirty="0">
                <a:latin typeface="SFRM1200"/>
              </a:rPr>
              <a:t> de </a:t>
            </a:r>
            <a:r>
              <a:rPr lang="en-US" sz="2000" b="0" i="0" u="none" strike="noStrike" baseline="0" dirty="0" err="1">
                <a:latin typeface="SFRM1200"/>
              </a:rPr>
              <a:t>memorie</a:t>
            </a:r>
            <a:r>
              <a:rPr lang="en-US" sz="2000" b="0" i="0" u="none" strike="noStrike" baseline="0" dirty="0">
                <a:latin typeface="SFRM1200"/>
              </a:rPr>
              <a:t>.</a:t>
            </a:r>
            <a:r>
              <a:rPr lang="ro-RO" sz="2000" b="0" i="0" u="none" strike="noStrike" baseline="0" dirty="0">
                <a:latin typeface="SFRM1200"/>
              </a:rPr>
              <a:t> </a:t>
            </a:r>
            <a:r>
              <a:rPr lang="en-US" sz="2000" b="0" i="0" u="none" strike="noStrike" baseline="0" dirty="0">
                <a:latin typeface="SFRM1200"/>
              </a:rPr>
              <a:t>Cu o re</a:t>
            </a:r>
            <a:r>
              <a:rPr lang="ro-RO" sz="2000" b="0" i="0" u="none" strike="noStrike" baseline="0" dirty="0">
                <a:latin typeface="SFRM1200"/>
              </a:rPr>
              <a:t>ț</a:t>
            </a:r>
            <a:r>
              <a:rPr lang="en-US" sz="2000" b="0" i="0" u="none" strike="noStrike" baseline="0" dirty="0" err="1">
                <a:latin typeface="SFRM1200"/>
              </a:rPr>
              <a:t>ea</a:t>
            </a:r>
            <a:r>
              <a:rPr lang="en-US" sz="2000" b="0" i="0" u="none" strike="noStrike" baseline="0" dirty="0">
                <a:latin typeface="SFRM1200"/>
              </a:rPr>
              <a:t> </a:t>
            </a:r>
            <a:r>
              <a:rPr lang="en-US" sz="2000" b="0" i="0" u="none" strike="noStrike" baseline="0" dirty="0" err="1">
                <a:latin typeface="SFRM1200"/>
              </a:rPr>
              <a:t>clasică</a:t>
            </a:r>
            <a:r>
              <a:rPr lang="en-US" sz="2000" b="0" i="0" u="none" strike="noStrike" baseline="0" dirty="0">
                <a:latin typeface="SFRM1200"/>
              </a:rPr>
              <a:t> nu </a:t>
            </a:r>
            <a:r>
              <a:rPr lang="en-US" sz="2000" b="0" i="0" u="none" strike="noStrike" baseline="0" dirty="0" err="1">
                <a:latin typeface="SFRM1200"/>
              </a:rPr>
              <a:t>te</a:t>
            </a:r>
            <a:r>
              <a:rPr lang="en-US" sz="2000" b="0" i="0" u="none" strike="noStrike" baseline="0" dirty="0">
                <a:latin typeface="SFRM1200"/>
              </a:rPr>
              <a:t> po</a:t>
            </a:r>
            <a:r>
              <a:rPr lang="ro-RO" sz="2000" b="0" i="0" u="none" strike="noStrike" baseline="0" dirty="0">
                <a:latin typeface="SFRM1200"/>
              </a:rPr>
              <a:t>ți</a:t>
            </a:r>
            <a:r>
              <a:rPr lang="en-US" sz="2000" b="0" i="0" u="none" strike="noStrike" baseline="0" dirty="0">
                <a:latin typeface="SFRM0600"/>
              </a:rPr>
              <a:t>, </a:t>
            </a:r>
            <a:r>
              <a:rPr lang="en-US" sz="2000" b="0" i="0" u="none" strike="noStrike" baseline="0" dirty="0" err="1">
                <a:latin typeface="SFRM1200"/>
              </a:rPr>
              <a:t>folosi</a:t>
            </a:r>
            <a:r>
              <a:rPr lang="en-US" sz="2000" b="0" i="0" u="none" strike="noStrike" baseline="0" dirty="0">
                <a:latin typeface="SFRM1200"/>
              </a:rPr>
              <a:t> de date din </a:t>
            </a:r>
            <a:r>
              <a:rPr lang="en-US" sz="2000" b="0" i="0" u="none" strike="noStrike" baseline="0" dirty="0" err="1">
                <a:latin typeface="SFRM1200"/>
              </a:rPr>
              <a:t>trecut</a:t>
            </a:r>
            <a:r>
              <a:rPr lang="en-US" sz="2000" b="0" i="0" u="none" strike="noStrike" baseline="0" dirty="0">
                <a:latin typeface="SFRM1200"/>
              </a:rPr>
              <a:t> </a:t>
            </a:r>
            <a:r>
              <a:rPr lang="en-US" sz="2000" b="0" i="0" u="none" strike="noStrike" baseline="0" dirty="0" err="1">
                <a:latin typeface="SFRM1200"/>
              </a:rPr>
              <a:t>pentru</a:t>
            </a:r>
            <a:r>
              <a:rPr lang="en-US" sz="2000" b="0" i="0" u="none" strike="noStrike" baseline="0" dirty="0">
                <a:latin typeface="SFRM1200"/>
              </a:rPr>
              <a:t> a </a:t>
            </a:r>
            <a:r>
              <a:rPr lang="en-US" sz="2000" b="0" i="0" u="none" strike="noStrike" baseline="0" dirty="0" err="1">
                <a:latin typeface="SFRM1200"/>
              </a:rPr>
              <a:t>prezice</a:t>
            </a:r>
            <a:r>
              <a:rPr lang="en-US" sz="2000" b="0" i="0" u="none" strike="noStrike" baseline="0" dirty="0">
                <a:latin typeface="SFRM1200"/>
              </a:rPr>
              <a:t> </a:t>
            </a:r>
            <a:r>
              <a:rPr lang="en-US" sz="2000" b="0" i="0" u="none" strike="noStrike" baseline="0" dirty="0" err="1">
                <a:latin typeface="SFRM1200"/>
              </a:rPr>
              <a:t>datel</a:t>
            </a:r>
            <a:r>
              <a:rPr lang="ro-RO" sz="2000" b="0" i="0" u="none" strike="noStrike" baseline="0" dirty="0">
                <a:latin typeface="SFRM1200"/>
              </a:rPr>
              <a:t>e </a:t>
            </a:r>
            <a:r>
              <a:rPr lang="en-US" sz="2000" b="0" i="0" u="none" strike="noStrike" baseline="0" dirty="0">
                <a:latin typeface="SFRM1200"/>
              </a:rPr>
              <a:t>din </a:t>
            </a:r>
            <a:r>
              <a:rPr lang="en-US" sz="2000" b="0" i="0" u="none" strike="noStrike" baseline="0" dirty="0" err="1">
                <a:latin typeface="SFRM1200"/>
              </a:rPr>
              <a:t>viitor</a:t>
            </a:r>
            <a:r>
              <a:rPr lang="en-US" sz="2000" b="0" i="0" u="none" strike="noStrike" baseline="0" dirty="0">
                <a:latin typeface="SFRM1200"/>
              </a:rPr>
              <a:t>, cum </a:t>
            </a:r>
            <a:r>
              <a:rPr lang="en-US" sz="2000" b="0" i="0" u="none" strike="noStrike" baseline="0" dirty="0" err="1">
                <a:latin typeface="SFRM1200"/>
              </a:rPr>
              <a:t>ar</a:t>
            </a:r>
            <a:r>
              <a:rPr lang="en-US" sz="2000" b="0" i="0" u="none" strike="noStrike" baseline="0" dirty="0">
                <a:latin typeface="SFRM1200"/>
              </a:rPr>
              <a:t> fi </a:t>
            </a:r>
            <a:r>
              <a:rPr lang="en-US" sz="2000" b="0" i="0" u="none" strike="noStrike" baseline="0" dirty="0" err="1">
                <a:latin typeface="SFRM1200"/>
              </a:rPr>
              <a:t>consumul</a:t>
            </a:r>
            <a:r>
              <a:rPr lang="en-US" sz="2000" b="0" i="0" u="none" strike="noStrike" baseline="0" dirty="0">
                <a:latin typeface="SFRM1200"/>
              </a:rPr>
              <a:t> de </a:t>
            </a:r>
            <a:r>
              <a:rPr lang="en-US" sz="2000" b="0" i="0" u="none" strike="noStrike" baseline="0" dirty="0" err="1">
                <a:latin typeface="SFRM1200"/>
              </a:rPr>
              <a:t>curent</a:t>
            </a:r>
            <a:r>
              <a:rPr lang="en-US" sz="2000" b="0" i="0" u="none" strike="noStrike" baseline="0" dirty="0">
                <a:latin typeface="SFRM1200"/>
              </a:rPr>
              <a:t> al </a:t>
            </a:r>
            <a:r>
              <a:rPr lang="en-US" sz="2000" b="0" i="0" u="none" strike="noStrike" baseline="0" dirty="0" err="1">
                <a:latin typeface="SFRM1200"/>
              </a:rPr>
              <a:t>unei</a:t>
            </a:r>
            <a:r>
              <a:rPr lang="en-US" sz="2000" b="0" i="0" u="none" strike="noStrike" baseline="0" dirty="0">
                <a:latin typeface="SFRM1200"/>
              </a:rPr>
              <a:t> case. </a:t>
            </a:r>
            <a:endParaRPr lang="ro-RO" sz="2000" b="0" i="0" u="none" strike="noStrike" baseline="0" dirty="0">
              <a:latin typeface="SFRM1200"/>
            </a:endParaRPr>
          </a:p>
          <a:p>
            <a:pPr algn="l"/>
            <a:r>
              <a:rPr lang="ro-RO" sz="2000" dirty="0">
                <a:latin typeface="SFRM1200"/>
              </a:rPr>
              <a:t>        </a:t>
            </a:r>
            <a:r>
              <a:rPr lang="en-US" sz="2000" b="0" i="0" u="none" strike="noStrike" baseline="0" dirty="0">
                <a:latin typeface="SFRM1200"/>
              </a:rPr>
              <a:t>Nu </a:t>
            </a:r>
            <a:r>
              <a:rPr lang="en-US" sz="2000" b="0" i="0" u="none" strike="noStrike" baseline="0" dirty="0" err="1">
                <a:latin typeface="SFRM1200"/>
              </a:rPr>
              <a:t>putem</a:t>
            </a:r>
            <a:r>
              <a:rPr lang="en-US" sz="2000" b="0" i="0" u="none" strike="noStrike" baseline="0" dirty="0">
                <a:latin typeface="SFRM1200"/>
              </a:rPr>
              <a:t> </a:t>
            </a:r>
            <a:r>
              <a:rPr lang="en-US" sz="2000" b="0" i="0" u="none" strike="noStrike" baseline="0" dirty="0" err="1">
                <a:latin typeface="SFRM1200"/>
              </a:rPr>
              <a:t>spune</a:t>
            </a:r>
            <a:r>
              <a:rPr lang="en-US" sz="2000" b="0" i="0" u="none" strike="noStrike" baseline="0" dirty="0">
                <a:latin typeface="SFRM1200"/>
              </a:rPr>
              <a:t> </a:t>
            </a:r>
            <a:r>
              <a:rPr lang="en-US" sz="2000" b="0" i="0" u="none" strike="noStrike" baseline="0" dirty="0" err="1">
                <a:latin typeface="SFRM1200"/>
              </a:rPr>
              <a:t>acela</a:t>
            </a:r>
            <a:r>
              <a:rPr lang="ro-RO" sz="2000" b="0" i="0" u="none" strike="noStrike" baseline="0" dirty="0">
                <a:latin typeface="SFRM1200"/>
              </a:rPr>
              <a:t>ș</a:t>
            </a:r>
            <a:r>
              <a:rPr lang="en-US" sz="2000" b="0" i="0" u="none" strike="noStrike" baseline="0" dirty="0" err="1">
                <a:latin typeface="SFRM1200"/>
              </a:rPr>
              <a:t>i</a:t>
            </a:r>
            <a:r>
              <a:rPr lang="en-US" sz="2000" b="0" i="0" u="none" strike="noStrike" baseline="0" dirty="0">
                <a:latin typeface="SFRM1200"/>
              </a:rPr>
              <a:t> </a:t>
            </a:r>
            <a:r>
              <a:rPr lang="en-US" sz="2000" b="0" i="0" u="none" strike="noStrike" baseline="0" dirty="0" err="1">
                <a:latin typeface="SFRM1200"/>
              </a:rPr>
              <a:t>lucru</a:t>
            </a:r>
            <a:r>
              <a:rPr lang="ro-RO" sz="2000" dirty="0">
                <a:latin typeface="SFRM1200"/>
              </a:rPr>
              <a:t> ș</a:t>
            </a:r>
            <a:r>
              <a:rPr lang="en-US" sz="2000" b="0" i="0" u="none" strike="noStrike" baseline="0" dirty="0" err="1">
                <a:latin typeface="SFRM1200"/>
              </a:rPr>
              <a:t>i</a:t>
            </a:r>
            <a:r>
              <a:rPr lang="en-US" sz="2000" b="0" i="0" u="none" strike="noStrike" baseline="0" dirty="0">
                <a:latin typeface="SFRM1200"/>
              </a:rPr>
              <a:t> </a:t>
            </a:r>
            <a:r>
              <a:rPr lang="en-US" sz="2000" b="0" i="0" u="none" strike="noStrike" baseline="0" dirty="0" err="1">
                <a:latin typeface="SFRM1200"/>
              </a:rPr>
              <a:t>despre</a:t>
            </a:r>
            <a:r>
              <a:rPr lang="en-US" sz="2000" b="0" i="0" u="none" strike="noStrike" baseline="0" dirty="0">
                <a:latin typeface="SFRM1200"/>
              </a:rPr>
              <a:t> re</a:t>
            </a:r>
            <a:r>
              <a:rPr lang="ro-RO" sz="2000" b="0" i="0" u="none" strike="noStrike" baseline="0" dirty="0">
                <a:latin typeface="SFRM1200"/>
              </a:rPr>
              <a:t>ț</a:t>
            </a:r>
            <a:r>
              <a:rPr lang="en-US" sz="2000" b="0" i="0" u="none" strike="noStrike" baseline="0" dirty="0" err="1">
                <a:latin typeface="SFRM1200"/>
              </a:rPr>
              <a:t>elele</a:t>
            </a:r>
            <a:r>
              <a:rPr lang="en-US" sz="2000" b="0" i="0" u="none" strike="noStrike" baseline="0" dirty="0">
                <a:latin typeface="SFRM1200"/>
              </a:rPr>
              <a:t> </a:t>
            </a:r>
            <a:r>
              <a:rPr lang="en-US" sz="2000" b="0" i="0" u="none" strike="noStrike" baseline="0" dirty="0" err="1">
                <a:latin typeface="SFRM1200"/>
              </a:rPr>
              <a:t>neuronale</a:t>
            </a:r>
            <a:r>
              <a:rPr lang="en-US" sz="2000" b="0" i="0" u="none" strike="noStrike" baseline="0" dirty="0">
                <a:latin typeface="SFRM1200"/>
              </a:rPr>
              <a:t> </a:t>
            </a:r>
            <a:r>
              <a:rPr lang="en-US" sz="2000" b="0" i="0" u="none" strike="noStrike" baseline="0" dirty="0" err="1">
                <a:latin typeface="SFRM1200"/>
              </a:rPr>
              <a:t>recurente</a:t>
            </a:r>
            <a:r>
              <a:rPr lang="en-US" sz="2000" b="0" i="0" u="none" strike="noStrike" baseline="0" dirty="0">
                <a:latin typeface="SFRM1200"/>
              </a:rPr>
              <a:t>, care pot </a:t>
            </a:r>
            <a:r>
              <a:rPr lang="ro-RO" sz="2000" dirty="0">
                <a:latin typeface="SFRM1200"/>
              </a:rPr>
              <a:t>ț</a:t>
            </a:r>
            <a:r>
              <a:rPr lang="en-US" sz="2000" b="0" i="0" u="none" strike="noStrike" baseline="0" dirty="0" err="1">
                <a:latin typeface="SFRM1200"/>
              </a:rPr>
              <a:t>ine</a:t>
            </a:r>
            <a:r>
              <a:rPr lang="en-US" sz="2000" b="0" i="0" u="none" strike="noStrike" baseline="0" dirty="0">
                <a:latin typeface="SFRM1200"/>
              </a:rPr>
              <a:t> </a:t>
            </a:r>
            <a:r>
              <a:rPr lang="en-US" sz="2000" b="0" i="0" u="none" strike="noStrike" baseline="0" dirty="0" err="1">
                <a:latin typeface="SFRM1200"/>
              </a:rPr>
              <a:t>în</a:t>
            </a:r>
            <a:r>
              <a:rPr lang="en-US" sz="2000" b="0" i="0" u="none" strike="noStrike" baseline="0" dirty="0">
                <a:latin typeface="SFRM1200"/>
              </a:rPr>
              <a:t> </a:t>
            </a:r>
            <a:r>
              <a:rPr lang="en-US" sz="2000" b="0" i="0" u="none" strike="noStrike" baseline="0" dirty="0" err="1">
                <a:latin typeface="SFRM1200"/>
              </a:rPr>
              <a:t>memorie</a:t>
            </a:r>
            <a:r>
              <a:rPr lang="en-US" sz="2000" b="0" i="0" u="none" strike="noStrike" baseline="0" dirty="0">
                <a:latin typeface="SFRM1200"/>
              </a:rPr>
              <a:t> </a:t>
            </a:r>
            <a:r>
              <a:rPr lang="en-US" sz="2000" b="0" i="0" u="none" strike="noStrike" baseline="0" dirty="0" err="1">
                <a:latin typeface="SFRM1200"/>
              </a:rPr>
              <a:t>informa</a:t>
            </a:r>
            <a:r>
              <a:rPr lang="ro-RO" sz="2000" b="0" i="0" u="none" strike="noStrike" baseline="0" dirty="0">
                <a:latin typeface="SFRM1200"/>
              </a:rPr>
              <a:t>ții </a:t>
            </a:r>
            <a:r>
              <a:rPr lang="ro-RO" sz="2000" dirty="0">
                <a:latin typeface="SFRM1200"/>
              </a:rPr>
              <a:t>ș</a:t>
            </a:r>
            <a:r>
              <a:rPr lang="en-US" sz="2000" b="0" i="0" u="none" strike="noStrike" baseline="0" dirty="0" err="1">
                <a:latin typeface="SFRM1200"/>
              </a:rPr>
              <a:t>i</a:t>
            </a:r>
            <a:r>
              <a:rPr lang="en-US" sz="2000" b="0" i="0" u="none" strike="noStrike" baseline="0" dirty="0">
                <a:latin typeface="SFRM1200"/>
              </a:rPr>
              <a:t> </a:t>
            </a:r>
            <a:r>
              <a:rPr lang="en-US" sz="2000" b="0" i="0" u="none" strike="noStrike" baseline="0" dirty="0" err="1">
                <a:latin typeface="SFRM1200"/>
              </a:rPr>
              <a:t>despre</a:t>
            </a:r>
            <a:r>
              <a:rPr lang="ro-RO" sz="2000" dirty="0">
                <a:latin typeface="SFRM1200"/>
              </a:rPr>
              <a:t> </a:t>
            </a:r>
            <a:r>
              <a:rPr lang="en-US" sz="2000" b="0" i="0" u="none" strike="noStrike" baseline="0" dirty="0" err="1">
                <a:latin typeface="SFRM1200"/>
              </a:rPr>
              <a:t>valorile</a:t>
            </a:r>
            <a:r>
              <a:rPr lang="en-US" sz="2000" b="0" i="0" u="none" strike="noStrike" baseline="0" dirty="0">
                <a:latin typeface="SFRM1200"/>
              </a:rPr>
              <a:t> e</a:t>
            </a:r>
            <a:r>
              <a:rPr lang="ro-RO" sz="2000" b="0" i="0" u="none" strike="noStrike" baseline="0" dirty="0">
                <a:latin typeface="SFRM1200"/>
              </a:rPr>
              <a:t>ș</a:t>
            </a:r>
            <a:r>
              <a:rPr lang="en-US" sz="2000" b="0" i="0" u="none" strike="noStrike" baseline="0" dirty="0" err="1">
                <a:latin typeface="SFRM1200"/>
              </a:rPr>
              <a:t>antioanelor</a:t>
            </a:r>
            <a:r>
              <a:rPr lang="en-US" sz="2000" b="0" i="0" u="none" strike="noStrike" baseline="0" dirty="0">
                <a:latin typeface="SFRM1200"/>
              </a:rPr>
              <a:t> </a:t>
            </a:r>
            <a:r>
              <a:rPr lang="en-US" sz="2000" b="0" i="0" u="none" strike="noStrike" baseline="0" dirty="0" err="1">
                <a:latin typeface="SFRM1200"/>
              </a:rPr>
              <a:t>trecute</a:t>
            </a:r>
            <a:r>
              <a:rPr lang="en-US" sz="2000" b="0" i="0" u="none" strike="noStrike" baseline="0" dirty="0">
                <a:latin typeface="SFRM1200"/>
              </a:rPr>
              <a:t>, </a:t>
            </a:r>
            <a:r>
              <a:rPr lang="en-US" sz="2000" b="0" i="0" u="none" strike="noStrike" baseline="0" dirty="0" err="1">
                <a:latin typeface="SFRM1200"/>
              </a:rPr>
              <a:t>pentru</a:t>
            </a:r>
            <a:r>
              <a:rPr lang="en-US" sz="2000" b="0" i="0" u="none" strike="noStrike" baseline="0" dirty="0">
                <a:latin typeface="SFRM1200"/>
              </a:rPr>
              <a:t> a </a:t>
            </a:r>
            <a:r>
              <a:rPr lang="en-US" sz="2000" b="0" i="0" u="none" strike="noStrike" baseline="0" dirty="0" err="1">
                <a:latin typeface="SFRM1200"/>
              </a:rPr>
              <a:t>prezice</a:t>
            </a:r>
            <a:r>
              <a:rPr lang="en-US" sz="2000" b="0" i="0" u="none" strike="noStrike" baseline="0" dirty="0">
                <a:latin typeface="SFRM1200"/>
              </a:rPr>
              <a:t> </a:t>
            </a:r>
            <a:r>
              <a:rPr lang="en-US" sz="2000" b="0" i="0" u="none" strike="noStrike" baseline="0" dirty="0" err="1">
                <a:latin typeface="SFRM1200"/>
              </a:rPr>
              <a:t>valorile</a:t>
            </a:r>
            <a:r>
              <a:rPr lang="en-US" sz="2000" b="0" i="0" u="none" strike="noStrike" baseline="0" dirty="0">
                <a:latin typeface="SFRM1200"/>
              </a:rPr>
              <a:t> din </a:t>
            </a:r>
            <a:r>
              <a:rPr lang="en-US" sz="2000" b="0" i="0" u="none" strike="noStrike" baseline="0" dirty="0" err="1">
                <a:latin typeface="SFRM1200"/>
              </a:rPr>
              <a:t>viitor</a:t>
            </a:r>
            <a:r>
              <a:rPr lang="en-US" sz="2000" b="0" i="0" u="none" strike="noStrike" baseline="0" dirty="0">
                <a:latin typeface="SFRM1200"/>
              </a:rPr>
              <a:t>. Mai </a:t>
            </a:r>
            <a:r>
              <a:rPr lang="en-US" sz="2000" b="0" i="0" u="none" strike="noStrike" baseline="0" dirty="0" err="1">
                <a:latin typeface="SFRM1200"/>
              </a:rPr>
              <a:t>jos</a:t>
            </a:r>
            <a:r>
              <a:rPr lang="en-US" sz="2000" b="0" i="0" u="none" strike="noStrike" baseline="0" dirty="0">
                <a:latin typeface="SFRM1200"/>
              </a:rPr>
              <a:t> </a:t>
            </a:r>
            <a:r>
              <a:rPr lang="en-US" sz="2000" b="0" i="0" u="none" strike="noStrike" baseline="0" dirty="0" err="1">
                <a:latin typeface="SFRM1200"/>
              </a:rPr>
              <a:t>avem</a:t>
            </a:r>
            <a:r>
              <a:rPr lang="ro-RO" sz="2000" dirty="0">
                <a:latin typeface="SFRM1200"/>
              </a:rPr>
              <a:t> </a:t>
            </a:r>
            <a:r>
              <a:rPr lang="en-US" sz="2000" b="0" i="0" u="none" strike="noStrike" baseline="0" dirty="0">
                <a:latin typeface="SFRM1200"/>
              </a:rPr>
              <a:t>schema </a:t>
            </a:r>
            <a:r>
              <a:rPr lang="en-US" sz="2000" b="0" i="0" u="none" strike="noStrike" baseline="0" dirty="0" err="1">
                <a:latin typeface="SFRM1200"/>
              </a:rPr>
              <a:t>unei</a:t>
            </a:r>
            <a:r>
              <a:rPr lang="en-US" sz="2000" b="0" i="0" u="none" strike="noStrike" baseline="0" dirty="0">
                <a:latin typeface="SFRM1200"/>
              </a:rPr>
              <a:t> re</a:t>
            </a:r>
            <a:r>
              <a:rPr lang="ro-RO" sz="2000" b="0" i="0" u="none" strike="noStrike" baseline="0" dirty="0">
                <a:latin typeface="SFRM1200"/>
              </a:rPr>
              <a:t>ț</a:t>
            </a:r>
            <a:r>
              <a:rPr lang="en-US" sz="2000" b="0" i="0" u="none" strike="noStrike" baseline="0" dirty="0" err="1">
                <a:latin typeface="SFRM1200"/>
              </a:rPr>
              <a:t>ele</a:t>
            </a:r>
            <a:r>
              <a:rPr lang="en-US" sz="2000" b="0" i="0" u="none" strike="noStrike" baseline="0" dirty="0">
                <a:latin typeface="SFRM1200"/>
              </a:rPr>
              <a:t> </a:t>
            </a:r>
            <a:r>
              <a:rPr lang="en-US" sz="2000" b="0" i="0" u="none" strike="noStrike" baseline="0" dirty="0" err="1">
                <a:latin typeface="SFRM1200"/>
              </a:rPr>
              <a:t>neuronale</a:t>
            </a:r>
            <a:r>
              <a:rPr lang="en-US" sz="2000" b="0" i="0" u="none" strike="noStrike" baseline="0" dirty="0">
                <a:latin typeface="SFRM1200"/>
              </a:rPr>
              <a:t> </a:t>
            </a:r>
            <a:r>
              <a:rPr lang="en-US" sz="2000" b="0" i="0" u="none" strike="noStrike" baseline="0" dirty="0" err="1">
                <a:latin typeface="SFRM1200"/>
              </a:rPr>
              <a:t>recurente</a:t>
            </a:r>
            <a:r>
              <a:rPr lang="en-US" sz="2000" b="0" i="0" u="none" strike="noStrike" baseline="0" dirty="0">
                <a:latin typeface="SFRM1200"/>
              </a:rPr>
              <a:t>, </a:t>
            </a:r>
            <a:r>
              <a:rPr lang="en-US" sz="2000" b="0" i="0" u="none" strike="noStrike" baseline="0" dirty="0" err="1">
                <a:latin typeface="SFRM1200"/>
              </a:rPr>
              <a:t>respectiv</a:t>
            </a:r>
            <a:r>
              <a:rPr lang="en-US" sz="2000" b="0" i="0" u="none" strike="noStrike" baseline="0" dirty="0">
                <a:latin typeface="SFRM1200"/>
              </a:rPr>
              <a:t> a </a:t>
            </a:r>
            <a:r>
              <a:rPr lang="en-US" sz="2000" b="0" i="0" u="none" strike="noStrike" baseline="0" dirty="0" err="1">
                <a:latin typeface="SFRM1200"/>
              </a:rPr>
              <a:t>unei</a:t>
            </a:r>
            <a:r>
              <a:rPr lang="en-US" sz="2000" b="0" i="0" u="none" strike="noStrike" baseline="0" dirty="0">
                <a:latin typeface="SFRM1200"/>
              </a:rPr>
              <a:t> re</a:t>
            </a:r>
            <a:r>
              <a:rPr lang="ro-RO" sz="2000" dirty="0">
                <a:latin typeface="SFRM1200"/>
              </a:rPr>
              <a:t>ț</a:t>
            </a:r>
            <a:r>
              <a:rPr lang="en-US" sz="2000" b="0" i="0" u="none" strike="noStrike" baseline="0" dirty="0" err="1">
                <a:latin typeface="SFRM1200"/>
              </a:rPr>
              <a:t>ele</a:t>
            </a:r>
            <a:r>
              <a:rPr lang="en-US" sz="2000" b="0" i="0" u="none" strike="noStrike" baseline="0" dirty="0">
                <a:latin typeface="SFRM1200"/>
              </a:rPr>
              <a:t> </a:t>
            </a:r>
            <a:r>
              <a:rPr lang="en-US" sz="2000" b="0" i="0" u="none" strike="noStrike" baseline="0" dirty="0" err="1">
                <a:latin typeface="SFRM1200"/>
              </a:rPr>
              <a:t>neuronale</a:t>
            </a:r>
            <a:r>
              <a:rPr lang="en-US" sz="2000" b="0" i="0" u="none" strike="noStrike" baseline="0" dirty="0">
                <a:latin typeface="SFRM1200"/>
              </a:rPr>
              <a:t> </a:t>
            </a:r>
            <a:r>
              <a:rPr lang="en-US" sz="2000" b="0" i="0" u="none" strike="noStrike" baseline="0" dirty="0" err="1">
                <a:latin typeface="SFRM1200"/>
              </a:rPr>
              <a:t>recurente</a:t>
            </a:r>
            <a:r>
              <a:rPr lang="ro-RO" sz="2000" b="0" i="0" u="none" strike="noStrike" baseline="0" dirty="0">
                <a:latin typeface="SFRM1200"/>
              </a:rPr>
              <a:t> </a:t>
            </a:r>
            <a:r>
              <a:rPr lang="en-US" sz="2000" b="0" i="0" u="none" strike="noStrike" baseline="0" dirty="0">
                <a:latin typeface="SFRM1200"/>
              </a:rPr>
              <a:t>„</a:t>
            </a:r>
            <a:r>
              <a:rPr lang="en-US" sz="2000" b="0" i="0" u="none" strike="noStrike" baseline="0" dirty="0" err="1">
                <a:latin typeface="SFRM1200"/>
              </a:rPr>
              <a:t>desfăcute</a:t>
            </a:r>
            <a:r>
              <a:rPr lang="en-US" sz="2000" b="0" i="0" u="none" strike="noStrike" baseline="0" dirty="0">
                <a:latin typeface="SFRM1200"/>
              </a:rPr>
              <a:t>”.</a:t>
            </a:r>
            <a:endParaRPr lang="en-US" sz="2000" dirty="0"/>
          </a:p>
        </p:txBody>
      </p:sp>
      <p:pic>
        <p:nvPicPr>
          <p:cNvPr id="5" name="Content Placeholder 4">
            <a:extLst>
              <a:ext uri="{FF2B5EF4-FFF2-40B4-BE49-F238E27FC236}">
                <a16:creationId xmlns:a16="http://schemas.microsoft.com/office/drawing/2014/main" id="{7AFF1622-9A54-49AA-9EC3-1FBD52116CD0}"/>
              </a:ext>
            </a:extLst>
          </p:cNvPr>
          <p:cNvPicPr>
            <a:picLocks noChangeAspect="1"/>
          </p:cNvPicPr>
          <p:nvPr/>
        </p:nvPicPr>
        <p:blipFill>
          <a:blip r:embed="rId2"/>
          <a:stretch>
            <a:fillRect/>
          </a:stretch>
        </p:blipFill>
        <p:spPr>
          <a:xfrm>
            <a:off x="7057693" y="1859673"/>
            <a:ext cx="4939235" cy="3138654"/>
          </a:xfrm>
          <a:prstGeom prst="rect">
            <a:avLst/>
          </a:prstGeom>
        </p:spPr>
      </p:pic>
    </p:spTree>
    <p:extLst>
      <p:ext uri="{BB962C8B-B14F-4D97-AF65-F5344CB8AC3E}">
        <p14:creationId xmlns:p14="http://schemas.microsoft.com/office/powerpoint/2010/main" val="112932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A66C9-EB80-4B05-977A-C245332EB5A1}"/>
              </a:ext>
            </a:extLst>
          </p:cNvPr>
          <p:cNvSpPr>
            <a:spLocks noGrp="1"/>
          </p:cNvSpPr>
          <p:nvPr>
            <p:ph type="title"/>
          </p:nvPr>
        </p:nvSpPr>
        <p:spPr/>
        <p:txBody>
          <a:bodyPr/>
          <a:lstStyle/>
          <a:p>
            <a:r>
              <a:rPr lang="ro-RO" dirty="0"/>
              <a:t>Rețeaua  neuronala recurentă scrisă desfășurat</a:t>
            </a:r>
            <a:endParaRPr lang="en-US" dirty="0"/>
          </a:p>
        </p:txBody>
      </p:sp>
      <p:pic>
        <p:nvPicPr>
          <p:cNvPr id="5" name="Content Placeholder 4">
            <a:extLst>
              <a:ext uri="{FF2B5EF4-FFF2-40B4-BE49-F238E27FC236}">
                <a16:creationId xmlns:a16="http://schemas.microsoft.com/office/drawing/2014/main" id="{AC9F5B79-1444-4370-86EB-15C0F99FC37D}"/>
              </a:ext>
            </a:extLst>
          </p:cNvPr>
          <p:cNvPicPr>
            <a:picLocks noGrp="1" noChangeAspect="1"/>
          </p:cNvPicPr>
          <p:nvPr>
            <p:ph idx="1"/>
          </p:nvPr>
        </p:nvPicPr>
        <p:blipFill>
          <a:blip r:embed="rId2"/>
          <a:stretch>
            <a:fillRect/>
          </a:stretch>
        </p:blipFill>
        <p:spPr>
          <a:xfrm>
            <a:off x="838200" y="2662177"/>
            <a:ext cx="9451694" cy="2419108"/>
          </a:xfrm>
        </p:spPr>
      </p:pic>
    </p:spTree>
    <p:extLst>
      <p:ext uri="{BB962C8B-B14F-4D97-AF65-F5344CB8AC3E}">
        <p14:creationId xmlns:p14="http://schemas.microsoft.com/office/powerpoint/2010/main" val="740163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B3B8-ECB1-47F1-B91C-61447F4CBA9A}"/>
              </a:ext>
            </a:extLst>
          </p:cNvPr>
          <p:cNvSpPr>
            <a:spLocks noGrp="1"/>
          </p:cNvSpPr>
          <p:nvPr>
            <p:ph type="title"/>
          </p:nvPr>
        </p:nvSpPr>
        <p:spPr/>
        <p:txBody>
          <a:bodyPr>
            <a:normAutofit/>
          </a:bodyPr>
          <a:lstStyle/>
          <a:p>
            <a:r>
              <a:rPr lang="ro-RO" sz="2400" b="1" dirty="0"/>
              <a:t>Cum funcționează modelul</a:t>
            </a:r>
            <a:endParaRPr lang="en-US" sz="2400" b="1"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F63BEA-6CEE-45C7-933B-64D59CA0994B}"/>
                  </a:ext>
                </a:extLst>
              </p:cNvPr>
              <p:cNvSpPr>
                <a:spLocks noGrp="1"/>
              </p:cNvSpPr>
              <p:nvPr>
                <p:ph idx="1"/>
              </p:nvPr>
            </p:nvSpPr>
            <p:spPr>
              <a:xfrm>
                <a:off x="757177" y="1342664"/>
                <a:ext cx="10515600" cy="4845874"/>
              </a:xfrm>
            </p:spPr>
            <p:txBody>
              <a:bodyPr>
                <a:normAutofit lnSpcReduction="10000"/>
              </a:bodyPr>
              <a:lstStyle/>
              <a:p>
                <a:pPr marL="0" indent="0">
                  <a:buNone/>
                </a:pPr>
                <a:r>
                  <a:rPr lang="ro-RO" sz="1800" b="1" dirty="0">
                    <a:latin typeface="CMMI12"/>
                  </a:rPr>
                  <a:t>  </a:t>
                </a:r>
                <a:r>
                  <a:rPr lang="en-US" sz="1800" b="1" i="0" u="none" strike="noStrike" baseline="0" dirty="0">
                    <a:latin typeface="SFRM1200"/>
                  </a:rPr>
                  <a:t>• </a:t>
                </a:r>
                <a:r>
                  <a:rPr lang="en-US" sz="1800" b="1" i="0" u="none" strike="noStrike" baseline="0" dirty="0">
                    <a:latin typeface="CMMI12"/>
                  </a:rPr>
                  <a:t>w</a:t>
                </a:r>
                <a:r>
                  <a:rPr lang="en-US" sz="1800" b="1" i="0" u="none" strike="noStrike" baseline="-25000" dirty="0">
                    <a:latin typeface="CMR8"/>
                  </a:rPr>
                  <a:t>1</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ponderea</a:t>
                </a:r>
                <a:r>
                  <a:rPr lang="en-US" sz="1800" b="1" i="0" u="none" strike="noStrike" baseline="0" dirty="0">
                    <a:latin typeface="SFRM1200"/>
                  </a:rPr>
                  <a:t> </a:t>
                </a:r>
                <a:r>
                  <a:rPr lang="en-US" sz="1800" b="1" i="0" u="none" strike="noStrike" baseline="0" dirty="0" err="1">
                    <a:latin typeface="SFRM1200"/>
                  </a:rPr>
                  <a:t>elementului</a:t>
                </a:r>
                <a:r>
                  <a:rPr lang="en-US" sz="1800" b="1" i="0" u="none" strike="noStrike" baseline="0" dirty="0">
                    <a:latin typeface="SFRM1200"/>
                  </a:rPr>
                  <a:t> current</a:t>
                </a:r>
                <a:endParaRPr lang="ro-RO" sz="1800" b="1" i="0" u="none" strike="noStrike" baseline="0" dirty="0">
                  <a:latin typeface="SFRM1200"/>
                </a:endParaRPr>
              </a:p>
              <a:p>
                <a:pPr marL="0" indent="0" algn="l">
                  <a:buNone/>
                </a:pPr>
                <a:r>
                  <a:rPr lang="ro-RO" sz="1800" b="1" i="0" u="none" strike="noStrike" baseline="0" dirty="0">
                    <a:latin typeface="SFRM1200"/>
                  </a:rPr>
                  <a:t>  </a:t>
                </a:r>
                <a:r>
                  <a:rPr lang="en-US" sz="1800" b="1" i="0" u="none" strike="noStrike" baseline="0" dirty="0">
                    <a:latin typeface="SFRM1200"/>
                  </a:rPr>
                  <a:t>• </a:t>
                </a:r>
                <a:r>
                  <a:rPr lang="en-US" sz="1800" b="1" i="0" u="none" strike="noStrike" baseline="0" dirty="0">
                    <a:latin typeface="CMMI12"/>
                  </a:rPr>
                  <a:t>b</a:t>
                </a:r>
                <a:r>
                  <a:rPr lang="en-US" sz="1800" b="1" i="0" u="none" strike="noStrike" baseline="-25000" dirty="0">
                    <a:latin typeface="CMR8"/>
                  </a:rPr>
                  <a:t>1</a:t>
                </a:r>
                <a:r>
                  <a:rPr lang="en-US" sz="1800" b="1" i="0" u="none" strike="noStrike" baseline="0" dirty="0">
                    <a:latin typeface="CMR8"/>
                  </a:rPr>
                  <a:t> </a:t>
                </a:r>
                <a:r>
                  <a:rPr lang="en-US" sz="1800" b="1" i="0" u="none" strike="noStrike" baseline="0" dirty="0">
                    <a:latin typeface="CMR12"/>
                  </a:rPr>
                  <a:t>= </a:t>
                </a:r>
                <a:r>
                  <a:rPr lang="en-US" sz="1800" b="1" i="0" u="none" strike="noStrike" baseline="0" dirty="0">
                    <a:latin typeface="SFRM1200"/>
                  </a:rPr>
                  <a:t>bias-ul </a:t>
                </a:r>
                <a:r>
                  <a:rPr lang="en-US" sz="1800" b="1" i="0" u="none" strike="noStrike" baseline="0" dirty="0" err="1">
                    <a:latin typeface="SFRM1200"/>
                  </a:rPr>
                  <a:t>elementului</a:t>
                </a:r>
                <a:r>
                  <a:rPr lang="en-US" sz="1800" b="1" i="0" u="none" strike="noStrike" baseline="0" dirty="0">
                    <a:latin typeface="SFRM1200"/>
                  </a:rPr>
                  <a:t> </a:t>
                </a:r>
                <a:r>
                  <a:rPr lang="en-US" sz="1800" b="1" i="0" u="none" strike="noStrike" baseline="0" dirty="0" err="1">
                    <a:latin typeface="SFRM1200"/>
                  </a:rPr>
                  <a:t>curent</a:t>
                </a:r>
                <a:r>
                  <a:rPr lang="ro-RO" sz="1800" b="1" i="0" u="none" strike="noStrike" baseline="0" dirty="0">
                    <a:latin typeface="SFRM1200"/>
                  </a:rPr>
                  <a:t> </a:t>
                </a:r>
              </a:p>
              <a:p>
                <a:pPr marL="0" indent="0" algn="l">
                  <a:buNone/>
                </a:pPr>
                <a:r>
                  <a:rPr lang="ro-RO" sz="1800" b="1" i="0" u="none" strike="noStrike" baseline="0" dirty="0">
                    <a:latin typeface="SFRM1200"/>
                  </a:rPr>
                  <a:t>  </a:t>
                </a:r>
                <a:r>
                  <a:rPr lang="en-US" sz="1800" b="1" i="0" u="none" strike="noStrike" baseline="0" dirty="0">
                    <a:latin typeface="SFRM1200"/>
                  </a:rPr>
                  <a:t>• </a:t>
                </a:r>
                <a:r>
                  <a:rPr lang="en-US" sz="1800" b="1" i="0" u="none" strike="noStrike" baseline="0" dirty="0">
                    <a:latin typeface="CMMI12"/>
                  </a:rPr>
                  <a:t>w</a:t>
                </a:r>
                <a:r>
                  <a:rPr lang="en-US" sz="1800" b="1" i="0" u="none" strike="noStrike" baseline="-25000" dirty="0">
                    <a:latin typeface="CMR8"/>
                  </a:rPr>
                  <a:t>2</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ponderea</a:t>
                </a:r>
                <a:r>
                  <a:rPr lang="en-US" sz="1800" b="1" i="0" u="none" strike="noStrike" baseline="0" dirty="0">
                    <a:latin typeface="SFRM1200"/>
                  </a:rPr>
                  <a:t> </a:t>
                </a:r>
                <a:r>
                  <a:rPr lang="en-US" sz="1800" b="1" i="0" u="none" strike="noStrike" baseline="0" dirty="0" err="1">
                    <a:latin typeface="SFRM1200"/>
                  </a:rPr>
                  <a:t>memoriei</a:t>
                </a:r>
                <a:r>
                  <a:rPr lang="en-US" sz="1800" b="1" i="0" u="none" strike="noStrike" baseline="0" dirty="0">
                    <a:latin typeface="SFRM1200"/>
                  </a:rPr>
                  <a:t> </a:t>
                </a:r>
                <a:r>
                  <a:rPr lang="en-US" sz="1800" b="1" i="0" u="none" strike="noStrike" baseline="0" dirty="0" err="1">
                    <a:latin typeface="SFRM1200"/>
                  </a:rPr>
                  <a:t>anterioare</a:t>
                </a:r>
                <a:endParaRPr lang="ro-RO" sz="1800" b="1" i="0" u="none" strike="noStrike" baseline="0" dirty="0">
                  <a:latin typeface="SFRM1200"/>
                </a:endParaRPr>
              </a:p>
              <a:p>
                <a:pPr marL="0" indent="0" algn="l">
                  <a:buNone/>
                </a:pPr>
                <a:r>
                  <a:rPr lang="ro-RO" sz="1800" b="1" i="0" u="none" strike="noStrike" baseline="0" dirty="0">
                    <a:latin typeface="SFRM1200"/>
                  </a:rPr>
                  <a:t>  </a:t>
                </a:r>
                <a:r>
                  <a:rPr lang="en-US" sz="1800" b="1" i="0" u="none" strike="noStrike" baseline="0" dirty="0">
                    <a:latin typeface="SFRM1200"/>
                  </a:rPr>
                  <a:t>• </a:t>
                </a:r>
                <a:r>
                  <a:rPr lang="en-US" sz="1800" b="1" i="0" u="none" strike="noStrike" baseline="0" dirty="0">
                    <a:latin typeface="CMMI12"/>
                  </a:rPr>
                  <a:t>w</a:t>
                </a:r>
                <a:r>
                  <a:rPr lang="en-US" sz="1800" b="1" i="0" u="none" strike="noStrike" baseline="-25000" dirty="0">
                    <a:latin typeface="CMR8"/>
                  </a:rPr>
                  <a:t>3</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ponderea</a:t>
                </a:r>
                <a:r>
                  <a:rPr lang="en-US" sz="1800" b="1" i="0" u="none" strike="noStrike" baseline="0" dirty="0">
                    <a:latin typeface="SFRM1200"/>
                  </a:rPr>
                  <a:t> </a:t>
                </a:r>
                <a:r>
                  <a:rPr lang="en-US" sz="1800" b="1" i="0" u="none" strike="noStrike" baseline="0" dirty="0" err="1">
                    <a:latin typeface="SFRM1200"/>
                  </a:rPr>
                  <a:t>finală</a:t>
                </a:r>
                <a:endParaRPr lang="en-US" sz="1800" b="1" i="0" u="none" strike="noStrike" baseline="0" dirty="0">
                  <a:latin typeface="SFRM1200"/>
                </a:endParaRPr>
              </a:p>
              <a:p>
                <a:pPr marL="0" indent="0" algn="l">
                  <a:buNone/>
                </a:pPr>
                <a:r>
                  <a:rPr lang="ro-RO" sz="1800" b="1" i="0" u="none" strike="noStrike" baseline="0" dirty="0">
                    <a:latin typeface="SFRM1200"/>
                  </a:rPr>
                  <a:t>  </a:t>
                </a:r>
                <a:r>
                  <a:rPr lang="en-US" sz="1800" b="1" i="0" u="none" strike="noStrike" baseline="0" dirty="0">
                    <a:latin typeface="SFRM1200"/>
                  </a:rPr>
                  <a:t>• </a:t>
                </a:r>
                <a:r>
                  <a:rPr lang="en-US" sz="1800" b="1" i="0" u="none" strike="noStrike" baseline="0" dirty="0">
                    <a:latin typeface="CMMI12"/>
                  </a:rPr>
                  <a:t>b</a:t>
                </a:r>
                <a:r>
                  <a:rPr lang="en-US" sz="1800" b="1" i="0" u="none" strike="noStrike" baseline="-25000" dirty="0">
                    <a:latin typeface="CMR8"/>
                  </a:rPr>
                  <a:t>3</a:t>
                </a:r>
                <a:r>
                  <a:rPr lang="en-US" sz="1800" b="1" i="0" u="none" strike="noStrike" baseline="0" dirty="0">
                    <a:latin typeface="CMR8"/>
                  </a:rPr>
                  <a:t> </a:t>
                </a:r>
                <a:r>
                  <a:rPr lang="en-US" sz="1800" b="1" i="0" u="none" strike="noStrike" baseline="0" dirty="0">
                    <a:latin typeface="CMR12"/>
                  </a:rPr>
                  <a:t>= </a:t>
                </a:r>
                <a:r>
                  <a:rPr lang="en-US" sz="1800" b="1" i="0" u="none" strike="noStrike" baseline="0" dirty="0">
                    <a:latin typeface="SFRM1200"/>
                  </a:rPr>
                  <a:t>bias-ul final</a:t>
                </a:r>
                <a:endParaRPr lang="ro-RO" sz="1800" b="1" i="0" u="none" strike="noStrike" baseline="0" dirty="0">
                  <a:latin typeface="SFRM1200"/>
                </a:endParaRPr>
              </a:p>
              <a:p>
                <a:pPr marL="0" indent="0" algn="l">
                  <a:buNone/>
                </a:pPr>
                <a:r>
                  <a:rPr lang="ro-RO" sz="1800" dirty="0">
                    <a:latin typeface="SFRM1200"/>
                  </a:rPr>
                  <a:t>     </a:t>
                </a:r>
                <a:r>
                  <a:rPr lang="en-US" sz="1800" b="0" i="0" u="none" strike="noStrike" baseline="0" dirty="0">
                    <a:latin typeface="SFRM1200"/>
                  </a:rPr>
                  <a:t>Fie </a:t>
                </a:r>
                <a:r>
                  <a:rPr lang="en-US" sz="1800" b="0" i="0" u="none" strike="noStrike" baseline="0" dirty="0" err="1">
                    <a:latin typeface="SFRM1200"/>
                  </a:rPr>
                  <a:t>şirul</a:t>
                </a:r>
                <a:r>
                  <a:rPr lang="en-US" sz="1800" b="0" i="0" u="none" strike="noStrike" baseline="0" dirty="0">
                    <a:latin typeface="SFRM1200"/>
                  </a:rPr>
                  <a:t> k, </a:t>
                </a:r>
                <a:r>
                  <a:rPr lang="en-US" sz="1800" b="0" i="0" u="none" strike="noStrike" baseline="0" dirty="0" err="1">
                    <a:latin typeface="SFRM1200"/>
                  </a:rPr>
                  <a:t>unde</a:t>
                </a:r>
                <a:r>
                  <a:rPr lang="en-US" sz="1800" b="0" i="0" u="none" strike="noStrike" baseline="0" dirty="0">
                    <a:latin typeface="SFRM1200"/>
                  </a:rPr>
                  <a:t>:</a:t>
                </a:r>
              </a:p>
              <a:p>
                <a:pPr marL="0" indent="0" algn="l">
                  <a:buNone/>
                </a:pPr>
                <a:r>
                  <a:rPr lang="ro-RO" sz="1800" b="1" i="0" u="none" strike="noStrike" baseline="0" dirty="0">
                    <a:latin typeface="CMMI12"/>
                  </a:rPr>
                  <a:t>    </a:t>
                </a:r>
                <a:r>
                  <a:rPr lang="en-US" sz="1800" b="1" i="0" u="none" strike="noStrike" baseline="0" dirty="0">
                    <a:latin typeface="CMMI12"/>
                  </a:rPr>
                  <a:t>k</a:t>
                </a:r>
                <a:r>
                  <a:rPr lang="en-US" sz="1800" b="1" i="0" u="none" strike="noStrike" baseline="-25000" dirty="0">
                    <a:latin typeface="CMR8"/>
                  </a:rPr>
                  <a:t>1</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ReLU</a:t>
                </a:r>
                <a:r>
                  <a:rPr lang="en-US" sz="1800" b="1" i="0" u="none" strike="noStrike" baseline="0" dirty="0">
                    <a:latin typeface="CMR12"/>
                  </a:rPr>
                  <a:t>(</a:t>
                </a:r>
                <a:r>
                  <a:rPr lang="en-US" sz="1800" b="1" i="0" u="none" strike="noStrike" baseline="0" dirty="0">
                    <a:latin typeface="CMMI12"/>
                  </a:rPr>
                  <a:t>x</a:t>
                </a:r>
                <a:r>
                  <a:rPr lang="en-US" sz="1800" b="1" i="0" u="none" strike="noStrike" baseline="-25000" dirty="0">
                    <a:latin typeface="CMR8"/>
                  </a:rPr>
                  <a:t>1</a:t>
                </a:r>
                <a:r>
                  <a:rPr lang="en-US" sz="1800" b="1" i="0" u="none" strike="noStrike" baseline="0" dirty="0">
                    <a:latin typeface="CMMI12"/>
                  </a:rPr>
                  <a:t>w</a:t>
                </a:r>
                <a:r>
                  <a:rPr lang="en-US" sz="1800" b="1" i="0" u="none" strike="noStrike" baseline="-25000" dirty="0">
                    <a:latin typeface="CMR8"/>
                  </a:rPr>
                  <a:t>1 </a:t>
                </a:r>
                <a:r>
                  <a:rPr lang="en-US" sz="1800" b="1" i="0" u="none" strike="noStrike" baseline="0" dirty="0">
                    <a:latin typeface="CMR12"/>
                  </a:rPr>
                  <a:t>+ </a:t>
                </a:r>
                <a:r>
                  <a:rPr lang="en-US" sz="1800" b="1" i="0" u="none" strike="noStrike" baseline="0" dirty="0">
                    <a:latin typeface="CMMI12"/>
                  </a:rPr>
                  <a:t>b</a:t>
                </a:r>
                <a:r>
                  <a:rPr lang="en-US" sz="1800" b="1" i="0" u="none" strike="noStrike" baseline="-25000" dirty="0">
                    <a:latin typeface="CMR8"/>
                  </a:rPr>
                  <a:t>1</a:t>
                </a:r>
                <a:r>
                  <a:rPr lang="en-US" sz="1800" b="1" i="0" u="none" strike="noStrike" baseline="0" dirty="0">
                    <a:latin typeface="CMR12"/>
                  </a:rPr>
                  <a:t>)</a:t>
                </a:r>
                <a:endParaRPr lang="ro-RO" sz="1800" b="1" i="0" u="none" strike="noStrike" baseline="0" dirty="0">
                  <a:latin typeface="CMR12"/>
                </a:endParaRPr>
              </a:p>
              <a:p>
                <a:pPr marL="0" indent="0" algn="l">
                  <a:buNone/>
                </a:pPr>
                <a:r>
                  <a:rPr lang="pl-PL" sz="1800" b="1" i="0" u="none" strike="noStrike" baseline="0" dirty="0">
                    <a:latin typeface="CMMI12"/>
                  </a:rPr>
                  <a:t>    k</a:t>
                </a:r>
                <a:r>
                  <a:rPr lang="pl-PL" sz="1800" b="1" i="0" u="none" strike="noStrike" baseline="-25000" dirty="0">
                    <a:latin typeface="CMMI8"/>
                  </a:rPr>
                  <a:t>i</a:t>
                </a:r>
                <a:r>
                  <a:rPr lang="pl-PL" sz="1800" b="1" i="0" u="none" strike="noStrike" baseline="-25000" dirty="0">
                    <a:latin typeface="CMR8"/>
                  </a:rPr>
                  <a:t>+1 </a:t>
                </a:r>
                <a:r>
                  <a:rPr lang="pl-PL" sz="1800" b="1" i="0" u="none" strike="noStrike" baseline="0" dirty="0">
                    <a:latin typeface="CMR12"/>
                  </a:rPr>
                  <a:t>= </a:t>
                </a:r>
                <a:r>
                  <a:rPr lang="pl-PL" sz="1800" b="1" i="0" u="none" strike="noStrike" baseline="0" dirty="0">
                    <a:latin typeface="SFRM1200"/>
                  </a:rPr>
                  <a:t>ReLU</a:t>
                </a:r>
                <a:r>
                  <a:rPr lang="pl-PL" sz="1800" b="1" i="0" u="none" strike="noStrike" baseline="0" dirty="0">
                    <a:latin typeface="CMR12"/>
                  </a:rPr>
                  <a:t>(</a:t>
                </a:r>
                <a:r>
                  <a:rPr lang="pl-PL" sz="1800" b="1" i="0" u="none" strike="noStrike" dirty="0">
                    <a:latin typeface="CMMI12"/>
                  </a:rPr>
                  <a:t>x</a:t>
                </a:r>
                <a:r>
                  <a:rPr lang="pl-PL" sz="1800" b="1" i="0" u="none" strike="noStrike" baseline="-25000" dirty="0">
                    <a:latin typeface="CMMI8"/>
                  </a:rPr>
                  <a:t>i</a:t>
                </a:r>
                <a:r>
                  <a:rPr lang="pl-PL" sz="1800" b="1" i="0" u="none" strike="noStrike" baseline="-25000" dirty="0">
                    <a:latin typeface="CMR8"/>
                  </a:rPr>
                  <a:t>+1</a:t>
                </a:r>
                <a:r>
                  <a:rPr lang="pl-PL" sz="1800" b="1" i="0" u="none" strike="noStrike" dirty="0">
                    <a:latin typeface="CMMI12"/>
                  </a:rPr>
                  <a:t>w</a:t>
                </a:r>
                <a:r>
                  <a:rPr lang="pl-PL" sz="1800" b="1" i="0" u="none" strike="noStrike" baseline="-25000" dirty="0">
                    <a:latin typeface="CMR8"/>
                  </a:rPr>
                  <a:t>1 </a:t>
                </a:r>
                <a:r>
                  <a:rPr lang="pl-PL" sz="1800" b="1" i="0" u="none" strike="noStrike" baseline="0" dirty="0">
                    <a:latin typeface="CMR12"/>
                  </a:rPr>
                  <a:t>+ </a:t>
                </a:r>
                <a:r>
                  <a:rPr lang="pl-PL" sz="1800" b="1" i="0" u="none" strike="noStrike" baseline="0" dirty="0">
                    <a:latin typeface="CMMI12"/>
                  </a:rPr>
                  <a:t>k</a:t>
                </a:r>
                <a:r>
                  <a:rPr lang="pl-PL" sz="1800" b="1" i="0" u="none" strike="noStrike" baseline="-25000" dirty="0">
                    <a:latin typeface="CMMI8"/>
                  </a:rPr>
                  <a:t>i</a:t>
                </a:r>
                <a:r>
                  <a:rPr lang="pl-PL" sz="1800" b="1" i="0" u="none" strike="noStrike" baseline="0" dirty="0">
                    <a:latin typeface="CMMI12"/>
                  </a:rPr>
                  <a:t>w</a:t>
                </a:r>
                <a:r>
                  <a:rPr lang="pl-PL" sz="1800" b="1" i="0" u="none" strike="noStrike" baseline="-25000" dirty="0">
                    <a:latin typeface="CMR8"/>
                  </a:rPr>
                  <a:t>2</a:t>
                </a:r>
                <a:r>
                  <a:rPr lang="pl-PL" sz="1800" b="1" i="0" u="none" strike="noStrike" baseline="0" dirty="0">
                    <a:latin typeface="CMR8"/>
                  </a:rPr>
                  <a:t> </a:t>
                </a:r>
                <a:r>
                  <a:rPr lang="pl-PL" sz="1800" b="1" i="0" u="none" strike="noStrike" baseline="0" dirty="0">
                    <a:latin typeface="CMR12"/>
                  </a:rPr>
                  <a:t>+ </a:t>
                </a:r>
                <a:r>
                  <a:rPr lang="pl-PL" sz="1800" b="1" i="0" u="none" strike="noStrike" baseline="0" dirty="0">
                    <a:latin typeface="CMMI12"/>
                  </a:rPr>
                  <a:t>b</a:t>
                </a:r>
                <a:r>
                  <a:rPr lang="pl-PL" sz="1800" b="1" i="0" u="none" strike="noStrike" baseline="-25000" dirty="0">
                    <a:latin typeface="CMR8"/>
                  </a:rPr>
                  <a:t>1</a:t>
                </a:r>
                <a:r>
                  <a:rPr lang="pl-PL" sz="1800" b="1" i="0" u="none" strike="noStrike" baseline="0" dirty="0">
                    <a:latin typeface="CMR12"/>
                  </a:rPr>
                  <a:t>)</a:t>
                </a:r>
                <a:r>
                  <a:rPr lang="pl-PL" sz="1800" b="1" i="0" u="none" strike="noStrike" baseline="0" dirty="0">
                    <a:latin typeface="CMMI12"/>
                  </a:rPr>
                  <a:t>, </a:t>
                </a:r>
                <a:r>
                  <a:rPr lang="pl-PL" sz="1800" b="1" i="0" u="none" strike="noStrike" baseline="0" dirty="0">
                    <a:latin typeface="CMR12"/>
                  </a:rPr>
                  <a:t>1 </a:t>
                </a:r>
                <a:r>
                  <a:rPr lang="pl-PL" sz="1800" b="1" i="0" u="none" strike="noStrike" baseline="0" dirty="0">
                    <a:latin typeface="CMMI12"/>
                  </a:rPr>
                  <a:t>&lt; i </a:t>
                </a:r>
                <a:r>
                  <a:rPr lang="pl-PL" sz="1800" b="1" i="0" u="none" strike="noStrike" baseline="0" dirty="0">
                    <a:latin typeface="CMSY10"/>
                  </a:rPr>
                  <a:t>≤ </a:t>
                </a:r>
                <a:r>
                  <a:rPr lang="pl-PL" sz="1800" b="1" i="0" u="none" strike="noStrike" baseline="0" dirty="0">
                    <a:latin typeface="CMMI12"/>
                  </a:rPr>
                  <a:t>n.</a:t>
                </a:r>
              </a:p>
              <a:p>
                <a:pPr marL="0" indent="0" algn="l">
                  <a:buNone/>
                </a:pPr>
                <a:r>
                  <a:rPr lang="ro-RO" sz="1800" b="0" i="0" u="none" strike="noStrike" baseline="0" dirty="0">
                    <a:latin typeface="SFRM1200"/>
                  </a:rPr>
                  <a:t>    </a:t>
                </a:r>
                <a:r>
                  <a:rPr lang="en-US" sz="1800" b="0" i="0" u="none" strike="noStrike" baseline="0" dirty="0">
                    <a:latin typeface="SFRM1200"/>
                  </a:rPr>
                  <a:t>Predict</a:t>
                </a:r>
                <a:r>
                  <a:rPr lang="en-US" sz="1800" b="0" i="0" u="none" strike="noStrike" baseline="0" dirty="0">
                    <a:latin typeface="SFRM0600"/>
                  </a:rPr>
                  <a:t>, </a:t>
                </a:r>
                <a:r>
                  <a:rPr lang="en-US" sz="1800" b="0" i="0" u="none" strike="noStrike" baseline="0" dirty="0" err="1">
                    <a:latin typeface="SFRM1200"/>
                  </a:rPr>
                  <a:t>ia</a:t>
                </a:r>
                <a:r>
                  <a:rPr lang="en-US" sz="1800" b="0" i="0" u="none" strike="noStrike" baseline="0" dirty="0">
                    <a:latin typeface="SFRM1200"/>
                  </a:rPr>
                  <a:t> </a:t>
                </a:r>
                <a:r>
                  <a:rPr lang="en-US" sz="1800" b="0" i="0" u="none" strike="noStrike" baseline="0" dirty="0" err="1">
                    <a:latin typeface="SFRM1200"/>
                  </a:rPr>
                  <a:t>finală</a:t>
                </a:r>
                <a:r>
                  <a:rPr lang="en-US" sz="1800" b="0" i="0" u="none" strike="noStrike" baseline="0" dirty="0">
                    <a:latin typeface="SFRM1200"/>
                  </a:rPr>
                  <a:t> </a:t>
                </a:r>
                <a:r>
                  <a:rPr lang="en-US" sz="1800" b="0" i="0" u="none" strike="noStrike" baseline="0" dirty="0" err="1">
                    <a:latin typeface="SFRM1200"/>
                  </a:rPr>
                  <a:t>pentru</a:t>
                </a:r>
                <a:r>
                  <a:rPr lang="en-US" sz="1800" b="0" i="0" u="none" strike="noStrike" baseline="0" dirty="0">
                    <a:latin typeface="SFRM1200"/>
                  </a:rPr>
                  <a:t> </a:t>
                </a:r>
                <a:r>
                  <a:rPr lang="en-US" sz="1800" b="0" i="0" u="none" strike="noStrike" baseline="0" dirty="0" err="1">
                    <a:latin typeface="SFRM1200"/>
                  </a:rPr>
                  <a:t>următorul</a:t>
                </a:r>
                <a:r>
                  <a:rPr lang="en-US" sz="1800" b="0" i="0" u="none" strike="noStrike" baseline="0" dirty="0">
                    <a:latin typeface="SFRM1200"/>
                  </a:rPr>
                  <a:t> element </a:t>
                </a:r>
                <a:r>
                  <a:rPr lang="en-US" sz="1800" b="0" i="0" u="none" strike="noStrike" baseline="0" dirty="0" err="1">
                    <a:latin typeface="SFRM1200"/>
                  </a:rPr>
                  <a:t>va</a:t>
                </a:r>
                <a:r>
                  <a:rPr lang="en-US" sz="1800" b="0" i="0" u="none" strike="noStrike" baseline="0" dirty="0">
                    <a:latin typeface="SFRM1200"/>
                  </a:rPr>
                  <a:t> fi </a:t>
                </a:r>
                <a:r>
                  <a:rPr lang="en-US" sz="1800" i="0" u="none" strike="noStrike" baseline="0" dirty="0">
                    <a:latin typeface="CMMI12"/>
                  </a:rPr>
                  <a:t>w</a:t>
                </a:r>
                <a:r>
                  <a:rPr lang="en-US" sz="1800" i="0" u="none" strike="noStrike" baseline="-25000" dirty="0">
                    <a:latin typeface="CMR8"/>
                  </a:rPr>
                  <a:t>3</a:t>
                </a:r>
                <a:r>
                  <a:rPr lang="en-US" sz="1800" i="0" u="none" strike="noStrike" baseline="0" dirty="0">
                    <a:latin typeface="CMMI12"/>
                  </a:rPr>
                  <a:t>k</a:t>
                </a:r>
                <a:r>
                  <a:rPr lang="en-US" sz="1800" i="0" u="none" strike="noStrike" baseline="-25000" dirty="0">
                    <a:latin typeface="CMMI8"/>
                  </a:rPr>
                  <a:t>n</a:t>
                </a:r>
                <a:r>
                  <a:rPr lang="en-US" sz="1800" i="0" u="none" strike="noStrike" baseline="0" dirty="0">
                    <a:latin typeface="CMMI8"/>
                  </a:rPr>
                  <a:t> </a:t>
                </a:r>
                <a:r>
                  <a:rPr lang="en-US" sz="1800" i="0" u="none" strike="noStrike" baseline="0" dirty="0">
                    <a:latin typeface="CMR12"/>
                  </a:rPr>
                  <a:t>+ </a:t>
                </a:r>
                <a:r>
                  <a:rPr lang="en-US" sz="1800" i="0" u="none" strike="noStrike" baseline="0" dirty="0">
                    <a:latin typeface="CMMI12"/>
                  </a:rPr>
                  <a:t>b</a:t>
                </a:r>
                <a:r>
                  <a:rPr lang="en-US" sz="1800" i="0" u="none" strike="noStrike" baseline="-25000" dirty="0">
                    <a:latin typeface="CMR8"/>
                  </a:rPr>
                  <a:t>3</a:t>
                </a:r>
                <a:r>
                  <a:rPr lang="en-US" sz="1800" i="0" u="none" strike="noStrike" baseline="0" dirty="0">
                    <a:latin typeface="SFRM1200"/>
                  </a:rPr>
                  <a:t>. </a:t>
                </a:r>
                <a:r>
                  <a:rPr lang="en-US" sz="1800" b="0" i="0" u="none" strike="noStrike" baseline="0" dirty="0">
                    <a:latin typeface="SFRM1200"/>
                  </a:rPr>
                  <a:t>Mai </a:t>
                </a:r>
                <a:r>
                  <a:rPr lang="en-US" sz="1800" b="0" i="0" u="none" strike="noStrike" baseline="0" dirty="0" err="1">
                    <a:latin typeface="SFRM1200"/>
                  </a:rPr>
                  <a:t>jos</a:t>
                </a:r>
                <a:r>
                  <a:rPr lang="en-US" sz="1800" b="0" i="0" u="none" strike="noStrike" baseline="0" dirty="0">
                    <a:latin typeface="SFRM1200"/>
                  </a:rPr>
                  <a:t> </a:t>
                </a:r>
                <a:r>
                  <a:rPr lang="en-US" sz="1800" b="0" i="0" u="none" strike="noStrike" baseline="0" dirty="0" err="1">
                    <a:latin typeface="SFRM1200"/>
                  </a:rPr>
                  <a:t>avem</a:t>
                </a:r>
                <a:r>
                  <a:rPr lang="en-US" sz="1800" b="0" i="0" u="none" strike="noStrike" baseline="0" dirty="0">
                    <a:latin typeface="SFRM1200"/>
                  </a:rPr>
                  <a:t> un</a:t>
                </a:r>
                <a:r>
                  <a:rPr lang="ro-RO" sz="1800" b="0" i="0" u="none" strike="noStrike" baseline="0" dirty="0">
                    <a:latin typeface="SFRM1200"/>
                  </a:rPr>
                  <a:t> </a:t>
                </a:r>
                <a:r>
                  <a:rPr lang="en-US" sz="1800" b="0" i="0" u="none" strike="noStrike" baseline="0" dirty="0" err="1">
                    <a:latin typeface="SFRM1200"/>
                  </a:rPr>
                  <a:t>exemplu</a:t>
                </a:r>
                <a:r>
                  <a:rPr lang="en-US" sz="1800" b="0" i="0" u="none" strike="noStrike" baseline="0" dirty="0">
                    <a:latin typeface="SFRM1200"/>
                  </a:rPr>
                  <a:t> </a:t>
                </a:r>
                <a:r>
                  <a:rPr lang="en-US" sz="1800" b="0" i="0" u="none" strike="noStrike" baseline="0" dirty="0" err="1">
                    <a:latin typeface="SFRM1200"/>
                  </a:rPr>
                  <a:t>pentru</a:t>
                </a:r>
                <a:r>
                  <a:rPr lang="en-US" sz="1800" b="0" i="0" u="none" strike="noStrike" baseline="0" dirty="0">
                    <a:latin typeface="SFRM1200"/>
                  </a:rPr>
                  <a:t> </a:t>
                </a:r>
                <a:r>
                  <a:rPr lang="en-US" sz="1800" b="0" i="0" u="none" strike="noStrike" baseline="0" dirty="0" err="1">
                    <a:latin typeface="SFRM1200"/>
                  </a:rPr>
                  <a:t>seria</a:t>
                </a:r>
                <a:r>
                  <a:rPr lang="en-US" sz="1800" b="0" i="0" u="none" strike="noStrike" baseline="0" dirty="0">
                    <a:latin typeface="SFRM1200"/>
                  </a:rPr>
                  <a:t> de </a:t>
                </a:r>
                <a:r>
                  <a:rPr lang="en-US" sz="1800" b="0" i="0" u="none" strike="noStrike" baseline="0" dirty="0" err="1">
                    <a:latin typeface="SFRM1200"/>
                  </a:rPr>
                  <a:t>timp</a:t>
                </a:r>
                <a:r>
                  <a:rPr lang="en-US" sz="1800" b="0" i="0" u="none" strike="noStrike" baseline="0" dirty="0">
                    <a:latin typeface="SFRM1200"/>
                  </a:rPr>
                  <a:t> </a:t>
                </a:r>
                <a:endParaRPr lang="ro-RO" sz="1800" b="0" i="0" u="none" strike="noStrike" baseline="0" dirty="0">
                  <a:latin typeface="SFRM1200"/>
                </a:endParaRPr>
              </a:p>
              <a:p>
                <a:pPr marL="0" indent="0" algn="l">
                  <a:buNone/>
                </a:pPr>
                <a:r>
                  <a:rPr lang="en-US" sz="1800" b="0" i="0" u="none" strike="noStrike" baseline="0" dirty="0">
                    <a:latin typeface="SFRM1200"/>
                  </a:rPr>
                  <a:t>[1, 0.8, 0.6], </a:t>
                </a:r>
                <a:r>
                  <a:rPr lang="en-US" sz="1800" b="0" i="0" u="none" strike="noStrike" baseline="0" dirty="0">
                    <a:latin typeface="CMMI12"/>
                  </a:rPr>
                  <a:t>w</a:t>
                </a:r>
                <a:r>
                  <a:rPr lang="en-US" sz="1800" b="0" i="0" u="none" strike="noStrike" baseline="-25000" dirty="0">
                    <a:latin typeface="CMR8"/>
                  </a:rPr>
                  <a:t>1</a:t>
                </a:r>
                <a:r>
                  <a:rPr lang="en-US" sz="1800" b="0" i="0" u="none" strike="noStrike" baseline="0" dirty="0">
                    <a:latin typeface="CMR8"/>
                  </a:rPr>
                  <a:t> </a:t>
                </a:r>
                <a:r>
                  <a:rPr lang="en-US" sz="1800" b="0" i="0" u="none" strike="noStrike" baseline="0" dirty="0">
                    <a:latin typeface="CMR12"/>
                  </a:rPr>
                  <a:t>= 0</a:t>
                </a:r>
                <a:r>
                  <a:rPr lang="en-US" sz="1800" b="0" i="0" u="none" strike="noStrike" baseline="0" dirty="0">
                    <a:latin typeface="CMMI12"/>
                  </a:rPr>
                  <a:t>.</a:t>
                </a:r>
                <a:r>
                  <a:rPr lang="en-US" sz="1800" b="0" i="0" u="none" strike="noStrike" baseline="0" dirty="0">
                    <a:latin typeface="CMR12"/>
                  </a:rPr>
                  <a:t>5</a:t>
                </a:r>
                <a:r>
                  <a:rPr lang="en-US" sz="1800" b="0" i="0" u="none" strike="noStrike" baseline="0" dirty="0">
                    <a:latin typeface="CMMI12"/>
                  </a:rPr>
                  <a:t>, w</a:t>
                </a:r>
                <a:r>
                  <a:rPr lang="en-US" sz="1800" b="0" i="0" u="none" strike="noStrike" baseline="-25000" dirty="0">
                    <a:latin typeface="CMR8"/>
                  </a:rPr>
                  <a:t>2</a:t>
                </a:r>
                <a:r>
                  <a:rPr lang="en-US" sz="1800" b="0" i="0" u="none" strike="noStrike" baseline="0" dirty="0">
                    <a:latin typeface="CMR8"/>
                  </a:rPr>
                  <a:t> </a:t>
                </a:r>
                <a:r>
                  <a:rPr lang="en-US" sz="1800" b="0" i="0" u="none" strike="noStrike" baseline="0" dirty="0">
                    <a:latin typeface="CMR12"/>
                  </a:rPr>
                  <a:t>= </a:t>
                </a:r>
                <a:r>
                  <a:rPr lang="en-US" sz="1800" b="0" i="0" u="none" strike="noStrike" baseline="0" dirty="0">
                    <a:latin typeface="CMSY10"/>
                  </a:rPr>
                  <a:t>−</a:t>
                </a:r>
                <a:r>
                  <a:rPr lang="en-US" sz="1800" b="0" i="0" u="none" strike="noStrike" baseline="0" dirty="0">
                    <a:latin typeface="CMR12"/>
                  </a:rPr>
                  <a:t>1</a:t>
                </a:r>
                <a:r>
                  <a:rPr lang="en-US" sz="1800" b="0" i="0" u="none" strike="noStrike" baseline="0" dirty="0">
                    <a:latin typeface="CMMI12"/>
                  </a:rPr>
                  <a:t>, w</a:t>
                </a:r>
                <a:r>
                  <a:rPr lang="en-US" sz="1800" b="0" i="0" u="none" strike="noStrike" baseline="-25000" dirty="0">
                    <a:latin typeface="CMR8"/>
                  </a:rPr>
                  <a:t>3</a:t>
                </a:r>
                <a:r>
                  <a:rPr lang="en-US" sz="1800" b="0" i="0" u="none" strike="noStrike" baseline="0" dirty="0">
                    <a:latin typeface="CMR8"/>
                  </a:rPr>
                  <a:t> </a:t>
                </a:r>
                <a:r>
                  <a:rPr lang="en-US" sz="1800" b="0" i="0" u="none" strike="noStrike" baseline="0" dirty="0">
                    <a:latin typeface="CMR12"/>
                  </a:rPr>
                  <a:t>= 0</a:t>
                </a:r>
                <a:r>
                  <a:rPr lang="en-US" sz="1800" b="0" i="0" u="none" strike="noStrike" baseline="0" dirty="0">
                    <a:latin typeface="CMMI12"/>
                  </a:rPr>
                  <a:t>.</a:t>
                </a:r>
                <a:r>
                  <a:rPr lang="en-US" sz="1800" b="0" i="0" u="none" strike="noStrike" baseline="0" dirty="0">
                    <a:latin typeface="CMR12"/>
                  </a:rPr>
                  <a:t>5</a:t>
                </a:r>
                <a:r>
                  <a:rPr lang="en-US" sz="1800" b="0" i="0" u="none" strike="noStrike" baseline="0" dirty="0">
                    <a:latin typeface="CMMI12"/>
                  </a:rPr>
                  <a:t>, b</a:t>
                </a:r>
                <a:r>
                  <a:rPr lang="en-US" sz="1800" b="0" i="0" u="none" strike="noStrike" baseline="-25000" dirty="0">
                    <a:latin typeface="CMR8"/>
                  </a:rPr>
                  <a:t>1</a:t>
                </a:r>
                <a:r>
                  <a:rPr lang="en-US" sz="1800" b="0" i="0" u="none" strike="noStrike" baseline="0" dirty="0">
                    <a:latin typeface="CMR8"/>
                  </a:rPr>
                  <a:t> </a:t>
                </a:r>
                <a:r>
                  <a:rPr lang="en-US" sz="1800" b="0" i="0" u="none" strike="noStrike" baseline="0" dirty="0">
                    <a:latin typeface="CMR12"/>
                  </a:rPr>
                  <a:t>=0</a:t>
                </a:r>
                <a:r>
                  <a:rPr lang="en-US" sz="1800" b="0" i="0" u="none" strike="noStrike" baseline="0" dirty="0">
                    <a:latin typeface="CMMI12"/>
                  </a:rPr>
                  <a:t>.</a:t>
                </a:r>
                <a:r>
                  <a:rPr lang="en-US" sz="1800" b="0" i="0" u="none" strike="noStrike" baseline="0" dirty="0">
                    <a:latin typeface="CMR12"/>
                  </a:rPr>
                  <a:t>5</a:t>
                </a:r>
                <a:r>
                  <a:rPr lang="en-US" sz="1800" b="0" i="0" u="none" strike="noStrike" baseline="0" dirty="0">
                    <a:latin typeface="CMMI12"/>
                  </a:rPr>
                  <a:t>, b</a:t>
                </a:r>
                <a:r>
                  <a:rPr lang="en-US" sz="1800" b="0" i="0" u="none" strike="noStrike" baseline="-25000" dirty="0">
                    <a:latin typeface="CMR8"/>
                  </a:rPr>
                  <a:t>3</a:t>
                </a:r>
                <a:r>
                  <a:rPr lang="en-US" sz="1800" b="0" i="0" u="none" strike="noStrike" baseline="0" dirty="0">
                    <a:latin typeface="CMR8"/>
                  </a:rPr>
                  <a:t> </a:t>
                </a:r>
                <a:r>
                  <a:rPr lang="en-US" sz="1800" b="0" i="0" u="none" strike="noStrike" baseline="0" dirty="0">
                    <a:latin typeface="CMR12"/>
                  </a:rPr>
                  <a:t>= 0</a:t>
                </a:r>
              </a:p>
              <a:p>
                <a:pPr marL="0" indent="0" algn="l">
                  <a:buNone/>
                </a:pPr>
                <a:r>
                  <a:rPr lang="ro-RO" sz="1800" b="0" i="0" u="none" strike="noStrike" baseline="0" dirty="0">
                    <a:latin typeface="SFRM1200"/>
                  </a:rPr>
                  <a:t>  </a:t>
                </a:r>
                <a:r>
                  <a:rPr lang="ro-RO" sz="1800" dirty="0">
                    <a:latin typeface="SFRM1200"/>
                  </a:rPr>
                  <a:t>  </a:t>
                </a:r>
                <a:r>
                  <a:rPr lang="en-US" sz="1800" b="0" i="0" u="none" strike="noStrike" baseline="0" dirty="0">
                    <a:latin typeface="SFRM1200"/>
                  </a:rPr>
                  <a:t> </a:t>
                </a:r>
                <a:r>
                  <a:rPr lang="en-US" sz="1800" b="1" i="0" u="none" strike="noStrike" baseline="0" dirty="0">
                    <a:latin typeface="CMMI12"/>
                  </a:rPr>
                  <a:t>k</a:t>
                </a:r>
                <a:r>
                  <a:rPr lang="en-US" sz="1800" b="1" i="0" u="none" strike="noStrike" baseline="-25000" dirty="0">
                    <a:latin typeface="CMR8"/>
                  </a:rPr>
                  <a:t>1</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ReLU</a:t>
                </a:r>
                <a:r>
                  <a:rPr lang="en-US" sz="1800" b="1" i="0" u="none" strike="noStrike" baseline="0" dirty="0">
                    <a:latin typeface="CMR12"/>
                  </a:rPr>
                  <a:t>(1 </a:t>
                </a:r>
                <a:r>
                  <a:rPr lang="en-US" sz="1800" b="1" i="0" u="none" strike="noStrike" baseline="0" dirty="0">
                    <a:latin typeface="CMSY10"/>
                  </a:rPr>
                  <a:t>・ </a:t>
                </a:r>
                <a:r>
                  <a:rPr lang="en-US" sz="1800" b="1" i="0" u="none" strike="noStrike" baseline="0" dirty="0">
                    <a:latin typeface="CMR12"/>
                  </a:rPr>
                  <a:t>0</a:t>
                </a:r>
                <a:r>
                  <a:rPr lang="en-US" sz="1800" b="1" i="0" u="none" strike="noStrike" baseline="0" dirty="0">
                    <a:latin typeface="CMMI12"/>
                  </a:rPr>
                  <a:t>.</a:t>
                </a:r>
                <a:r>
                  <a:rPr lang="en-US" sz="1800" b="1" i="0" u="none" strike="noStrike" baseline="0" dirty="0">
                    <a:latin typeface="CMR12"/>
                  </a:rPr>
                  <a:t>5 + 0</a:t>
                </a:r>
                <a:r>
                  <a:rPr lang="en-US" sz="1800" b="1" i="0" u="none" strike="noStrike" baseline="0" dirty="0">
                    <a:latin typeface="CMMI12"/>
                  </a:rPr>
                  <a:t>.</a:t>
                </a:r>
                <a:r>
                  <a:rPr lang="en-US" sz="1800" b="1" i="0" u="none" strike="noStrike" baseline="0" dirty="0">
                    <a:latin typeface="CMR12"/>
                  </a:rPr>
                  <a:t>5) = 1</a:t>
                </a:r>
                <a:endParaRPr lang="ro-RO" sz="1800" b="1" i="0" u="none" strike="noStrike" baseline="0" dirty="0">
                  <a:latin typeface="CMR12"/>
                </a:endParaRPr>
              </a:p>
              <a:p>
                <a:pPr marL="0" indent="0" algn="l">
                  <a:buNone/>
                </a:pPr>
                <a:r>
                  <a:rPr lang="ro-RO" sz="1800" b="1" i="0" u="none" strike="noStrike" baseline="0" dirty="0">
                    <a:latin typeface="SFRM1200"/>
                  </a:rPr>
                  <a:t>  </a:t>
                </a:r>
                <a:r>
                  <a:rPr lang="ro-RO" sz="1800" b="1" dirty="0">
                    <a:latin typeface="SFRM1200"/>
                  </a:rPr>
                  <a:t> </a:t>
                </a:r>
                <a:r>
                  <a:rPr lang="en-US" sz="1800" b="1" i="0" u="none" strike="noStrike" baseline="0" dirty="0">
                    <a:latin typeface="SFRM1200"/>
                  </a:rPr>
                  <a:t> </a:t>
                </a:r>
                <a:r>
                  <a:rPr lang="en-US" sz="1800" b="1" i="0" u="none" strike="noStrike" baseline="0" dirty="0">
                    <a:latin typeface="CMMI12"/>
                  </a:rPr>
                  <a:t>k</a:t>
                </a:r>
                <a:r>
                  <a:rPr lang="en-US" sz="1800" b="1" i="0" u="none" strike="noStrike" baseline="-25000" dirty="0">
                    <a:latin typeface="CMR8"/>
                  </a:rPr>
                  <a:t>2</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ReLU</a:t>
                </a:r>
                <a:r>
                  <a:rPr lang="en-US" sz="1800" b="1" i="0" u="none" strike="noStrike" baseline="0" dirty="0">
                    <a:latin typeface="CMR12"/>
                  </a:rPr>
                  <a:t>(0</a:t>
                </a:r>
                <a:r>
                  <a:rPr lang="en-US" sz="1800" b="1" i="0" u="none" strike="noStrike" baseline="0" dirty="0">
                    <a:latin typeface="CMMI12"/>
                  </a:rPr>
                  <a:t>.</a:t>
                </a:r>
                <a:r>
                  <a:rPr lang="en-US" sz="1800" b="1" i="0" u="none" strike="noStrike" baseline="0" dirty="0">
                    <a:latin typeface="CMR12"/>
                  </a:rPr>
                  <a:t>8 </a:t>
                </a:r>
                <a:r>
                  <a:rPr lang="en-US" sz="1800" b="1" i="0" u="none" strike="noStrike" baseline="0" dirty="0">
                    <a:latin typeface="CMSY10"/>
                  </a:rPr>
                  <a:t>・ </a:t>
                </a:r>
                <a:r>
                  <a:rPr lang="en-US" sz="1800" b="1" i="0" u="none" strike="noStrike" baseline="0" dirty="0">
                    <a:latin typeface="CMR12"/>
                  </a:rPr>
                  <a:t>0</a:t>
                </a:r>
                <a:r>
                  <a:rPr lang="en-US" sz="1800" b="1" i="0" u="none" strike="noStrike" baseline="0" dirty="0">
                    <a:latin typeface="CMMI12"/>
                  </a:rPr>
                  <a:t>.</a:t>
                </a:r>
                <a:r>
                  <a:rPr lang="en-US" sz="1800" b="1" i="0" u="none" strike="noStrike" baseline="0" dirty="0">
                    <a:latin typeface="CMR12"/>
                  </a:rPr>
                  <a:t>5 + 1 </a:t>
                </a:r>
                <a:r>
                  <a:rPr lang="en-US" sz="1800" b="1" i="0" u="none" strike="noStrike" baseline="0" dirty="0">
                    <a:latin typeface="CMSY10"/>
                  </a:rPr>
                  <a:t>・ </a:t>
                </a:r>
                <a:r>
                  <a:rPr lang="en-US" sz="1800" b="1" i="0" u="none" strike="noStrike" baseline="0" dirty="0">
                    <a:latin typeface="CMR12"/>
                  </a:rPr>
                  <a:t>(</a:t>
                </a:r>
                <a:r>
                  <a:rPr lang="en-US" sz="1800" b="1" i="0" u="none" strike="noStrike" baseline="0" dirty="0">
                    <a:latin typeface="CMSY10"/>
                  </a:rPr>
                  <a:t>−</a:t>
                </a:r>
                <a:r>
                  <a:rPr lang="en-US" sz="1800" b="1" i="0" u="none" strike="noStrike" baseline="0" dirty="0">
                    <a:latin typeface="CMR12"/>
                  </a:rPr>
                  <a:t>1) + 0</a:t>
                </a:r>
                <a:r>
                  <a:rPr lang="en-US" sz="1800" b="1" i="0" u="none" strike="noStrike" baseline="0" dirty="0">
                    <a:latin typeface="CMMI12"/>
                  </a:rPr>
                  <a:t>.</a:t>
                </a:r>
                <a:r>
                  <a:rPr lang="en-US" sz="1800" b="1" i="0" u="none" strike="noStrike" baseline="0" dirty="0">
                    <a:latin typeface="CMR12"/>
                  </a:rPr>
                  <a:t>5) = 0</a:t>
                </a:r>
                <a:endParaRPr lang="ro-RO" sz="1800" b="1" i="0" u="none" strike="noStrike" baseline="0" dirty="0">
                  <a:latin typeface="CMR12"/>
                </a:endParaRPr>
              </a:p>
              <a:p>
                <a:pPr marL="0" indent="0" algn="l">
                  <a:buNone/>
                </a:pPr>
                <a:r>
                  <a:rPr lang="ro-RO" sz="1800" b="1" i="0" u="none" strike="noStrike" baseline="0" dirty="0">
                    <a:latin typeface="SFRM1200"/>
                  </a:rPr>
                  <a:t>  </a:t>
                </a:r>
                <a:r>
                  <a:rPr lang="ro-RO" sz="1800" b="1" dirty="0">
                    <a:latin typeface="SFRM1200"/>
                  </a:rPr>
                  <a:t>  </a:t>
                </a:r>
                <a:r>
                  <a:rPr lang="en-US" sz="1800" b="1" i="0" u="none" strike="noStrike" baseline="0" dirty="0">
                    <a:latin typeface="CMMI12"/>
                  </a:rPr>
                  <a:t>k</a:t>
                </a:r>
                <a:r>
                  <a:rPr lang="en-US" sz="1800" b="1" i="0" u="none" strike="noStrike" baseline="-25000" dirty="0">
                    <a:latin typeface="CMR8"/>
                  </a:rPr>
                  <a:t>3</a:t>
                </a:r>
                <a:r>
                  <a:rPr lang="en-US" sz="1800" b="1" i="0" u="none" strike="noStrike" baseline="0" dirty="0">
                    <a:latin typeface="CMR8"/>
                  </a:rPr>
                  <a:t> </a:t>
                </a:r>
                <a:r>
                  <a:rPr lang="en-US" sz="1800" b="1" i="0" u="none" strike="noStrike" baseline="0" dirty="0">
                    <a:latin typeface="CMR12"/>
                  </a:rPr>
                  <a:t>= </a:t>
                </a:r>
                <a:r>
                  <a:rPr lang="en-US" sz="1800" b="1" i="0" u="none" strike="noStrike" baseline="0" dirty="0" err="1">
                    <a:latin typeface="SFRM1200"/>
                  </a:rPr>
                  <a:t>ReLU</a:t>
                </a:r>
                <a:r>
                  <a:rPr lang="en-US" sz="1800" b="1" i="0" u="none" strike="noStrike" baseline="0" dirty="0">
                    <a:latin typeface="CMR12"/>
                  </a:rPr>
                  <a:t>(0</a:t>
                </a:r>
                <a:r>
                  <a:rPr lang="en-US" sz="1800" b="1" i="0" u="none" strike="noStrike" baseline="0" dirty="0">
                    <a:latin typeface="CMMI12"/>
                  </a:rPr>
                  <a:t>.</a:t>
                </a:r>
                <a:r>
                  <a:rPr lang="en-US" sz="1800" b="1" i="0" u="none" strike="noStrike" baseline="0" dirty="0">
                    <a:latin typeface="CMR12"/>
                  </a:rPr>
                  <a:t>6 </a:t>
                </a:r>
                <a:r>
                  <a:rPr lang="en-US" sz="1800" b="1" i="0" u="none" strike="noStrike" baseline="0" dirty="0">
                    <a:latin typeface="CMSY10"/>
                  </a:rPr>
                  <a:t>・ </a:t>
                </a:r>
                <a:r>
                  <a:rPr lang="en-US" sz="1800" b="1" i="0" u="none" strike="noStrike" baseline="0" dirty="0">
                    <a:latin typeface="CMR12"/>
                  </a:rPr>
                  <a:t>0</a:t>
                </a:r>
                <a:r>
                  <a:rPr lang="en-US" sz="1800" b="1" i="0" u="none" strike="noStrike" baseline="0" dirty="0">
                    <a:latin typeface="CMMI12"/>
                  </a:rPr>
                  <a:t>.</a:t>
                </a:r>
                <a:r>
                  <a:rPr lang="en-US" sz="1800" b="1" i="0" u="none" strike="noStrike" baseline="0" dirty="0">
                    <a:latin typeface="CMR12"/>
                  </a:rPr>
                  <a:t>5 + 0 </a:t>
                </a:r>
                <a:r>
                  <a:rPr lang="en-US" sz="1800" b="1" i="0" u="none" strike="noStrike" baseline="0" dirty="0">
                    <a:latin typeface="CMSY10"/>
                  </a:rPr>
                  <a:t>・ </a:t>
                </a:r>
                <a:r>
                  <a:rPr lang="en-US" sz="1800" b="1" i="0" u="none" strike="noStrike" baseline="0" dirty="0">
                    <a:latin typeface="CMR12"/>
                  </a:rPr>
                  <a:t>(</a:t>
                </a:r>
                <a:r>
                  <a:rPr lang="en-US" sz="1800" b="1" i="0" u="none" strike="noStrike" baseline="0" dirty="0">
                    <a:latin typeface="CMSY10"/>
                  </a:rPr>
                  <a:t>−</a:t>
                </a:r>
                <a:r>
                  <a:rPr lang="en-US" sz="1800" b="1" i="0" u="none" strike="noStrike" baseline="0" dirty="0">
                    <a:latin typeface="CMR12"/>
                  </a:rPr>
                  <a:t>1) + 0</a:t>
                </a:r>
                <a:r>
                  <a:rPr lang="en-US" sz="1800" b="1" i="0" u="none" strike="noStrike" baseline="0" dirty="0">
                    <a:latin typeface="CMMI12"/>
                  </a:rPr>
                  <a:t>.</a:t>
                </a:r>
                <a:r>
                  <a:rPr lang="en-US" sz="1800" b="1" i="0" u="none" strike="noStrike" baseline="0" dirty="0">
                    <a:latin typeface="CMR12"/>
                  </a:rPr>
                  <a:t>5) = 0</a:t>
                </a:r>
                <a:r>
                  <a:rPr lang="en-US" sz="1800" b="1" i="0" u="none" strike="noStrike" baseline="0" dirty="0">
                    <a:latin typeface="CMMI12"/>
                  </a:rPr>
                  <a:t>.</a:t>
                </a:r>
                <a:r>
                  <a:rPr lang="en-US" sz="1800" b="1" i="0" u="none" strike="noStrike" baseline="0" dirty="0">
                    <a:latin typeface="CMR12"/>
                  </a:rPr>
                  <a:t>8</a:t>
                </a:r>
              </a:p>
              <a:p>
                <a:pPr marL="0" indent="0" algn="l">
                  <a:buNone/>
                </a:pPr>
                <a14:m>
                  <m:oMath xmlns:m="http://schemas.openxmlformats.org/officeDocument/2006/math">
                    <m:r>
                      <a:rPr lang="ro-RO" altLang="ja-JP" sz="1800" b="1" i="1" u="none" strike="noStrike" baseline="0" smtClean="0">
                        <a:latin typeface="Cambria Math" panose="02040503050406030204" pitchFamily="18" charset="0"/>
                      </a:rPr>
                      <m:t>    </m:t>
                    </m:r>
                    <m:acc>
                      <m:accPr>
                        <m:chr m:val="̂"/>
                        <m:ctrlPr>
                          <a:rPr lang="en-US" altLang="ja-JP" sz="1800" b="1" i="1" u="none" strike="noStrike" baseline="0" smtClean="0">
                            <a:latin typeface="Cambria Math" panose="02040503050406030204" pitchFamily="18" charset="0"/>
                          </a:rPr>
                        </m:ctrlPr>
                      </m:accPr>
                      <m:e>
                        <m:r>
                          <a:rPr lang="ro-RO" altLang="ja-JP" sz="1800" b="1" i="1" u="none" strike="noStrike" baseline="0" smtClean="0">
                            <a:latin typeface="Cambria Math" panose="02040503050406030204" pitchFamily="18" charset="0"/>
                          </a:rPr>
                          <m:t>𝒙</m:t>
                        </m:r>
                        <m:r>
                          <a:rPr lang="ro-RO" altLang="ja-JP" sz="1800" b="1" i="1" u="none" strike="noStrike" baseline="0" smtClean="0">
                            <a:latin typeface="Cambria Math" panose="02040503050406030204" pitchFamily="18" charset="0"/>
                          </a:rPr>
                          <m:t>𝟒</m:t>
                        </m:r>
                      </m:e>
                    </m:acc>
                  </m:oMath>
                </a14:m>
                <a:r>
                  <a:rPr lang="en-US" altLang="ja-JP" sz="1800" b="1" i="0" u="none" strike="noStrike" baseline="0" dirty="0">
                    <a:latin typeface="CMR8"/>
                  </a:rPr>
                  <a:t> </a:t>
                </a:r>
                <a:r>
                  <a:rPr lang="en-US" altLang="ja-JP" sz="1800" b="1" i="0" u="none" strike="noStrike" baseline="0" dirty="0">
                    <a:latin typeface="CMR12"/>
                  </a:rPr>
                  <a:t>= 0</a:t>
                </a:r>
                <a:r>
                  <a:rPr lang="en-US" altLang="ja-JP" sz="1800" b="1" i="0" u="none" strike="noStrike" baseline="0" dirty="0">
                    <a:latin typeface="CMMI12"/>
                  </a:rPr>
                  <a:t>.</a:t>
                </a:r>
                <a:r>
                  <a:rPr lang="en-US" altLang="ja-JP" sz="1800" b="1" i="0" u="none" strike="noStrike" baseline="0" dirty="0">
                    <a:latin typeface="CMR12"/>
                  </a:rPr>
                  <a:t>5 </a:t>
                </a:r>
                <a:r>
                  <a:rPr lang="ja-JP" altLang="en-US" sz="1800" b="1" i="0" u="none" strike="noStrike" baseline="0" dirty="0">
                    <a:latin typeface="CMSY10"/>
                  </a:rPr>
                  <a:t>・ </a:t>
                </a:r>
                <a:r>
                  <a:rPr lang="en-US" altLang="ja-JP" sz="1800" b="1" i="0" u="none" strike="noStrike" baseline="0" dirty="0">
                    <a:latin typeface="CMR12"/>
                  </a:rPr>
                  <a:t>0</a:t>
                </a:r>
                <a:r>
                  <a:rPr lang="en-US" altLang="ja-JP" sz="1800" b="1" i="0" u="none" strike="noStrike" baseline="0" dirty="0">
                    <a:latin typeface="CMMI12"/>
                  </a:rPr>
                  <a:t>.</a:t>
                </a:r>
                <a:r>
                  <a:rPr lang="en-US" altLang="ja-JP" sz="1800" b="1" i="0" u="none" strike="noStrike" baseline="0" dirty="0">
                    <a:latin typeface="CMR12"/>
                  </a:rPr>
                  <a:t>8 + 0 = 0</a:t>
                </a:r>
                <a:r>
                  <a:rPr lang="en-US" altLang="ja-JP" sz="1800" b="1" i="0" u="none" strike="noStrike" baseline="0" dirty="0">
                    <a:latin typeface="CMMI12"/>
                  </a:rPr>
                  <a:t>.</a:t>
                </a:r>
                <a:r>
                  <a:rPr lang="en-US" altLang="ja-JP" sz="1800" b="1" i="0" u="none" strike="noStrike" baseline="0" dirty="0">
                    <a:latin typeface="CMR12"/>
                  </a:rPr>
                  <a:t>4</a:t>
                </a:r>
                <a:endParaRPr lang="en-US" b="1" dirty="0"/>
              </a:p>
            </p:txBody>
          </p:sp>
        </mc:Choice>
        <mc:Fallback>
          <p:sp>
            <p:nvSpPr>
              <p:cNvPr id="3" name="Content Placeholder 2">
                <a:extLst>
                  <a:ext uri="{FF2B5EF4-FFF2-40B4-BE49-F238E27FC236}">
                    <a16:creationId xmlns:a16="http://schemas.microsoft.com/office/drawing/2014/main" id="{ABF63BEA-6CEE-45C7-933B-64D59CA0994B}"/>
                  </a:ext>
                </a:extLst>
              </p:cNvPr>
              <p:cNvSpPr>
                <a:spLocks noGrp="1" noRot="1" noChangeAspect="1" noMove="1" noResize="1" noEditPoints="1" noAdjustHandles="1" noChangeArrowheads="1" noChangeShapeType="1" noTextEdit="1"/>
              </p:cNvSpPr>
              <p:nvPr>
                <p:ph idx="1"/>
              </p:nvPr>
            </p:nvSpPr>
            <p:spPr>
              <a:xfrm>
                <a:off x="757177" y="1342664"/>
                <a:ext cx="10515600" cy="4845874"/>
              </a:xfrm>
              <a:blipFill>
                <a:blip r:embed="rId2"/>
                <a:stretch>
                  <a:fillRect l="-464" t="-1635" b="-1635"/>
                </a:stretch>
              </a:blipFill>
            </p:spPr>
            <p:txBody>
              <a:bodyPr/>
              <a:lstStyle/>
              <a:p>
                <a:r>
                  <a:rPr lang="en-US">
                    <a:noFill/>
                  </a:rPr>
                  <a:t> </a:t>
                </a:r>
              </a:p>
            </p:txBody>
          </p:sp>
        </mc:Fallback>
      </mc:AlternateContent>
    </p:spTree>
    <p:extLst>
      <p:ext uri="{BB962C8B-B14F-4D97-AF65-F5344CB8AC3E}">
        <p14:creationId xmlns:p14="http://schemas.microsoft.com/office/powerpoint/2010/main" val="395393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94C8-C9B1-40EB-A0FF-DBB3DA273412}"/>
              </a:ext>
            </a:extLst>
          </p:cNvPr>
          <p:cNvSpPr>
            <a:spLocks noGrp="1"/>
          </p:cNvSpPr>
          <p:nvPr>
            <p:ph type="title"/>
          </p:nvPr>
        </p:nvSpPr>
        <p:spPr>
          <a:xfrm>
            <a:off x="289367" y="187325"/>
            <a:ext cx="4675114" cy="703926"/>
          </a:xfrm>
        </p:spPr>
        <p:txBody>
          <a:bodyPr>
            <a:normAutofit fontScale="90000"/>
          </a:bodyPr>
          <a:lstStyle/>
          <a:p>
            <a:r>
              <a:rPr lang="ro-RO" sz="2400" dirty="0" err="1"/>
              <a:t>Vanishing</a:t>
            </a:r>
            <a:r>
              <a:rPr lang="ro-RO" sz="2400" dirty="0"/>
              <a:t> gradient și </a:t>
            </a:r>
            <a:r>
              <a:rPr lang="ro-RO" sz="2400" dirty="0" err="1"/>
              <a:t>Exploding</a:t>
            </a:r>
            <a:r>
              <a:rPr lang="ro-RO" sz="2400" dirty="0"/>
              <a:t> Gradient</a:t>
            </a:r>
            <a:endParaRPr lang="en-US" sz="2400" dirty="0"/>
          </a:p>
        </p:txBody>
      </p:sp>
      <p:pic>
        <p:nvPicPr>
          <p:cNvPr id="6" name="Content Placeholder 5">
            <a:extLst>
              <a:ext uri="{FF2B5EF4-FFF2-40B4-BE49-F238E27FC236}">
                <a16:creationId xmlns:a16="http://schemas.microsoft.com/office/drawing/2014/main" id="{C8C51E7D-C44A-4699-95F1-8B8EDA150115}"/>
              </a:ext>
            </a:extLst>
          </p:cNvPr>
          <p:cNvPicPr>
            <a:picLocks noGrp="1" noChangeAspect="1"/>
          </p:cNvPicPr>
          <p:nvPr>
            <p:ph idx="1"/>
          </p:nvPr>
        </p:nvPicPr>
        <p:blipFill>
          <a:blip r:embed="rId2"/>
          <a:stretch>
            <a:fillRect/>
          </a:stretch>
        </p:blipFill>
        <p:spPr>
          <a:xfrm>
            <a:off x="6462062" y="1099564"/>
            <a:ext cx="5567892" cy="4873625"/>
          </a:xfrm>
        </p:spPr>
      </p:pic>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F4AB566F-80FE-4244-BD69-CB0F2612C4B4}"/>
                  </a:ext>
                </a:extLst>
              </p:cNvPr>
              <p:cNvSpPr>
                <a:spLocks noGrp="1"/>
              </p:cNvSpPr>
              <p:nvPr>
                <p:ph type="body" sz="half" idx="2"/>
              </p:nvPr>
            </p:nvSpPr>
            <p:spPr>
              <a:xfrm>
                <a:off x="162046" y="1203767"/>
                <a:ext cx="6300016" cy="5466908"/>
              </a:xfrm>
            </p:spPr>
            <p:txBody>
              <a:bodyPr>
                <a:noAutofit/>
              </a:bodyPr>
              <a:lstStyle/>
              <a:p>
                <a:pPr algn="l"/>
                <a:r>
                  <a:rPr lang="en-US" sz="1800" b="0" i="0" u="none" strike="noStrike" baseline="0" dirty="0">
                    <a:latin typeface="SFRM1200"/>
                  </a:rPr>
                  <a:t>Întrucât la </a:t>
                </a:r>
                <a:r>
                  <a:rPr lang="en-US" sz="1800" b="0" i="0" u="none" strike="noStrike" baseline="0" dirty="0" err="1">
                    <a:latin typeface="SFRM1200"/>
                  </a:rPr>
                  <a:t>fiecare</a:t>
                </a:r>
                <a:r>
                  <a:rPr lang="en-US" sz="1800" b="0" i="0" u="none" strike="noStrike" baseline="0" dirty="0">
                    <a:latin typeface="SFRM1200"/>
                  </a:rPr>
                  <a:t> termen</a:t>
                </a:r>
                <a:r>
                  <a:rPr lang="ro-RO" sz="1800" b="0" i="0" u="none" strike="noStrike" baseline="0" dirty="0">
                    <a:latin typeface="SFRM1200"/>
                  </a:rPr>
                  <a:t> </a:t>
                </a:r>
                <a:r>
                  <a:rPr lang="en-US" sz="1800" b="0" i="0" u="none" strike="noStrike" baseline="0" dirty="0">
                    <a:latin typeface="SFRM1200"/>
                  </a:rPr>
                  <a:t>nou </a:t>
                </a:r>
                <a:r>
                  <a:rPr lang="en-US" sz="1800" b="0" i="0" u="none" strike="noStrike" baseline="0" dirty="0" err="1">
                    <a:latin typeface="SFRM1200"/>
                  </a:rPr>
                  <a:t>calculat</a:t>
                </a:r>
                <a:r>
                  <a:rPr lang="en-US" sz="1800" b="0" i="0" u="none" strike="noStrike" baseline="0" dirty="0">
                    <a:latin typeface="SFRM1200"/>
                  </a:rPr>
                  <a:t> </a:t>
                </a:r>
                <a:r>
                  <a:rPr lang="en-US" sz="1800" b="0" i="0" u="none" strike="noStrike" baseline="0" dirty="0" err="1">
                    <a:latin typeface="SFRM1200"/>
                  </a:rPr>
                  <a:t>folosim</a:t>
                </a:r>
                <a:r>
                  <a:rPr lang="en-US" sz="1800" b="0" i="0" u="none" strike="noStrike" baseline="0" dirty="0">
                    <a:latin typeface="SFRM1200"/>
                  </a:rPr>
                  <a:t> </a:t>
                </a:r>
                <a:r>
                  <a:rPr lang="en-US" sz="1800" b="0" i="0" u="none" strike="noStrike" baseline="0" dirty="0" err="1">
                    <a:latin typeface="SFRM1200"/>
                  </a:rPr>
                  <a:t>acelea</a:t>
                </a:r>
                <a:r>
                  <a:rPr lang="ro-RO" sz="1800" dirty="0">
                    <a:latin typeface="SFRM1200"/>
                  </a:rPr>
                  <a:t>ș</a:t>
                </a:r>
                <a:r>
                  <a:rPr lang="en-US" sz="1800" b="0" i="0" u="none" strike="noStrike" baseline="0" dirty="0" err="1">
                    <a:latin typeface="SFRM1200"/>
                  </a:rPr>
                  <a:t>i</a:t>
                </a:r>
                <a:r>
                  <a:rPr lang="en-US" sz="1800" b="0" i="0" u="none" strike="noStrike" baseline="0" dirty="0">
                    <a:latin typeface="SFRM1200"/>
                  </a:rPr>
                  <a:t> </a:t>
                </a:r>
                <a:r>
                  <a:rPr lang="en-US" sz="1800" b="0" i="0" u="none" strike="noStrike" baseline="0" dirty="0" err="1">
                    <a:latin typeface="SFRM1200"/>
                  </a:rPr>
                  <a:t>ponderi</a:t>
                </a:r>
                <a:r>
                  <a:rPr lang="en-US" sz="1800" b="0" i="0" u="none" strike="noStrike" baseline="0" dirty="0">
                    <a:latin typeface="SFRM1200"/>
                  </a:rPr>
                  <a:t>, </a:t>
                </a:r>
                <a:r>
                  <a:rPr lang="en-US" sz="1800" b="0" i="0" u="none" strike="noStrike" baseline="0" dirty="0" err="1">
                    <a:latin typeface="SFRM1200"/>
                  </a:rPr>
                  <a:t>după</a:t>
                </a:r>
                <a:r>
                  <a:rPr lang="en-US" sz="1800" b="0" i="0" u="none" strike="noStrike" baseline="0" dirty="0">
                    <a:latin typeface="SFRM1200"/>
                  </a:rPr>
                  <a:t> </a:t>
                </a:r>
                <a:r>
                  <a:rPr lang="en-US" sz="1800" b="0" i="0" u="none" strike="noStrike" baseline="0" dirty="0" err="1">
                    <a:latin typeface="SFRM1200"/>
                  </a:rPr>
                  <a:t>mai</a:t>
                </a:r>
                <a:r>
                  <a:rPr lang="en-US" sz="1800" b="0" i="0" u="none" strike="noStrike" baseline="0" dirty="0">
                    <a:latin typeface="SFRM1200"/>
                  </a:rPr>
                  <a:t> </a:t>
                </a:r>
                <a:r>
                  <a:rPr lang="en-US" sz="1800" b="0" i="0" u="none" strike="noStrike" baseline="0" dirty="0" err="1">
                    <a:latin typeface="SFRM1200"/>
                  </a:rPr>
                  <a:t>multe</a:t>
                </a:r>
                <a:r>
                  <a:rPr lang="en-US" sz="1800" b="0" i="0" u="none" strike="noStrike" baseline="0" dirty="0">
                    <a:latin typeface="SFRM1200"/>
                  </a:rPr>
                  <a:t> </a:t>
                </a:r>
                <a:r>
                  <a:rPr lang="en-US" sz="1800" b="0" i="0" u="none" strike="noStrike" baseline="0" dirty="0" err="1">
                    <a:latin typeface="SFRM1200"/>
                  </a:rPr>
                  <a:t>operat</a:t>
                </a:r>
                <a:r>
                  <a:rPr lang="en-US" sz="1800" b="0" i="0" u="none" strike="noStrike" baseline="0" dirty="0">
                    <a:latin typeface="SFRM0600"/>
                  </a:rPr>
                  <a:t>, </a:t>
                </a:r>
                <a:r>
                  <a:rPr lang="en-US" sz="1800" b="0" i="0" u="none" strike="noStrike" baseline="0" dirty="0">
                    <a:latin typeface="SFRM1200"/>
                  </a:rPr>
                  <a:t>ii </a:t>
                </a:r>
                <a:r>
                  <a:rPr lang="en-US" sz="1800" b="0" i="0" u="none" strike="noStrike" baseline="0" dirty="0" err="1">
                    <a:latin typeface="SFRM1200"/>
                  </a:rPr>
                  <a:t>vom</a:t>
                </a:r>
                <a:r>
                  <a:rPr lang="en-US" sz="1800" b="0" i="0" u="none" strike="noStrike" baseline="0" dirty="0">
                    <a:latin typeface="SFRM1200"/>
                  </a:rPr>
                  <a:t> </a:t>
                </a:r>
                <a:r>
                  <a:rPr lang="en-US" sz="1800" b="0" i="0" u="none" strike="noStrike" baseline="0" dirty="0" err="1">
                    <a:latin typeface="SFRM1200"/>
                  </a:rPr>
                  <a:t>ajunge</a:t>
                </a:r>
                <a:r>
                  <a:rPr lang="en-US" sz="1800" b="0" i="0" u="none" strike="noStrike" baseline="0" dirty="0">
                    <a:latin typeface="SFRM1200"/>
                  </a:rPr>
                  <a:t> la</a:t>
                </a:r>
                <a:r>
                  <a:rPr lang="ro-RO" sz="1800" b="0" i="0" u="none" strike="noStrike" baseline="0" dirty="0">
                    <a:latin typeface="SFRM1200"/>
                  </a:rPr>
                  <a:t> </a:t>
                </a:r>
                <a:r>
                  <a:rPr lang="it-IT" sz="1800" b="0" i="0" u="none" strike="noStrike" baseline="0" dirty="0">
                    <a:latin typeface="SFRM1200"/>
                  </a:rPr>
                  <a:t>una din cele 2 probleme:</a:t>
                </a:r>
              </a:p>
              <a:p>
                <a:pPr algn="l"/>
                <a:r>
                  <a:rPr lang="en-US" sz="1800" b="0" i="0" u="none" strike="noStrike" baseline="0" dirty="0">
                    <a:latin typeface="SFRM1200"/>
                  </a:rPr>
                  <a:t>a. </a:t>
                </a:r>
                <a:r>
                  <a:rPr lang="en-US" sz="1800" b="0" i="0" u="none" strike="noStrike" baseline="0" dirty="0" err="1">
                    <a:latin typeface="SFRM1200"/>
                  </a:rPr>
                  <a:t>Dispari</a:t>
                </a:r>
                <a:r>
                  <a:rPr lang="ro-RO" sz="1800" b="0" i="0" u="none" strike="noStrike" baseline="0" dirty="0">
                    <a:latin typeface="SFRM1200"/>
                  </a:rPr>
                  <a:t>ț</a:t>
                </a:r>
                <a:r>
                  <a:rPr lang="en-US" sz="1800" b="0" i="0" u="none" strike="noStrike" baseline="0" dirty="0" err="1">
                    <a:latin typeface="SFRM1200"/>
                  </a:rPr>
                  <a:t>ia</a:t>
                </a:r>
                <a:r>
                  <a:rPr lang="en-US" sz="1800" b="0" i="0" u="none" strike="noStrike" baseline="0" dirty="0">
                    <a:latin typeface="SFRM1200"/>
                  </a:rPr>
                  <a:t> </a:t>
                </a:r>
                <a:r>
                  <a:rPr lang="en-US" sz="1800" b="0" i="0" u="none" strike="noStrike" baseline="0" dirty="0" err="1">
                    <a:latin typeface="SFRM1200"/>
                  </a:rPr>
                  <a:t>gradientului</a:t>
                </a:r>
                <a:r>
                  <a:rPr lang="en-US" sz="1800" b="0" i="0" u="none" strike="noStrike" baseline="0" dirty="0">
                    <a:latin typeface="SFRM1200"/>
                  </a:rPr>
                  <a:t>, care are loc </a:t>
                </a:r>
                <a:r>
                  <a:rPr lang="en-US" sz="1800" b="0" i="0" u="none" strike="noStrike" baseline="0" dirty="0" err="1">
                    <a:latin typeface="SFRM1200"/>
                  </a:rPr>
                  <a:t>atunci</a:t>
                </a:r>
                <a:r>
                  <a:rPr lang="en-US" sz="1800" b="0" i="0" u="none" strike="noStrike" baseline="0" dirty="0">
                    <a:latin typeface="SFRM1200"/>
                  </a:rPr>
                  <a:t> </a:t>
                </a:r>
                <a:r>
                  <a:rPr lang="en-US" sz="1800" b="0" i="0" u="none" strike="noStrike" baseline="0" dirty="0" err="1">
                    <a:latin typeface="SFRM1200"/>
                  </a:rPr>
                  <a:t>când</a:t>
                </a:r>
                <a:r>
                  <a:rPr lang="en-US" sz="1800" b="0" i="0" u="none" strike="noStrike" baseline="0" dirty="0">
                    <a:latin typeface="SFRM1200"/>
                  </a:rPr>
                  <a:t> </a:t>
                </a:r>
                <a:r>
                  <a:rPr lang="en-US" sz="1800" b="0" i="0" u="none" strike="noStrike" baseline="0" dirty="0">
                    <a:latin typeface="CMMI12"/>
                  </a:rPr>
                  <a:t>w</a:t>
                </a:r>
                <a:r>
                  <a:rPr lang="en-US" sz="1800" b="0" i="0" u="none" strike="noStrike" baseline="0" dirty="0">
                    <a:latin typeface="CMR8"/>
                  </a:rPr>
                  <a:t>1 </a:t>
                </a:r>
                <a:r>
                  <a:rPr lang="en-US" sz="1800" b="0" i="0" u="none" strike="noStrike" baseline="0" dirty="0" err="1">
                    <a:latin typeface="SFRM1200"/>
                  </a:rPr>
                  <a:t>este</a:t>
                </a:r>
                <a:r>
                  <a:rPr lang="en-US" sz="1800" b="0" i="0" u="none" strike="noStrike" baseline="0" dirty="0">
                    <a:latin typeface="SFRM1200"/>
                  </a:rPr>
                  <a:t> </a:t>
                </a:r>
                <a:r>
                  <a:rPr lang="en-US" sz="1800" b="0" i="0" u="none" strike="noStrike" baseline="0" dirty="0" err="1">
                    <a:latin typeface="SFRM1200"/>
                  </a:rPr>
                  <a:t>în</a:t>
                </a:r>
                <a:r>
                  <a:rPr lang="en-US" sz="1800" b="0" i="0" u="none" strike="noStrike" baseline="0" dirty="0">
                    <a:latin typeface="SFRM1200"/>
                  </a:rPr>
                  <a:t> </a:t>
                </a:r>
                <a:r>
                  <a:rPr lang="en-US" sz="1800" b="0" i="0" u="none" strike="noStrike" baseline="0" dirty="0" err="1">
                    <a:latin typeface="SFRM1200"/>
                  </a:rPr>
                  <a:t>intervalul</a:t>
                </a:r>
                <a:r>
                  <a:rPr lang="en-US" sz="1800" b="0" i="0" u="none" strike="noStrike" baseline="0" dirty="0">
                    <a:latin typeface="SFRM1200"/>
                  </a:rPr>
                  <a:t> (-1, 1).</a:t>
                </a:r>
                <a:r>
                  <a:rPr lang="ro-RO" sz="1800" b="0" i="0" u="none" strike="noStrike" baseline="0" dirty="0">
                    <a:latin typeface="SFRM1200"/>
                  </a:rPr>
                  <a:t> </a:t>
                </a:r>
                <a:r>
                  <a:rPr lang="en-US" sz="1800" b="0" i="0" u="none" strike="noStrike" baseline="0" dirty="0">
                    <a:latin typeface="SFRM1200"/>
                  </a:rPr>
                  <a:t>Din </a:t>
                </a:r>
                <a:r>
                  <a:rPr lang="en-US" sz="1800" b="0" i="0" u="none" strike="noStrike" baseline="0" dirty="0" err="1">
                    <a:latin typeface="SFRM1200"/>
                  </a:rPr>
                  <a:t>cauza</a:t>
                </a:r>
                <a:r>
                  <a:rPr lang="en-US" sz="1800" b="0" i="0" u="none" strike="noStrike" baseline="0" dirty="0">
                    <a:latin typeface="SFRM1200"/>
                  </a:rPr>
                  <a:t> </a:t>
                </a:r>
                <a:r>
                  <a:rPr lang="en-US" sz="1800" b="0" i="0" u="none" strike="noStrike" baseline="0" dirty="0" err="1">
                    <a:latin typeface="SFRM1200"/>
                  </a:rPr>
                  <a:t>înmulţirii</a:t>
                </a:r>
                <a:r>
                  <a:rPr lang="en-US" sz="1800" b="0" i="0" u="none" strike="noStrike" baseline="0" dirty="0">
                    <a:latin typeface="SFRM1200"/>
                  </a:rPr>
                  <a:t> </a:t>
                </a:r>
                <a:r>
                  <a:rPr lang="en-US" sz="1800" b="0" i="0" u="none" strike="noStrike" baseline="0" dirty="0" err="1">
                    <a:latin typeface="SFRM1200"/>
                  </a:rPr>
                  <a:t>repetate</a:t>
                </a:r>
                <a:r>
                  <a:rPr lang="en-US" sz="1800" b="0" i="0" u="none" strike="noStrike" baseline="0" dirty="0">
                    <a:latin typeface="SFRM1200"/>
                  </a:rPr>
                  <a:t> cu </a:t>
                </a:r>
                <a:r>
                  <a:rPr lang="en-US" sz="1800" b="0" i="0" u="none" strike="noStrike" baseline="0" dirty="0" err="1">
                    <a:latin typeface="SFRM1200"/>
                  </a:rPr>
                  <a:t>valori</a:t>
                </a:r>
                <a:r>
                  <a:rPr lang="en-US" sz="1800" b="0" i="0" u="none" strike="noStrike" baseline="0" dirty="0">
                    <a:latin typeface="SFRM1200"/>
                  </a:rPr>
                  <a:t> </a:t>
                </a:r>
                <a:r>
                  <a:rPr lang="en-US" sz="1800" b="0" i="0" u="none" strike="noStrike" baseline="0" dirty="0" err="1">
                    <a:latin typeface="SFRM1200"/>
                  </a:rPr>
                  <a:t>subunitare</a:t>
                </a:r>
                <a:r>
                  <a:rPr lang="en-US" sz="1800" b="0" i="0" u="none" strike="noStrike" baseline="0" dirty="0">
                    <a:latin typeface="SFRM1200"/>
                  </a:rPr>
                  <a:t>, </a:t>
                </a:r>
                <a:r>
                  <a:rPr lang="en-US" sz="1800" b="0" i="0" u="none" strike="noStrike" baseline="0" dirty="0" err="1">
                    <a:latin typeface="SFRM1200"/>
                  </a:rPr>
                  <a:t>gradientul</a:t>
                </a:r>
                <a:r>
                  <a:rPr lang="en-US" sz="1800" b="0" i="0" u="none" strike="noStrike" baseline="0" dirty="0">
                    <a:latin typeface="SFRM1200"/>
                  </a:rPr>
                  <a:t> </a:t>
                </a:r>
                <a:r>
                  <a:rPr lang="en-US" sz="1800" b="0" i="0" u="none" strike="noStrike" baseline="0" dirty="0" err="1">
                    <a:latin typeface="SFRM1200"/>
                  </a:rPr>
                  <a:t>va</a:t>
                </a:r>
                <a:r>
                  <a:rPr lang="en-US" sz="1800" b="0" i="0" u="none" strike="noStrike" baseline="0" dirty="0">
                    <a:latin typeface="SFRM1200"/>
                  </a:rPr>
                  <a:t> </a:t>
                </a:r>
                <a:r>
                  <a:rPr lang="en-US" sz="1800" b="0" i="0" u="none" strike="noStrike" baseline="0" dirty="0" err="1">
                    <a:latin typeface="SFRM1200"/>
                  </a:rPr>
                  <a:t>ajunge</a:t>
                </a:r>
                <a:r>
                  <a:rPr lang="en-US" sz="1800" b="0" i="0" u="none" strike="noStrike" baseline="0" dirty="0">
                    <a:latin typeface="SFRM1200"/>
                  </a:rPr>
                  <a:t> </a:t>
                </a:r>
                <a:r>
                  <a:rPr lang="en-US" sz="1800" b="0" i="0" u="none" strike="noStrike" baseline="0" dirty="0" err="1">
                    <a:latin typeface="SFRM1200"/>
                  </a:rPr>
                  <a:t>să</a:t>
                </a:r>
                <a:r>
                  <a:rPr lang="ro-RO" sz="1800" dirty="0">
                    <a:latin typeface="SFRM1200"/>
                  </a:rPr>
                  <a:t> </a:t>
                </a:r>
                <a:r>
                  <a:rPr lang="en-US" sz="1800" b="0" i="0" u="none" strike="noStrike" baseline="0" dirty="0">
                    <a:latin typeface="SFRM1200"/>
                  </a:rPr>
                  <a:t>fie 0.</a:t>
                </a:r>
              </a:p>
              <a:p>
                <a:pPr algn="l"/>
                <a:r>
                  <a:rPr lang="en-US" sz="1800" b="0" i="0" u="none" strike="noStrike" baseline="0" dirty="0">
                    <a:latin typeface="SFRM1200"/>
                  </a:rPr>
                  <a:t>b. </a:t>
                </a:r>
                <a:r>
                  <a:rPr lang="en-US" sz="1800" b="0" i="0" u="none" strike="noStrike" baseline="0" dirty="0" err="1">
                    <a:latin typeface="SFRM1200"/>
                  </a:rPr>
                  <a:t>Explozia</a:t>
                </a:r>
                <a:r>
                  <a:rPr lang="en-US" sz="1800" b="0" i="0" u="none" strike="noStrike" baseline="0" dirty="0">
                    <a:latin typeface="SFRM1200"/>
                  </a:rPr>
                  <a:t> </a:t>
                </a:r>
                <a:r>
                  <a:rPr lang="en-US" sz="1800" b="0" i="0" u="none" strike="noStrike" baseline="0" dirty="0" err="1">
                    <a:latin typeface="SFRM1200"/>
                  </a:rPr>
                  <a:t>gradientului</a:t>
                </a:r>
                <a:r>
                  <a:rPr lang="en-US" sz="1800" b="0" i="0" u="none" strike="noStrike" baseline="0" dirty="0">
                    <a:latin typeface="SFRM1200"/>
                  </a:rPr>
                  <a:t>, care are loc </a:t>
                </a:r>
                <a:r>
                  <a:rPr lang="en-US" sz="1800" b="0" i="0" u="none" strike="noStrike" baseline="0" dirty="0" err="1">
                    <a:latin typeface="SFRM1200"/>
                  </a:rPr>
                  <a:t>atunci</a:t>
                </a:r>
                <a:r>
                  <a:rPr lang="en-US" sz="1800" b="0" i="0" u="none" strike="noStrike" baseline="0" dirty="0">
                    <a:latin typeface="SFRM1200"/>
                  </a:rPr>
                  <a:t> </a:t>
                </a:r>
                <a:r>
                  <a:rPr lang="en-US" sz="1800" b="0" i="0" u="none" strike="noStrike" baseline="0" dirty="0" err="1">
                    <a:latin typeface="SFRM1200"/>
                  </a:rPr>
                  <a:t>când</a:t>
                </a:r>
                <a:r>
                  <a:rPr lang="en-US" sz="1800" b="0" i="0" u="none" strike="noStrike" baseline="0" dirty="0">
                    <a:latin typeface="SFRM1200"/>
                  </a:rPr>
                  <a:t> </a:t>
                </a:r>
                <a:r>
                  <a:rPr lang="en-US" sz="1800" b="0" i="0" u="none" strike="noStrike" baseline="0" dirty="0">
                    <a:latin typeface="CMMI12"/>
                  </a:rPr>
                  <a:t>w</a:t>
                </a:r>
                <a:r>
                  <a:rPr lang="en-US" sz="1800" b="0" i="0" u="none" strike="noStrike" baseline="0" dirty="0">
                    <a:latin typeface="CMR8"/>
                  </a:rPr>
                  <a:t>1 </a:t>
                </a:r>
                <a:r>
                  <a:rPr lang="en-US" sz="1800" b="0" i="0" u="none" strike="noStrike" baseline="0" dirty="0" err="1">
                    <a:latin typeface="SFRM1200"/>
                  </a:rPr>
                  <a:t>este</a:t>
                </a:r>
                <a:r>
                  <a:rPr lang="en-US" sz="1800" b="0" i="0" u="none" strike="noStrike" baseline="0" dirty="0">
                    <a:latin typeface="SFRM1200"/>
                  </a:rPr>
                  <a:t> </a:t>
                </a:r>
                <a:r>
                  <a:rPr lang="en-US" sz="1800" b="0" i="0" u="none" strike="noStrike" baseline="0" dirty="0" err="1">
                    <a:latin typeface="SFRM1200"/>
                  </a:rPr>
                  <a:t>în</a:t>
                </a:r>
                <a:r>
                  <a:rPr lang="en-US" sz="1800" b="0" i="0" u="none" strike="noStrike" baseline="0" dirty="0">
                    <a:latin typeface="SFRM1200"/>
                  </a:rPr>
                  <a:t> afara </a:t>
                </a:r>
                <a:r>
                  <a:rPr lang="en-US" sz="1800" b="0" i="0" u="none" strike="noStrike" baseline="0" dirty="0" err="1">
                    <a:latin typeface="SFRM1200"/>
                  </a:rPr>
                  <a:t>intervalului</a:t>
                </a:r>
                <a:r>
                  <a:rPr lang="ro-RO" sz="1800" dirty="0">
                    <a:latin typeface="SFRM1200"/>
                  </a:rPr>
                  <a:t> </a:t>
                </a:r>
                <a:r>
                  <a:rPr lang="en-US" sz="1800" b="0" i="0" u="none" strike="noStrike" baseline="0" dirty="0">
                    <a:latin typeface="SFRM1200"/>
                  </a:rPr>
                  <a:t>(-1, 1). Din </a:t>
                </a:r>
                <a:r>
                  <a:rPr lang="en-US" sz="1800" b="0" i="0" u="none" strike="noStrike" baseline="0" dirty="0" err="1">
                    <a:latin typeface="SFRM1200"/>
                  </a:rPr>
                  <a:t>cauza</a:t>
                </a:r>
                <a:r>
                  <a:rPr lang="en-US" sz="1800" b="0" i="0" u="none" strike="noStrike" baseline="0" dirty="0">
                    <a:latin typeface="SFRM1200"/>
                  </a:rPr>
                  <a:t> </a:t>
                </a:r>
                <a:r>
                  <a:rPr lang="en-US" sz="1800" b="0" i="0" u="none" strike="noStrike" baseline="0" dirty="0" err="1">
                    <a:latin typeface="SFRM1200"/>
                  </a:rPr>
                  <a:t>înmulţirii</a:t>
                </a:r>
                <a:r>
                  <a:rPr lang="en-US" sz="1800" b="0" i="0" u="none" strike="noStrike" baseline="0" dirty="0">
                    <a:latin typeface="SFRM1200"/>
                  </a:rPr>
                  <a:t> </a:t>
                </a:r>
                <a:r>
                  <a:rPr lang="en-US" sz="1800" b="0" i="0" u="none" strike="noStrike" baseline="0" dirty="0" err="1">
                    <a:latin typeface="SFRM1200"/>
                  </a:rPr>
                  <a:t>repetate</a:t>
                </a:r>
                <a:r>
                  <a:rPr lang="en-US" sz="1800" b="0" i="0" u="none" strike="noStrike" baseline="0" dirty="0">
                    <a:latin typeface="SFRM1200"/>
                  </a:rPr>
                  <a:t> cu </a:t>
                </a:r>
                <a:r>
                  <a:rPr lang="en-US" sz="1800" b="0" i="0" u="none" strike="noStrike" baseline="0" dirty="0" err="1">
                    <a:latin typeface="SFRM1200"/>
                  </a:rPr>
                  <a:t>valori</a:t>
                </a:r>
                <a:r>
                  <a:rPr lang="en-US" sz="1800" b="0" i="0" u="none" strike="noStrike" baseline="0" dirty="0">
                    <a:latin typeface="SFRM1200"/>
                  </a:rPr>
                  <a:t> </a:t>
                </a:r>
                <a:r>
                  <a:rPr lang="en-US" sz="1800" b="0" i="0" u="none" strike="noStrike" baseline="0" dirty="0" err="1">
                    <a:latin typeface="SFRM1200"/>
                  </a:rPr>
                  <a:t>supraunitare</a:t>
                </a:r>
                <a:r>
                  <a:rPr lang="en-US" sz="1800" b="0" i="0" u="none" strike="noStrike" baseline="0" dirty="0">
                    <a:latin typeface="SFRM1200"/>
                  </a:rPr>
                  <a:t>, </a:t>
                </a:r>
                <a:r>
                  <a:rPr lang="en-US" sz="1800" b="0" i="0" u="none" strike="noStrike" baseline="0" dirty="0" err="1">
                    <a:latin typeface="SFRM1200"/>
                  </a:rPr>
                  <a:t>gradientul</a:t>
                </a:r>
                <a:r>
                  <a:rPr lang="ro-RO" sz="1800" b="0" i="0" u="none" strike="noStrike" baseline="0" dirty="0">
                    <a:latin typeface="SFRM1200"/>
                  </a:rPr>
                  <a:t> </a:t>
                </a:r>
                <a:r>
                  <a:rPr lang="en-US" sz="1800" b="0" i="0" u="none" strike="noStrike" baseline="0" dirty="0" err="1">
                    <a:latin typeface="SFRM1200"/>
                  </a:rPr>
                  <a:t>cre</a:t>
                </a:r>
                <a:r>
                  <a:rPr lang="ro-RO" sz="1800" b="0" i="0" u="none" strike="noStrike" baseline="0" dirty="0">
                    <a:latin typeface="SFRM1200"/>
                  </a:rPr>
                  <a:t>ș</a:t>
                </a:r>
                <a:r>
                  <a:rPr lang="en-US" sz="1800" b="0" i="0" u="none" strike="noStrike" baseline="0" dirty="0" err="1">
                    <a:latin typeface="SFRM1200"/>
                  </a:rPr>
                  <a:t>te</a:t>
                </a:r>
                <a:r>
                  <a:rPr lang="en-US" sz="1800" b="0" i="0" u="none" strike="noStrike" baseline="0" dirty="0">
                    <a:latin typeface="SFRM1200"/>
                  </a:rPr>
                  <a:t> </a:t>
                </a:r>
                <a:r>
                  <a:rPr lang="en-US" sz="1800" b="0" i="0" u="none" strike="noStrike" baseline="0" dirty="0" err="1">
                    <a:latin typeface="SFRM1200"/>
                  </a:rPr>
                  <a:t>exponen</a:t>
                </a:r>
                <a:r>
                  <a:rPr lang="ro-RO" sz="1800" b="0" i="0" u="none" strike="noStrike" baseline="0" dirty="0">
                    <a:latin typeface="SFRM1200"/>
                  </a:rPr>
                  <a:t>ț</a:t>
                </a:r>
                <a:r>
                  <a:rPr lang="en-US" sz="1800" b="0" i="0" u="none" strike="noStrike" baseline="0" dirty="0" err="1">
                    <a:latin typeface="SFRM1200"/>
                  </a:rPr>
                  <a:t>ial</a:t>
                </a:r>
                <a:r>
                  <a:rPr lang="en-US" sz="1800" b="0" i="0" u="none" strike="noStrike" baseline="0" dirty="0">
                    <a:latin typeface="SFRM1200"/>
                  </a:rPr>
                  <a:t>, </a:t>
                </a:r>
                <a:r>
                  <a:rPr lang="en-US" sz="1800" b="0" i="0" u="none" strike="noStrike" baseline="0" dirty="0" err="1">
                    <a:latin typeface="SFRM1200"/>
                  </a:rPr>
                  <a:t>iar</a:t>
                </a:r>
                <a:r>
                  <a:rPr lang="en-US" sz="1800" b="0" i="0" u="none" strike="noStrike" baseline="0" dirty="0">
                    <a:latin typeface="SFRM1200"/>
                  </a:rPr>
                  <a:t> la back-</a:t>
                </a:r>
                <a:r>
                  <a:rPr lang="en-US" sz="1800" b="0" i="0" u="none" strike="noStrike" baseline="0" dirty="0" err="1">
                    <a:latin typeface="SFRM1200"/>
                  </a:rPr>
                  <a:t>propagare</a:t>
                </a:r>
                <a:r>
                  <a:rPr lang="en-US" sz="1800" b="0" i="0" u="none" strike="noStrike" baseline="0" dirty="0">
                    <a:latin typeface="SFRM1200"/>
                  </a:rPr>
                  <a:t> se fac </a:t>
                </a:r>
                <a:r>
                  <a:rPr lang="en-US" sz="1800" b="0" i="0" u="none" strike="noStrike" baseline="0" dirty="0" err="1">
                    <a:latin typeface="SFRM1200"/>
                  </a:rPr>
                  <a:t>schimbări</a:t>
                </a:r>
                <a:r>
                  <a:rPr lang="en-US" sz="1800" b="0" i="0" u="none" strike="noStrike" baseline="0" dirty="0">
                    <a:latin typeface="SFRM1200"/>
                  </a:rPr>
                  <a:t> </a:t>
                </a:r>
                <a:r>
                  <a:rPr lang="en-US" sz="1800" b="0" i="0" u="none" strike="noStrike" baseline="0" dirty="0" err="1">
                    <a:latin typeface="SFRM1200"/>
                  </a:rPr>
                  <a:t>foarte</a:t>
                </a:r>
                <a:r>
                  <a:rPr lang="en-US" sz="1800" b="0" i="0" u="none" strike="noStrike" baseline="0" dirty="0">
                    <a:latin typeface="SFRM1200"/>
                  </a:rPr>
                  <a:t> </a:t>
                </a:r>
                <a:r>
                  <a:rPr lang="en-US" sz="1800" b="0" i="0" u="none" strike="noStrike" baseline="0" dirty="0" err="1">
                    <a:latin typeface="SFRM1200"/>
                  </a:rPr>
                  <a:t>mari</a:t>
                </a:r>
                <a:r>
                  <a:rPr lang="en-US" sz="1800" b="0" i="0" u="none" strike="noStrike" baseline="0" dirty="0">
                    <a:latin typeface="SFRM1200"/>
                  </a:rPr>
                  <a:t> care</a:t>
                </a:r>
                <a:r>
                  <a:rPr lang="ro-RO" sz="1800" b="0" i="0" u="none" strike="noStrike" baseline="0" dirty="0">
                    <a:latin typeface="SFRM1200"/>
                  </a:rPr>
                  <a:t> </a:t>
                </a:r>
                <a:r>
                  <a:rPr lang="en-US" sz="1800" b="0" i="0" u="none" strike="noStrike" baseline="0" dirty="0">
                    <a:latin typeface="SFRM1200"/>
                  </a:rPr>
                  <a:t>fac </a:t>
                </a:r>
                <a:r>
                  <a:rPr lang="en-US" sz="1800" b="0" i="0" u="none" strike="noStrike" baseline="0" dirty="0" err="1">
                    <a:latin typeface="SFRM1200"/>
                  </a:rPr>
                  <a:t>imposibilă</a:t>
                </a:r>
                <a:r>
                  <a:rPr lang="en-US" sz="1800" b="0" i="0" u="none" strike="noStrike" baseline="0" dirty="0">
                    <a:latin typeface="SFRM1200"/>
                  </a:rPr>
                  <a:t> </a:t>
                </a:r>
                <a:r>
                  <a:rPr lang="en-US" sz="1800" b="0" i="0" u="none" strike="noStrike" baseline="0" dirty="0" err="1">
                    <a:latin typeface="SFRM1200"/>
                  </a:rPr>
                  <a:t>convergen</a:t>
                </a:r>
                <a:r>
                  <a:rPr lang="ro-RO" sz="1800" b="0" i="0" u="none" strike="noStrike" baseline="0" dirty="0">
                    <a:latin typeface="SFRM1200"/>
                  </a:rPr>
                  <a:t>ț</a:t>
                </a:r>
                <a:r>
                  <a:rPr lang="en-US" sz="1800" b="0" i="0" u="none" strike="noStrike" baseline="0" dirty="0">
                    <a:latin typeface="SFRM1200"/>
                  </a:rPr>
                  <a:t>a </a:t>
                </a:r>
                <a:r>
                  <a:rPr lang="en-US" sz="1800" b="0" i="0" u="none" strike="noStrike" baseline="0" dirty="0" err="1">
                    <a:latin typeface="SFRM1200"/>
                  </a:rPr>
                  <a:t>modelului</a:t>
                </a:r>
                <a:r>
                  <a:rPr lang="en-US" sz="1800" b="0" i="0" u="none" strike="noStrike" baseline="0" dirty="0">
                    <a:latin typeface="SFRM1200"/>
                  </a:rPr>
                  <a:t>.</a:t>
                </a:r>
                <a:endParaRPr lang="ro-RO" sz="1800" b="0" i="0" u="none" strike="noStrike" baseline="0" dirty="0">
                  <a:latin typeface="SFRM1200"/>
                </a:endParaRPr>
              </a:p>
              <a:p>
                <a:pPr algn="l"/>
                <a:r>
                  <a:rPr lang="ro-RO" sz="1800" dirty="0">
                    <a:latin typeface="SFRM1200"/>
                  </a:rPr>
                  <a:t>Problema apare atunci </a:t>
                </a:r>
                <a:r>
                  <a:rPr lang="ro-RO" sz="1800" dirty="0" err="1">
                    <a:latin typeface="SFRM1200"/>
                  </a:rPr>
                  <a:t>cand</a:t>
                </a:r>
                <a:r>
                  <a:rPr lang="ro-RO" sz="1800" dirty="0">
                    <a:latin typeface="SFRM1200"/>
                  </a:rPr>
                  <a:t> </a:t>
                </a:r>
                <a14:m>
                  <m:oMath xmlns:m="http://schemas.openxmlformats.org/officeDocument/2006/math">
                    <m:f>
                      <m:fPr>
                        <m:ctrlPr>
                          <a:rPr lang="ro-RO" sz="2400" i="1" smtClean="0">
                            <a:latin typeface="Cambria Math" panose="02040503050406030204" pitchFamily="18" charset="0"/>
                          </a:rPr>
                        </m:ctrlPr>
                      </m:fPr>
                      <m:num>
                        <m:r>
                          <a:rPr lang="ro-RO" sz="2400" i="1" smtClean="0">
                            <a:latin typeface="Cambria Math" panose="02040503050406030204" pitchFamily="18" charset="0"/>
                          </a:rPr>
                          <m:t>𝜕</m:t>
                        </m:r>
                        <m:r>
                          <a:rPr lang="en-US" sz="2400" b="0" i="1" smtClean="0">
                            <a:latin typeface="Cambria Math" panose="02040503050406030204" pitchFamily="18" charset="0"/>
                          </a:rPr>
                          <m:t>𝑋𝑖</m:t>
                        </m:r>
                      </m:num>
                      <m:den>
                        <m:r>
                          <a:rPr lang="ro-RO" sz="2400" i="1" smtClean="0">
                            <a:latin typeface="Cambria Math" panose="02040503050406030204" pitchFamily="18" charset="0"/>
                          </a:rPr>
                          <m:t>𝜕</m:t>
                        </m:r>
                        <m:r>
                          <a:rPr lang="en-US" sz="2400" b="0" i="1" smtClean="0">
                            <a:latin typeface="Cambria Math" panose="02040503050406030204" pitchFamily="18" charset="0"/>
                          </a:rPr>
                          <m:t>𝑋𝑖</m:t>
                        </m:r>
                        <m:r>
                          <a:rPr lang="en-US" sz="2400" b="0" i="1" smtClean="0">
                            <a:latin typeface="Cambria Math" panose="02040503050406030204" pitchFamily="18" charset="0"/>
                          </a:rPr>
                          <m:t>−1</m:t>
                        </m:r>
                      </m:den>
                    </m:f>
                  </m:oMath>
                </a14:m>
                <a:r>
                  <a:rPr lang="en-US" sz="2400" dirty="0"/>
                  <a:t> &lt;1   </a:t>
                </a:r>
                <a14:m>
                  <m:oMath xmlns:m="http://schemas.openxmlformats.org/officeDocument/2006/math">
                    <m:r>
                      <a:rPr lang="en-US" sz="2400" b="0" i="1" smtClean="0">
                        <a:latin typeface="Cambria Math" panose="02040503050406030204" pitchFamily="18" charset="0"/>
                      </a:rPr>
                      <m:t>⇒ </m:t>
                    </m:r>
                  </m:oMath>
                </a14:m>
                <a:r>
                  <a:rPr lang="en-US" sz="2400" dirty="0"/>
                  <a:t>Vanishing</a:t>
                </a:r>
              </a:p>
              <a:p>
                <a:pPr algn="l"/>
                <a:r>
                  <a:rPr lang="en-US" sz="1800" dirty="0"/>
                  <a:t>Sau cand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𝑋𝑖</m:t>
                        </m:r>
                      </m:num>
                      <m:den>
                        <m:r>
                          <a:rPr lang="en-US" sz="2400" b="0" i="1" smtClean="0">
                            <a:latin typeface="Cambria Math" panose="02040503050406030204" pitchFamily="18" charset="0"/>
                          </a:rPr>
                          <m:t>𝜕</m:t>
                        </m:r>
                        <m:r>
                          <a:rPr lang="en-US" sz="2400" b="0" i="1" smtClean="0">
                            <a:latin typeface="Cambria Math" panose="02040503050406030204" pitchFamily="18" charset="0"/>
                          </a:rPr>
                          <m:t>𝑋𝑖</m:t>
                        </m:r>
                        <m:r>
                          <a:rPr lang="en-US" sz="2400" b="0" i="1" smtClean="0">
                            <a:latin typeface="Cambria Math" panose="02040503050406030204" pitchFamily="18" charset="0"/>
                          </a:rPr>
                          <m:t>−1</m:t>
                        </m:r>
                      </m:den>
                    </m:f>
                    <m:r>
                      <a:rPr lang="en-US" sz="2400" b="0" i="1" smtClean="0">
                        <a:latin typeface="Cambria Math" panose="02040503050406030204" pitchFamily="18" charset="0"/>
                      </a:rPr>
                      <m:t>&gt;1⇒</m:t>
                    </m:r>
                    <m:r>
                      <a:rPr lang="en-US" sz="2400" b="0" i="1" smtClean="0">
                        <a:latin typeface="Cambria Math" panose="02040503050406030204" pitchFamily="18" charset="0"/>
                      </a:rPr>
                      <m:t>𝐸𝑥𝑝𝑙𝑜𝑑𝑖𝑛𝑔</m:t>
                    </m:r>
                  </m:oMath>
                </a14:m>
                <a:endParaRPr lang="en-US" sz="2400" dirty="0"/>
              </a:p>
            </p:txBody>
          </p:sp>
        </mc:Choice>
        <mc:Fallback>
          <p:sp>
            <p:nvSpPr>
              <p:cNvPr id="4" name="Text Placeholder 3">
                <a:extLst>
                  <a:ext uri="{FF2B5EF4-FFF2-40B4-BE49-F238E27FC236}">
                    <a16:creationId xmlns:a16="http://schemas.microsoft.com/office/drawing/2014/main" id="{F4AB566F-80FE-4244-BD69-CB0F2612C4B4}"/>
                  </a:ext>
                </a:extLst>
              </p:cNvPr>
              <p:cNvSpPr>
                <a:spLocks noGrp="1" noRot="1" noChangeAspect="1" noMove="1" noResize="1" noEditPoints="1" noAdjustHandles="1" noChangeArrowheads="1" noChangeShapeType="1" noTextEdit="1"/>
              </p:cNvSpPr>
              <p:nvPr>
                <p:ph type="body" sz="half" idx="2"/>
              </p:nvPr>
            </p:nvSpPr>
            <p:spPr>
              <a:xfrm>
                <a:off x="162046" y="1203767"/>
                <a:ext cx="6300016" cy="5466908"/>
              </a:xfrm>
              <a:blipFill>
                <a:blip r:embed="rId3"/>
                <a:stretch>
                  <a:fillRect l="-871" t="-1003" r="-194"/>
                </a:stretch>
              </a:blipFill>
            </p:spPr>
            <p:txBody>
              <a:bodyPr/>
              <a:lstStyle/>
              <a:p>
                <a:r>
                  <a:rPr lang="en-US">
                    <a:noFill/>
                  </a:rPr>
                  <a:t> </a:t>
                </a:r>
              </a:p>
            </p:txBody>
          </p:sp>
        </mc:Fallback>
      </mc:AlternateContent>
    </p:spTree>
    <p:extLst>
      <p:ext uri="{BB962C8B-B14F-4D97-AF65-F5344CB8AC3E}">
        <p14:creationId xmlns:p14="http://schemas.microsoft.com/office/powerpoint/2010/main" val="357283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2FEE-A708-4735-AF7F-F7D4591004F4}"/>
              </a:ext>
            </a:extLst>
          </p:cNvPr>
          <p:cNvSpPr>
            <a:spLocks noGrp="1"/>
          </p:cNvSpPr>
          <p:nvPr>
            <p:ph type="title"/>
          </p:nvPr>
        </p:nvSpPr>
        <p:spPr/>
        <p:txBody>
          <a:bodyPr/>
          <a:lstStyle/>
          <a:p>
            <a:r>
              <a:rPr lang="en-US" dirty="0"/>
              <a:t>LSTM(Long Short-Term-Memory) networks</a:t>
            </a:r>
          </a:p>
        </p:txBody>
      </p:sp>
      <p:sp>
        <p:nvSpPr>
          <p:cNvPr id="3" name="Content Placeholder 2">
            <a:extLst>
              <a:ext uri="{FF2B5EF4-FFF2-40B4-BE49-F238E27FC236}">
                <a16:creationId xmlns:a16="http://schemas.microsoft.com/office/drawing/2014/main" id="{83546C92-4BD3-4F24-8FA8-E74809788802}"/>
              </a:ext>
            </a:extLst>
          </p:cNvPr>
          <p:cNvSpPr>
            <a:spLocks noGrp="1"/>
          </p:cNvSpPr>
          <p:nvPr>
            <p:ph idx="1"/>
          </p:nvPr>
        </p:nvSpPr>
        <p:spPr/>
        <p:txBody>
          <a:bodyPr/>
          <a:lstStyle/>
          <a:p>
            <a:pPr marL="0" indent="0">
              <a:buNone/>
            </a:pPr>
            <a:r>
              <a:rPr lang="ro-RO" dirty="0"/>
              <a:t>    După cum am menționat anterior, rețelele neuronale nu reușesc să țină în memorie prea multe eșantioane din cauza problemei gradientului. Această  problemă  nu există însă și la rețelele neuronale LSTM care folosesc două tipuri de memorie</a:t>
            </a:r>
            <a:r>
              <a:rPr lang="en-US" dirty="0"/>
              <a:t>:</a:t>
            </a:r>
          </a:p>
          <a:p>
            <a:pPr algn="l"/>
            <a:r>
              <a:rPr lang="en-US" b="0" i="0" u="none" strike="noStrike" baseline="0" dirty="0">
                <a:latin typeface="SFRM1200"/>
              </a:rPr>
              <a:t>a. Memoria pe termen </a:t>
            </a:r>
            <a:r>
              <a:rPr lang="en-US" b="0" i="0" u="none" strike="noStrike" baseline="0" dirty="0" err="1">
                <a:latin typeface="SFRM1200"/>
              </a:rPr>
              <a:t>scurt</a:t>
            </a:r>
            <a:r>
              <a:rPr lang="en-US" b="0" i="0" u="none" strike="noStrike" baseline="0" dirty="0">
                <a:latin typeface="SFRM1200"/>
              </a:rPr>
              <a:t> (Short-Term) – </a:t>
            </a:r>
            <a:r>
              <a:rPr lang="en-US" b="0" i="0" u="none" strike="noStrike" baseline="0" dirty="0" err="1">
                <a:latin typeface="SFRM1200"/>
              </a:rPr>
              <a:t>aceea</a:t>
            </a:r>
            <a:r>
              <a:rPr lang="ro-RO" b="0" i="0" u="none" strike="noStrike" baseline="0" dirty="0">
                <a:latin typeface="SFRM1200"/>
              </a:rPr>
              <a:t>ș</a:t>
            </a:r>
            <a:r>
              <a:rPr lang="en-US" b="0" i="0" u="none" strike="noStrike" baseline="0" dirty="0" err="1">
                <a:latin typeface="SFRM1200"/>
              </a:rPr>
              <a:t>i</a:t>
            </a:r>
            <a:r>
              <a:rPr lang="en-US" b="0" i="0" u="none" strike="noStrike" baseline="0" dirty="0">
                <a:latin typeface="SFRM1200"/>
              </a:rPr>
              <a:t> cu </a:t>
            </a:r>
            <a:r>
              <a:rPr lang="en-US" b="0" i="0" u="none" strike="noStrike" baseline="0" dirty="0" err="1">
                <a:latin typeface="SFRM1200"/>
              </a:rPr>
              <a:t>cea</a:t>
            </a:r>
            <a:r>
              <a:rPr lang="en-US" b="0" i="0" u="none" strike="noStrike" baseline="0" dirty="0">
                <a:latin typeface="SFRM1200"/>
              </a:rPr>
              <a:t> din RNN</a:t>
            </a:r>
          </a:p>
          <a:p>
            <a:pPr algn="l"/>
            <a:r>
              <a:rPr lang="en-US" b="0" i="0" u="none" strike="noStrike" baseline="0" dirty="0">
                <a:latin typeface="SFRM1200"/>
              </a:rPr>
              <a:t>b. Memoria pe termen lung (Long-Term) - </a:t>
            </a:r>
            <a:r>
              <a:rPr lang="en-US" b="0" i="0" u="none" strike="noStrike" baseline="0" dirty="0" err="1">
                <a:latin typeface="SFRM1200"/>
              </a:rPr>
              <a:t>poate</a:t>
            </a:r>
            <a:r>
              <a:rPr lang="en-US" b="0" i="0" u="none" strike="noStrike" baseline="0" dirty="0">
                <a:latin typeface="SFRM1200"/>
              </a:rPr>
              <a:t> re</a:t>
            </a:r>
            <a:r>
              <a:rPr lang="ro-RO" b="0" i="0" u="none" strike="noStrike" baseline="0" dirty="0">
                <a:latin typeface="SFRM1200"/>
              </a:rPr>
              <a:t>ț</a:t>
            </a:r>
            <a:r>
              <a:rPr lang="en-US" b="0" i="0" u="none" strike="noStrike" baseline="0" dirty="0" err="1">
                <a:latin typeface="SFRM1200"/>
              </a:rPr>
              <a:t>ine</a:t>
            </a:r>
            <a:r>
              <a:rPr lang="en-US" b="0" i="0" u="none" strike="noStrike" baseline="0" dirty="0">
                <a:latin typeface="SFRM1200"/>
              </a:rPr>
              <a:t> </a:t>
            </a:r>
            <a:r>
              <a:rPr lang="en-US" b="0" i="0" u="none" strike="noStrike" baseline="0" dirty="0" err="1">
                <a:latin typeface="SFRM1200"/>
              </a:rPr>
              <a:t>informa</a:t>
            </a:r>
            <a:r>
              <a:rPr lang="ro-RO" b="0" i="0" u="none" strike="noStrike" baseline="0" dirty="0">
                <a:latin typeface="SFRM1200"/>
              </a:rPr>
              <a:t>ț</a:t>
            </a:r>
            <a:r>
              <a:rPr lang="en-US" b="0" i="0" u="none" strike="noStrike" baseline="0" dirty="0">
                <a:latin typeface="SFRM1200"/>
              </a:rPr>
              <a:t>ii pe termen</a:t>
            </a:r>
            <a:r>
              <a:rPr lang="ro-RO" b="0" i="0" u="none" strike="noStrike" baseline="0" dirty="0">
                <a:latin typeface="SFRM1200"/>
              </a:rPr>
              <a:t> </a:t>
            </a:r>
            <a:r>
              <a:rPr lang="en-US" b="0" i="0" u="none" strike="noStrike" baseline="0" dirty="0">
                <a:latin typeface="SFRM1200"/>
              </a:rPr>
              <a:t>lung pe care RNN-ul nu le </a:t>
            </a:r>
            <a:r>
              <a:rPr lang="en-US" b="0" i="0" u="none" strike="noStrike" baseline="0" dirty="0" err="1">
                <a:latin typeface="SFRM1200"/>
              </a:rPr>
              <a:t>putea</a:t>
            </a:r>
            <a:r>
              <a:rPr lang="en-US" b="0" i="0" u="none" strike="noStrike" baseline="0" dirty="0">
                <a:latin typeface="SFRM1200"/>
              </a:rPr>
              <a:t> re</a:t>
            </a:r>
            <a:r>
              <a:rPr lang="ro-RO" b="0" i="0" u="none" strike="noStrike" baseline="0" dirty="0">
                <a:latin typeface="SFRM1200"/>
              </a:rPr>
              <a:t>ț</a:t>
            </a:r>
            <a:r>
              <a:rPr lang="en-US" b="0" i="0" u="none" strike="noStrike" baseline="0" dirty="0" err="1">
                <a:latin typeface="SFRM1200"/>
              </a:rPr>
              <a:t>ine</a:t>
            </a:r>
            <a:endParaRPr lang="en-US" b="0" i="0" u="none" strike="noStrike" baseline="0" dirty="0">
              <a:latin typeface="SFRM1200"/>
            </a:endParaRPr>
          </a:p>
          <a:p>
            <a:pPr marL="0" indent="0" algn="l">
              <a:buNone/>
            </a:pPr>
            <a:r>
              <a:rPr lang="en-US" b="0" i="0" u="none" strike="noStrike" baseline="0" dirty="0">
                <a:latin typeface="SFRM1200"/>
              </a:rPr>
              <a:t>Mai </a:t>
            </a:r>
            <a:r>
              <a:rPr lang="en-US" b="0" i="0" u="none" strike="noStrike" baseline="0" dirty="0" err="1">
                <a:latin typeface="SFRM1200"/>
              </a:rPr>
              <a:t>jos</a:t>
            </a:r>
            <a:r>
              <a:rPr lang="en-US" b="0" i="0" u="none" strike="noStrike" baseline="0" dirty="0">
                <a:latin typeface="SFRM1200"/>
              </a:rPr>
              <a:t> </a:t>
            </a:r>
            <a:r>
              <a:rPr lang="en-US" b="0" i="0" u="none" strike="noStrike" baseline="0" dirty="0" err="1">
                <a:latin typeface="SFRM1200"/>
              </a:rPr>
              <a:t>avem</a:t>
            </a:r>
            <a:r>
              <a:rPr lang="en-US" b="0" i="0" u="none" strike="noStrike" baseline="0" dirty="0">
                <a:latin typeface="SFRM1200"/>
              </a:rPr>
              <a:t> schema </a:t>
            </a:r>
            <a:r>
              <a:rPr lang="en-US" b="0" i="0" u="none" strike="noStrike" baseline="0" dirty="0" err="1">
                <a:latin typeface="SFRM1200"/>
              </a:rPr>
              <a:t>unei</a:t>
            </a:r>
            <a:r>
              <a:rPr lang="en-US" b="0" i="0" u="none" strike="noStrike" baseline="0" dirty="0">
                <a:latin typeface="SFRM1200"/>
              </a:rPr>
              <a:t> re</a:t>
            </a:r>
            <a:r>
              <a:rPr lang="ro-RO" b="0" i="0" u="none" strike="noStrike" baseline="0" dirty="0">
                <a:latin typeface="SFRM1200"/>
              </a:rPr>
              <a:t>ț</a:t>
            </a:r>
            <a:r>
              <a:rPr lang="en-US" b="0" i="0" u="none" strike="noStrike" baseline="0" dirty="0" err="1">
                <a:latin typeface="SFRM1200"/>
              </a:rPr>
              <a:t>ele</a:t>
            </a:r>
            <a:r>
              <a:rPr lang="en-US" b="0" i="0" u="none" strike="noStrike" baseline="0" dirty="0">
                <a:latin typeface="SFRM1200"/>
              </a:rPr>
              <a:t> </a:t>
            </a:r>
            <a:r>
              <a:rPr lang="en-US" b="0" i="0" u="none" strike="noStrike" baseline="0" dirty="0" err="1">
                <a:latin typeface="SFRM1200"/>
              </a:rPr>
              <a:t>neuronale</a:t>
            </a:r>
            <a:r>
              <a:rPr lang="en-US" b="0" i="0" u="none" strike="noStrike" baseline="0" dirty="0">
                <a:latin typeface="SFRM1200"/>
              </a:rPr>
              <a:t> LSTM:</a:t>
            </a:r>
            <a:endParaRPr lang="en-US" dirty="0"/>
          </a:p>
        </p:txBody>
      </p:sp>
    </p:spTree>
    <p:extLst>
      <p:ext uri="{BB962C8B-B14F-4D97-AF65-F5344CB8AC3E}">
        <p14:creationId xmlns:p14="http://schemas.microsoft.com/office/powerpoint/2010/main" val="1605974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CE6729A-667D-4609-A080-66F6E0202F33}"/>
              </a:ext>
            </a:extLst>
          </p:cNvPr>
          <p:cNvPicPr>
            <a:picLocks noGrp="1" noChangeAspect="1"/>
          </p:cNvPicPr>
          <p:nvPr>
            <p:ph idx="1"/>
          </p:nvPr>
        </p:nvPicPr>
        <p:blipFill>
          <a:blip r:embed="rId2"/>
          <a:stretch>
            <a:fillRect/>
          </a:stretch>
        </p:blipFill>
        <p:spPr>
          <a:xfrm>
            <a:off x="1701479" y="2338087"/>
            <a:ext cx="9178724" cy="3240911"/>
          </a:xfrm>
        </p:spPr>
      </p:pic>
    </p:spTree>
    <p:extLst>
      <p:ext uri="{BB962C8B-B14F-4D97-AF65-F5344CB8AC3E}">
        <p14:creationId xmlns:p14="http://schemas.microsoft.com/office/powerpoint/2010/main" val="199124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5254EA8-571F-48F9-B115-587C1EA50AC2}"/>
              </a:ext>
            </a:extLst>
          </p:cNvPr>
          <p:cNvPicPr>
            <a:picLocks noGrp="1" noChangeAspect="1"/>
          </p:cNvPicPr>
          <p:nvPr>
            <p:ph idx="1"/>
          </p:nvPr>
        </p:nvPicPr>
        <p:blipFill>
          <a:blip r:embed="rId2"/>
          <a:stretch>
            <a:fillRect/>
          </a:stretch>
        </p:blipFill>
        <p:spPr>
          <a:xfrm>
            <a:off x="5520422" y="0"/>
            <a:ext cx="6030167" cy="2619741"/>
          </a:xfrm>
        </p:spPr>
      </p:pic>
      <p:sp>
        <p:nvSpPr>
          <p:cNvPr id="4" name="Text Placeholder 3">
            <a:extLst>
              <a:ext uri="{FF2B5EF4-FFF2-40B4-BE49-F238E27FC236}">
                <a16:creationId xmlns:a16="http://schemas.microsoft.com/office/drawing/2014/main" id="{DA00F299-5E44-4A58-82E6-A2A76A703D35}"/>
              </a:ext>
            </a:extLst>
          </p:cNvPr>
          <p:cNvSpPr>
            <a:spLocks noGrp="1"/>
          </p:cNvSpPr>
          <p:nvPr>
            <p:ph type="body" sz="half" idx="2"/>
          </p:nvPr>
        </p:nvSpPr>
        <p:spPr>
          <a:xfrm>
            <a:off x="208344" y="544010"/>
            <a:ext cx="4563681" cy="5787342"/>
          </a:xfrm>
        </p:spPr>
        <p:txBody>
          <a:bodyPr>
            <a:normAutofit/>
          </a:bodyPr>
          <a:lstStyle/>
          <a:p>
            <a:pPr algn="l"/>
            <a:r>
              <a:rPr lang="pt-BR" sz="1800" b="0" i="0" u="none" strike="noStrike" baseline="0" dirty="0">
                <a:latin typeface="SFRM1200"/>
              </a:rPr>
              <a:t>Notăm cu C </a:t>
            </a:r>
            <a:r>
              <a:rPr lang="ro-RO" sz="1800" b="0" i="0" u="none" strike="noStrike" baseline="0" dirty="0" err="1">
                <a:latin typeface="SFRM1200"/>
              </a:rPr>
              <a:t>șț</a:t>
            </a:r>
            <a:r>
              <a:rPr lang="pt-BR" sz="1800" b="0" i="0" u="none" strike="noStrike" baseline="0" dirty="0">
                <a:latin typeface="SFRM0600"/>
              </a:rPr>
              <a:t> </a:t>
            </a:r>
            <a:r>
              <a:rPr lang="pt-BR" sz="1800" b="0" i="0" u="none" strike="noStrike" baseline="0" dirty="0">
                <a:latin typeface="SFRM1200"/>
              </a:rPr>
              <a:t> h memoria pe termen lung, respectiv scurt </a:t>
            </a:r>
            <a:r>
              <a:rPr lang="ro-RO" sz="1800" dirty="0">
                <a:latin typeface="SFRM1200"/>
              </a:rPr>
              <a:t>ș</a:t>
            </a:r>
            <a:r>
              <a:rPr lang="pt-BR" sz="1800" b="0" i="0" u="none" strike="noStrike" baseline="0" dirty="0">
                <a:latin typeface="SFRM1200"/>
              </a:rPr>
              <a:t>i le ini</a:t>
            </a:r>
            <a:r>
              <a:rPr lang="ro-RO" sz="1800" b="0" i="0" u="none" strike="noStrike" baseline="0" dirty="0">
                <a:latin typeface="SFRM1200"/>
              </a:rPr>
              <a:t>ț</a:t>
            </a:r>
            <a:r>
              <a:rPr lang="pt-BR" sz="1800" b="0" i="0" u="none" strike="noStrike" baseline="0" dirty="0">
                <a:latin typeface="SFRM1200"/>
              </a:rPr>
              <a:t>ializăm cu</a:t>
            </a:r>
            <a:r>
              <a:rPr lang="ro-RO" sz="1800" b="0" i="0" u="none" strike="noStrike" baseline="0" dirty="0">
                <a:latin typeface="SFRM1200"/>
              </a:rPr>
              <a:t> </a:t>
            </a:r>
            <a:r>
              <a:rPr lang="pt-BR" sz="1800" b="0" i="0" u="none" strike="noStrike" baseline="0" dirty="0">
                <a:latin typeface="SFRM1200"/>
              </a:rPr>
              <a:t>0. De asemenea, avem seria de timp x cu n elemente, iar noi vrem să prezicem</a:t>
            </a:r>
            <a:r>
              <a:rPr lang="ro-RO" sz="1800" b="0" i="0" u="none" strike="noStrike" baseline="0" dirty="0">
                <a:latin typeface="SFRM1200"/>
              </a:rPr>
              <a:t>   </a:t>
            </a:r>
            <a:r>
              <a:rPr lang="en-US" sz="1800" b="0" i="0" u="none" strike="noStrike" baseline="0" dirty="0" err="1">
                <a:latin typeface="SFRM1200"/>
              </a:rPr>
              <a:t>următorul</a:t>
            </a:r>
            <a:r>
              <a:rPr lang="en-US" sz="1800" b="0" i="0" u="none" strike="noStrike" baseline="0" dirty="0">
                <a:latin typeface="SFRM1200"/>
              </a:rPr>
              <a:t> element. De </a:t>
            </a:r>
            <a:r>
              <a:rPr lang="en-US" sz="1800" b="0" i="0" u="none" strike="noStrike" baseline="0" dirty="0" err="1">
                <a:latin typeface="SFRM1200"/>
              </a:rPr>
              <a:t>asemenea</a:t>
            </a:r>
            <a:r>
              <a:rPr lang="en-US" sz="1800" b="0" i="0" u="none" strike="noStrike" baseline="0" dirty="0">
                <a:latin typeface="SFRM1200"/>
              </a:rPr>
              <a:t>, </a:t>
            </a:r>
            <a:r>
              <a:rPr lang="en-US" sz="1800" b="0" i="0" u="none" strike="noStrike" baseline="0" dirty="0" err="1">
                <a:latin typeface="SFRM1200"/>
              </a:rPr>
              <a:t>avem</a:t>
            </a:r>
            <a:r>
              <a:rPr lang="en-US" sz="1800" b="0" i="0" u="none" strike="noStrike" baseline="0" dirty="0">
                <a:latin typeface="SFRM1200"/>
              </a:rPr>
              <a:t> </a:t>
            </a:r>
            <a:r>
              <a:rPr lang="en-US" sz="1800" b="0" i="0" u="none" strike="noStrike" baseline="0" dirty="0" err="1">
                <a:latin typeface="SFRM1200"/>
              </a:rPr>
              <a:t>următoarele</a:t>
            </a:r>
            <a:r>
              <a:rPr lang="ro-RO" sz="1800" dirty="0">
                <a:latin typeface="SFRM1200"/>
              </a:rPr>
              <a:t> </a:t>
            </a:r>
            <a:r>
              <a:rPr lang="en-US" sz="1800" b="0" i="0" u="none" strike="noStrike" baseline="0" dirty="0" err="1">
                <a:latin typeface="SFRM1200"/>
              </a:rPr>
              <a:t>ponderi</a:t>
            </a:r>
            <a:r>
              <a:rPr lang="en-US" sz="1800" b="0" i="0" u="none" strike="noStrike" baseline="0" dirty="0">
                <a:latin typeface="SFRM1200"/>
              </a:rPr>
              <a:t>:</a:t>
            </a:r>
            <a:endParaRPr lang="ro-RO" sz="1800" b="0" i="0" u="none" strike="noStrike" baseline="0" dirty="0">
              <a:latin typeface="SFRM1200"/>
            </a:endParaRPr>
          </a:p>
          <a:p>
            <a:pPr algn="l"/>
            <a:r>
              <a:rPr lang="en-US" sz="1800" b="1" i="0" u="none" strike="noStrike" baseline="0" dirty="0">
                <a:latin typeface="SFRM1200"/>
              </a:rPr>
              <a:t> </a:t>
            </a:r>
            <a:r>
              <a:rPr lang="en-US" sz="1800" b="1" i="0" u="none" strike="noStrike" baseline="0" dirty="0" err="1">
                <a:latin typeface="CMMI12"/>
              </a:rPr>
              <a:t>W</a:t>
            </a:r>
            <a:r>
              <a:rPr lang="en-US" sz="1800" b="1" i="0" u="none" strike="noStrike" baseline="0" dirty="0" err="1">
                <a:latin typeface="CMMI8"/>
              </a:rPr>
              <a:t>f</a:t>
            </a:r>
            <a:r>
              <a:rPr lang="en-US" sz="1800" b="1" i="0" u="none" strike="noStrike" baseline="0" dirty="0">
                <a:latin typeface="SFRM1200"/>
              </a:rPr>
              <a:t>-Forget Gate,</a:t>
            </a:r>
            <a:endParaRPr lang="ro-RO" sz="1800" b="1" i="0" u="none" strike="noStrike" baseline="0" dirty="0">
              <a:latin typeface="SFRM1200"/>
            </a:endParaRPr>
          </a:p>
          <a:p>
            <a:pPr algn="l"/>
            <a:r>
              <a:rPr lang="ro-RO" sz="1800" b="1" i="0" u="none" strike="noStrike" baseline="0" dirty="0">
                <a:latin typeface="SFRM1200"/>
              </a:rPr>
              <a:t> </a:t>
            </a:r>
            <a:r>
              <a:rPr lang="en-US" sz="1800" b="1" i="0" u="none" strike="noStrike" baseline="0" dirty="0">
                <a:latin typeface="CMMI12"/>
              </a:rPr>
              <a:t>W</a:t>
            </a:r>
            <a:r>
              <a:rPr lang="en-US" sz="1800" b="1" i="0" u="none" strike="noStrike" baseline="0" dirty="0">
                <a:latin typeface="CMMI8"/>
              </a:rPr>
              <a:t>i </a:t>
            </a:r>
            <a:r>
              <a:rPr lang="en-US" sz="1800" b="1" i="0" u="none" strike="noStrike" baseline="0" dirty="0">
                <a:latin typeface="SFRM1200"/>
              </a:rPr>
              <a:t>- Input Gate</a:t>
            </a:r>
            <a:endParaRPr lang="ro-RO" sz="1800" b="1" i="0" u="none" strike="noStrike" baseline="0" dirty="0">
              <a:latin typeface="SFRM1200"/>
            </a:endParaRPr>
          </a:p>
          <a:p>
            <a:pPr algn="l"/>
            <a:r>
              <a:rPr lang="en-US" sz="1800" b="1" i="0" u="none" strike="noStrike" baseline="0" dirty="0">
                <a:latin typeface="SFRM1200"/>
              </a:rPr>
              <a:t> </a:t>
            </a:r>
            <a:r>
              <a:rPr lang="en-US" sz="1800" b="1" i="0" u="none" strike="noStrike" baseline="0" dirty="0" err="1">
                <a:latin typeface="CMMI12"/>
              </a:rPr>
              <a:t>W</a:t>
            </a:r>
            <a:r>
              <a:rPr lang="en-US" sz="1800" b="1" i="0" u="none" strike="noStrike" baseline="0" dirty="0" err="1">
                <a:latin typeface="CMMI8"/>
              </a:rPr>
              <a:t>c</a:t>
            </a:r>
            <a:r>
              <a:rPr lang="en-US" sz="1800" b="1" i="0" u="none" strike="noStrike" baseline="0" dirty="0">
                <a:latin typeface="CMMI8"/>
              </a:rPr>
              <a:t> </a:t>
            </a:r>
            <a:r>
              <a:rPr lang="en-US" sz="1800" b="1" i="0" u="none" strike="noStrike" baseline="0" dirty="0">
                <a:latin typeface="SFRM1200"/>
              </a:rPr>
              <a:t>Candidate Gate</a:t>
            </a:r>
            <a:endParaRPr lang="ro-RO" sz="1800" b="1" i="0" u="none" strike="noStrike" baseline="0" dirty="0">
              <a:latin typeface="SFRM1200"/>
            </a:endParaRPr>
          </a:p>
          <a:p>
            <a:pPr algn="l"/>
            <a:r>
              <a:rPr lang="en-US" sz="1800" b="1" i="0" u="none" strike="noStrike" baseline="0" dirty="0">
                <a:latin typeface="CMMI12"/>
              </a:rPr>
              <a:t>W</a:t>
            </a:r>
            <a:r>
              <a:rPr lang="en-US" sz="1800" b="1" i="0" u="none" strike="noStrike" baseline="0" dirty="0">
                <a:latin typeface="CMMI8"/>
              </a:rPr>
              <a:t>o </a:t>
            </a:r>
            <a:r>
              <a:rPr lang="en-US" sz="1800" b="1" i="0" u="none" strike="noStrike" baseline="0" dirty="0">
                <a:latin typeface="SFRM1200"/>
              </a:rPr>
              <a:t>- Output Gate.</a:t>
            </a:r>
            <a:endParaRPr lang="ro-RO" sz="1800" b="1" i="0" u="none" strike="noStrike" baseline="0" dirty="0">
              <a:latin typeface="SFRM1200"/>
            </a:endParaRPr>
          </a:p>
          <a:p>
            <a:pPr algn="l"/>
            <a:r>
              <a:rPr lang="en-US" sz="1800" b="1" i="0" u="none" strike="noStrike" baseline="0" dirty="0">
                <a:latin typeface="SFRM1200"/>
              </a:rPr>
              <a:t> </a:t>
            </a:r>
            <a:r>
              <a:rPr lang="en-US" sz="1800" b="1" i="0" u="none" strike="noStrike" baseline="0" dirty="0" err="1">
                <a:latin typeface="SFRM1200"/>
              </a:rPr>
              <a:t>Respectiv</a:t>
            </a:r>
            <a:r>
              <a:rPr lang="en-US" sz="1800" b="1" i="0" u="none" strike="noStrike" baseline="0" dirty="0">
                <a:latin typeface="SFRM1200"/>
              </a:rPr>
              <a:t>, bias-urile</a:t>
            </a:r>
            <a:r>
              <a:rPr lang="pl-PL" sz="1800" b="1" i="0" u="none" strike="noStrike" baseline="0" dirty="0">
                <a:latin typeface="SFRM1200"/>
              </a:rPr>
              <a:t>lor: </a:t>
            </a:r>
            <a:r>
              <a:rPr lang="pl-PL" sz="1800" b="1" i="0" u="none" strike="noStrike" baseline="0" dirty="0">
                <a:latin typeface="CMMI12"/>
              </a:rPr>
              <a:t>b</a:t>
            </a:r>
            <a:r>
              <a:rPr lang="pl-PL" sz="1800" b="1" i="0" u="none" strike="noStrike" baseline="0" dirty="0">
                <a:latin typeface="CMMI8"/>
              </a:rPr>
              <a:t>f </a:t>
            </a:r>
            <a:r>
              <a:rPr lang="pl-PL" sz="1800" b="1" i="0" u="none" strike="noStrike" baseline="0" dirty="0">
                <a:latin typeface="CMMI12"/>
              </a:rPr>
              <a:t>, b</a:t>
            </a:r>
            <a:r>
              <a:rPr lang="pl-PL" sz="1800" b="1" i="0" u="none" strike="noStrike" baseline="0" dirty="0">
                <a:latin typeface="CMMI8"/>
              </a:rPr>
              <a:t>i</a:t>
            </a:r>
            <a:r>
              <a:rPr lang="pl-PL" sz="1800" b="1" i="0" u="none" strike="noStrike" baseline="0" dirty="0">
                <a:latin typeface="CMMI12"/>
              </a:rPr>
              <a:t>, b</a:t>
            </a:r>
            <a:r>
              <a:rPr lang="pl-PL" sz="1800" b="1" i="0" u="none" strike="noStrike" baseline="0" dirty="0">
                <a:latin typeface="CMMI8"/>
              </a:rPr>
              <a:t>c</a:t>
            </a:r>
            <a:r>
              <a:rPr lang="pl-PL" sz="1800" b="1" i="0" u="none" strike="noStrike" baseline="0" dirty="0">
                <a:latin typeface="CMMI12"/>
              </a:rPr>
              <a:t>, b</a:t>
            </a:r>
            <a:r>
              <a:rPr lang="pl-PL" sz="1800" b="1" i="0" u="none" strike="noStrike" baseline="0" dirty="0">
                <a:latin typeface="CMMI8"/>
              </a:rPr>
              <a:t>o</a:t>
            </a:r>
            <a:r>
              <a:rPr lang="pl-PL" sz="1800" b="1" i="0" u="none" strike="noStrike" baseline="0" dirty="0">
                <a:latin typeface="SFRM1200"/>
              </a:rPr>
              <a:t>.</a:t>
            </a:r>
          </a:p>
          <a:p>
            <a:pPr algn="l"/>
            <a:r>
              <a:rPr lang="en-US" sz="1800" b="0" i="0" u="none" strike="noStrike" baseline="0" dirty="0" err="1">
                <a:latin typeface="SFBX1200"/>
              </a:rPr>
              <a:t>Primul</a:t>
            </a:r>
            <a:r>
              <a:rPr lang="en-US" sz="1800" b="0" i="0" u="none" strike="noStrike" baseline="0" dirty="0">
                <a:latin typeface="SFBX1200"/>
              </a:rPr>
              <a:t> pas: Forget Gate </a:t>
            </a:r>
            <a:r>
              <a:rPr lang="en-US" sz="1800" b="0" i="0" u="none" strike="noStrike" baseline="0" dirty="0" err="1">
                <a:latin typeface="SFRM1200"/>
              </a:rPr>
              <a:t>În</a:t>
            </a:r>
            <a:r>
              <a:rPr lang="en-US" sz="1800" b="0" i="0" u="none" strike="noStrike" baseline="0" dirty="0">
                <a:latin typeface="SFRM1200"/>
              </a:rPr>
              <a:t> </a:t>
            </a:r>
            <a:r>
              <a:rPr lang="en-US" sz="1800" b="0" i="0" u="none" strike="noStrike" baseline="0" dirty="0" err="1">
                <a:latin typeface="SFRM1200"/>
              </a:rPr>
              <a:t>acest</a:t>
            </a:r>
            <a:r>
              <a:rPr lang="en-US" sz="1800" b="0" i="0" u="none" strike="noStrike" baseline="0" dirty="0">
                <a:latin typeface="SFRM1200"/>
              </a:rPr>
              <a:t> pas </a:t>
            </a:r>
            <a:r>
              <a:rPr lang="en-US" sz="1800" b="0" i="0" u="none" strike="noStrike" baseline="0" dirty="0" err="1">
                <a:latin typeface="SFRM1200"/>
              </a:rPr>
              <a:t>decidem</a:t>
            </a:r>
            <a:r>
              <a:rPr lang="en-US" sz="1800" b="0" i="0" u="none" strike="noStrike" baseline="0" dirty="0">
                <a:latin typeface="SFRM1200"/>
              </a:rPr>
              <a:t> </a:t>
            </a:r>
            <a:r>
              <a:rPr lang="en-US" sz="1800" b="0" i="0" u="none" strike="noStrike" baseline="0" dirty="0" err="1">
                <a:latin typeface="SFRM1200"/>
              </a:rPr>
              <a:t>câte</a:t>
            </a:r>
            <a:r>
              <a:rPr lang="en-US" sz="1800" b="0" i="0" u="none" strike="noStrike" baseline="0" dirty="0">
                <a:latin typeface="SFRM1200"/>
              </a:rPr>
              <a:t> </a:t>
            </a:r>
            <a:r>
              <a:rPr lang="en-US" sz="1800" b="0" i="0" u="none" strike="noStrike" baseline="0" dirty="0" err="1">
                <a:latin typeface="SFRM1200"/>
              </a:rPr>
              <a:t>procente</a:t>
            </a:r>
            <a:r>
              <a:rPr lang="en-US" sz="1800" b="0" i="0" u="none" strike="noStrike" baseline="0" dirty="0">
                <a:latin typeface="SFRM1200"/>
              </a:rPr>
              <a:t> din L </a:t>
            </a:r>
            <a:r>
              <a:rPr lang="en-US" sz="1800" b="0" i="0" u="none" strike="noStrike" baseline="0" dirty="0" err="1">
                <a:latin typeface="SFRM1200"/>
              </a:rPr>
              <a:t>păstrăm</a:t>
            </a:r>
            <a:r>
              <a:rPr lang="ro-RO" sz="1800" dirty="0">
                <a:latin typeface="SFRM1200"/>
              </a:rPr>
              <a:t> </a:t>
            </a:r>
            <a:r>
              <a:rPr lang="en-US" sz="1800" b="0" i="0" u="none" strike="noStrike" baseline="0" dirty="0" err="1">
                <a:latin typeface="SFRM1200"/>
              </a:rPr>
              <a:t>folosind</a:t>
            </a:r>
            <a:r>
              <a:rPr lang="en-US" sz="1800" b="0" i="0" u="none" strike="noStrike" baseline="0" dirty="0">
                <a:latin typeface="SFRM1200"/>
              </a:rPr>
              <a:t> formula:</a:t>
            </a:r>
          </a:p>
          <a:p>
            <a:pPr algn="l"/>
            <a:r>
              <a:rPr lang="en-US" sz="2000" b="1" i="0" u="none" strike="noStrike" baseline="0" dirty="0">
                <a:latin typeface="CMMI12"/>
              </a:rPr>
              <a:t>f </a:t>
            </a:r>
            <a:r>
              <a:rPr lang="en-US" sz="2000" b="1" i="0" u="none" strike="noStrike" baseline="0" dirty="0">
                <a:latin typeface="CMR12"/>
              </a:rPr>
              <a:t>= </a:t>
            </a:r>
            <a:r>
              <a:rPr lang="en-US" sz="2000" b="1" i="0" u="none" strike="noStrike" baseline="0" dirty="0">
                <a:latin typeface="SFRM1200"/>
              </a:rPr>
              <a:t>sigmoid</a:t>
            </a:r>
            <a:r>
              <a:rPr lang="en-US" sz="2000" b="1" i="0" u="none" strike="noStrike" baseline="0" dirty="0">
                <a:latin typeface="CMR12"/>
              </a:rPr>
              <a:t>(</a:t>
            </a:r>
            <a:r>
              <a:rPr lang="en-US" sz="2000" b="1" i="0" u="none" strike="noStrike" baseline="0" dirty="0" err="1">
                <a:latin typeface="CMMI12"/>
              </a:rPr>
              <a:t>W</a:t>
            </a:r>
            <a:r>
              <a:rPr lang="en-US" sz="2000" b="1" i="0" u="none" strike="noStrike" baseline="0" dirty="0" err="1">
                <a:latin typeface="CMMI8"/>
              </a:rPr>
              <a:t>f</a:t>
            </a:r>
            <a:r>
              <a:rPr lang="en-US" sz="2000" b="1" i="0" u="none" strike="noStrike" baseline="0" dirty="0">
                <a:latin typeface="CMMI8"/>
              </a:rPr>
              <a:t> </a:t>
            </a:r>
            <a:r>
              <a:rPr lang="en-US" sz="2000" b="1" i="0" u="none" strike="noStrike" baseline="0" dirty="0">
                <a:latin typeface="CMSY10"/>
              </a:rPr>
              <a:t>・ </a:t>
            </a:r>
            <a:r>
              <a:rPr lang="en-US" sz="2000" b="1" i="0" u="none" strike="noStrike" baseline="0" dirty="0">
                <a:latin typeface="CMR12"/>
              </a:rPr>
              <a:t>[</a:t>
            </a:r>
            <a:r>
              <a:rPr lang="en-US" sz="2000" b="1" i="0" u="none" strike="noStrike" baseline="0" dirty="0">
                <a:latin typeface="CMMI12"/>
              </a:rPr>
              <a:t>x, h</a:t>
            </a:r>
            <a:r>
              <a:rPr lang="en-US" sz="2000" b="1" i="0" u="none" strike="noStrike" baseline="0" dirty="0">
                <a:latin typeface="CMR12"/>
              </a:rPr>
              <a:t>] + </a:t>
            </a:r>
            <a:r>
              <a:rPr lang="en-US" sz="2000" b="1" i="0" u="none" strike="noStrike" baseline="0" dirty="0">
                <a:latin typeface="CMMI12"/>
              </a:rPr>
              <a:t>b</a:t>
            </a:r>
            <a:r>
              <a:rPr lang="en-US" sz="2000" b="1" i="0" u="none" strike="noStrike" baseline="0" dirty="0">
                <a:latin typeface="CMMI8"/>
              </a:rPr>
              <a:t>f </a:t>
            </a:r>
            <a:r>
              <a:rPr lang="en-US" sz="2000" b="1" i="0" u="none" strike="noStrike" baseline="0" dirty="0">
                <a:latin typeface="CMR12"/>
              </a:rPr>
              <a:t>)</a:t>
            </a:r>
            <a:r>
              <a:rPr lang="en-US" sz="2000" b="1" i="0" u="none" strike="noStrike" baseline="0" dirty="0">
                <a:latin typeface="CMMI12"/>
              </a:rPr>
              <a:t>.</a:t>
            </a:r>
            <a:endParaRPr lang="en-US" sz="2000" b="1" dirty="0"/>
          </a:p>
        </p:txBody>
      </p:sp>
      <p:pic>
        <p:nvPicPr>
          <p:cNvPr id="8" name="Picture 7">
            <a:extLst>
              <a:ext uri="{FF2B5EF4-FFF2-40B4-BE49-F238E27FC236}">
                <a16:creationId xmlns:a16="http://schemas.microsoft.com/office/drawing/2014/main" id="{A56B836D-A05D-4BD8-A416-A1FFBE98B555}"/>
              </a:ext>
            </a:extLst>
          </p:cNvPr>
          <p:cNvPicPr>
            <a:picLocks noChangeAspect="1"/>
          </p:cNvPicPr>
          <p:nvPr/>
        </p:nvPicPr>
        <p:blipFill>
          <a:blip r:embed="rId3"/>
          <a:stretch>
            <a:fillRect/>
          </a:stretch>
        </p:blipFill>
        <p:spPr>
          <a:xfrm>
            <a:off x="5962572" y="3437681"/>
            <a:ext cx="4572638" cy="2486372"/>
          </a:xfrm>
          <a:prstGeom prst="rect">
            <a:avLst/>
          </a:prstGeom>
        </p:spPr>
      </p:pic>
    </p:spTree>
    <p:extLst>
      <p:ext uri="{BB962C8B-B14F-4D97-AF65-F5344CB8AC3E}">
        <p14:creationId xmlns:p14="http://schemas.microsoft.com/office/powerpoint/2010/main" val="50832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D1AB3BE-4ED9-4A20-8F27-AEE3FE8A9DF4}"/>
              </a:ext>
            </a:extLst>
          </p:cNvPr>
          <p:cNvPicPr>
            <a:picLocks noGrp="1" noChangeAspect="1"/>
          </p:cNvPicPr>
          <p:nvPr>
            <p:ph idx="1"/>
          </p:nvPr>
        </p:nvPicPr>
        <p:blipFill>
          <a:blip r:embed="rId2"/>
          <a:stretch>
            <a:fillRect/>
          </a:stretch>
        </p:blipFill>
        <p:spPr>
          <a:xfrm>
            <a:off x="6096000" y="162045"/>
            <a:ext cx="4686954" cy="2638793"/>
          </a:xfrm>
        </p:spPr>
      </p:pic>
      <p:sp>
        <p:nvSpPr>
          <p:cNvPr id="4" name="Text Placeholder 3">
            <a:extLst>
              <a:ext uri="{FF2B5EF4-FFF2-40B4-BE49-F238E27FC236}">
                <a16:creationId xmlns:a16="http://schemas.microsoft.com/office/drawing/2014/main" id="{B80055A6-C1BE-454B-B287-7F7B1BC28456}"/>
              </a:ext>
            </a:extLst>
          </p:cNvPr>
          <p:cNvSpPr>
            <a:spLocks noGrp="1"/>
          </p:cNvSpPr>
          <p:nvPr>
            <p:ph type="body" sz="half" idx="2"/>
          </p:nvPr>
        </p:nvSpPr>
        <p:spPr>
          <a:xfrm>
            <a:off x="335666" y="520861"/>
            <a:ext cx="6319777" cy="5972536"/>
          </a:xfrm>
        </p:spPr>
        <p:txBody>
          <a:bodyPr>
            <a:normAutofit/>
          </a:bodyPr>
          <a:lstStyle/>
          <a:p>
            <a:endParaRPr lang="ro-RO" sz="2000" b="1" i="0" u="none" strike="noStrike" baseline="0" dirty="0">
              <a:latin typeface="CMMI12"/>
            </a:endParaRPr>
          </a:p>
          <a:p>
            <a:endParaRPr lang="ro-RO" sz="2000" b="1" dirty="0">
              <a:latin typeface="CMMI12"/>
            </a:endParaRPr>
          </a:p>
          <a:p>
            <a:r>
              <a:rPr lang="en-US" sz="2000" b="1" i="0" u="none" strike="noStrike" baseline="0" dirty="0" err="1">
                <a:latin typeface="CMMI12"/>
              </a:rPr>
              <a:t>i</a:t>
            </a:r>
            <a:r>
              <a:rPr lang="en-US" sz="2000" b="1" i="0" u="none" strike="noStrike" baseline="0" dirty="0">
                <a:latin typeface="CMMI12"/>
              </a:rPr>
              <a:t> </a:t>
            </a:r>
            <a:r>
              <a:rPr lang="en-US" sz="2000" b="1" i="0" u="none" strike="noStrike" baseline="0" dirty="0">
                <a:latin typeface="CMR12"/>
              </a:rPr>
              <a:t>= </a:t>
            </a:r>
            <a:r>
              <a:rPr lang="en-US" sz="2000" b="1" i="0" u="none" strike="noStrike" baseline="0" dirty="0">
                <a:latin typeface="SFRM1200"/>
              </a:rPr>
              <a:t>sigmoid</a:t>
            </a:r>
            <a:r>
              <a:rPr lang="en-US" sz="2000" b="1" i="0" u="none" strike="noStrike" baseline="0" dirty="0">
                <a:latin typeface="CMR12"/>
              </a:rPr>
              <a:t>(</a:t>
            </a:r>
            <a:r>
              <a:rPr lang="en-US" sz="2000" b="1" i="0" u="none" strike="noStrike" baseline="0" dirty="0">
                <a:latin typeface="CMMI12"/>
              </a:rPr>
              <a:t>W</a:t>
            </a:r>
            <a:r>
              <a:rPr lang="en-US" sz="2000" b="1" i="0" u="none" strike="noStrike" baseline="0" dirty="0">
                <a:latin typeface="CMMI8"/>
              </a:rPr>
              <a:t>i </a:t>
            </a:r>
            <a:r>
              <a:rPr lang="en-US" sz="2000" b="1" i="0" u="none" strike="noStrike" baseline="0" dirty="0">
                <a:latin typeface="CMSY10"/>
              </a:rPr>
              <a:t>・ </a:t>
            </a:r>
            <a:r>
              <a:rPr lang="en-US" sz="2000" b="1" i="0" u="none" strike="noStrike" baseline="0" dirty="0">
                <a:latin typeface="CMR12"/>
              </a:rPr>
              <a:t>[</a:t>
            </a:r>
            <a:r>
              <a:rPr lang="en-US" sz="2000" b="1" i="0" u="none" strike="noStrike" baseline="0" dirty="0">
                <a:latin typeface="CMMI12"/>
              </a:rPr>
              <a:t>x, h</a:t>
            </a:r>
            <a:r>
              <a:rPr lang="en-US" sz="2000" b="1" i="0" u="none" strike="noStrike" baseline="0" dirty="0">
                <a:latin typeface="CMR12"/>
              </a:rPr>
              <a:t>] + </a:t>
            </a:r>
            <a:r>
              <a:rPr lang="en-US" sz="2000" b="1" i="0" u="none" strike="noStrike" baseline="0" dirty="0">
                <a:latin typeface="CMMI12"/>
              </a:rPr>
              <a:t>b</a:t>
            </a:r>
            <a:r>
              <a:rPr lang="en-US" sz="2000" b="1" i="0" u="none" strike="noStrike" baseline="0" dirty="0">
                <a:latin typeface="CMMI8"/>
              </a:rPr>
              <a:t>i</a:t>
            </a:r>
            <a:r>
              <a:rPr lang="en-US" sz="2000" b="1" i="0" u="none" strike="noStrike" baseline="0" dirty="0">
                <a:latin typeface="CMR12"/>
              </a:rPr>
              <a:t>)</a:t>
            </a:r>
            <a:r>
              <a:rPr lang="en-US" sz="2000" b="1" i="0" u="none" strike="noStrike" baseline="0" dirty="0">
                <a:latin typeface="CMMI12"/>
              </a:rPr>
              <a:t>.</a:t>
            </a:r>
            <a:endParaRPr lang="ro-RO" sz="2000" b="1" i="0" u="none" strike="noStrike" baseline="0"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r>
              <a:rPr lang="en-US" sz="2000" b="1" i="0" u="none" strike="noStrike" baseline="0" dirty="0" err="1">
                <a:latin typeface="CMMI12"/>
              </a:rPr>
              <a:t>C</a:t>
            </a:r>
            <a:r>
              <a:rPr lang="en-US" sz="2000" b="1" i="0" u="none" strike="noStrike" baseline="0" dirty="0" err="1">
                <a:latin typeface="CMMI8"/>
              </a:rPr>
              <a:t>nou</a:t>
            </a:r>
            <a:r>
              <a:rPr lang="en-US" sz="2000" b="1" i="0" u="none" strike="noStrike" baseline="0" dirty="0">
                <a:latin typeface="CMMI8"/>
              </a:rPr>
              <a:t> </a:t>
            </a:r>
            <a:r>
              <a:rPr lang="en-US" sz="2000" b="1" i="0" u="none" strike="noStrike" baseline="0" dirty="0">
                <a:latin typeface="CMR12"/>
              </a:rPr>
              <a:t>= tanh(</a:t>
            </a:r>
            <a:r>
              <a:rPr lang="en-US" sz="2000" b="1" i="0" u="none" strike="noStrike" baseline="0" dirty="0" err="1">
                <a:latin typeface="CMMI12"/>
              </a:rPr>
              <a:t>W</a:t>
            </a:r>
            <a:r>
              <a:rPr lang="en-US" sz="2000" b="1" i="0" u="none" strike="noStrike" baseline="0" dirty="0" err="1">
                <a:latin typeface="CMMI8"/>
              </a:rPr>
              <a:t>c</a:t>
            </a:r>
            <a:r>
              <a:rPr lang="en-US" sz="2000" b="1" i="0" u="none" strike="noStrike" baseline="0" dirty="0">
                <a:latin typeface="CMMI8"/>
              </a:rPr>
              <a:t> </a:t>
            </a:r>
            <a:r>
              <a:rPr lang="en-US" sz="2000" b="1" i="0" u="none" strike="noStrike" baseline="0" dirty="0">
                <a:latin typeface="CMSY10"/>
              </a:rPr>
              <a:t>・ </a:t>
            </a:r>
            <a:r>
              <a:rPr lang="en-US" sz="2000" b="1" i="0" u="none" strike="noStrike" baseline="0" dirty="0">
                <a:latin typeface="CMR12"/>
              </a:rPr>
              <a:t>[</a:t>
            </a:r>
            <a:r>
              <a:rPr lang="en-US" sz="2000" b="1" i="0" u="none" strike="noStrike" baseline="0" dirty="0">
                <a:latin typeface="CMMI12"/>
              </a:rPr>
              <a:t>x, h</a:t>
            </a:r>
            <a:r>
              <a:rPr lang="en-US" sz="2000" b="1" i="0" u="none" strike="noStrike" baseline="0" dirty="0">
                <a:latin typeface="CMR12"/>
              </a:rPr>
              <a:t>] + </a:t>
            </a:r>
            <a:r>
              <a:rPr lang="en-US" sz="2000" b="1" i="0" u="none" strike="noStrike" baseline="0" dirty="0" err="1">
                <a:latin typeface="CMMI12"/>
              </a:rPr>
              <a:t>b</a:t>
            </a:r>
            <a:r>
              <a:rPr lang="en-US" sz="2000" b="1" i="0" u="none" strike="noStrike" baseline="0" dirty="0" err="1">
                <a:latin typeface="CMMI8"/>
              </a:rPr>
              <a:t>c</a:t>
            </a:r>
            <a:r>
              <a:rPr lang="en-US" sz="2000" b="1" i="0" u="none" strike="noStrike" baseline="0" dirty="0">
                <a:latin typeface="CMR12"/>
              </a:rPr>
              <a:t>)</a:t>
            </a:r>
            <a:r>
              <a:rPr lang="en-US" sz="2000" b="1" i="0" u="none" strike="noStrike" baseline="0" dirty="0">
                <a:latin typeface="CMMI12"/>
              </a:rPr>
              <a:t>.</a:t>
            </a:r>
            <a:endParaRPr lang="ro-RO" sz="2000" b="1" i="0" u="none" strike="noStrike" baseline="0" dirty="0">
              <a:latin typeface="CMMI12"/>
            </a:endParaRPr>
          </a:p>
          <a:p>
            <a:endParaRPr lang="ro-RO" sz="2000" b="1" dirty="0">
              <a:latin typeface="CMMI12"/>
            </a:endParaRPr>
          </a:p>
          <a:p>
            <a:endParaRPr lang="en-US" sz="2000" b="1" dirty="0"/>
          </a:p>
        </p:txBody>
      </p:sp>
      <p:pic>
        <p:nvPicPr>
          <p:cNvPr id="8" name="Picture 7">
            <a:extLst>
              <a:ext uri="{FF2B5EF4-FFF2-40B4-BE49-F238E27FC236}">
                <a16:creationId xmlns:a16="http://schemas.microsoft.com/office/drawing/2014/main" id="{47B0FBD2-9641-485D-AE0B-41A04ED9B6E0}"/>
              </a:ext>
            </a:extLst>
          </p:cNvPr>
          <p:cNvPicPr>
            <a:picLocks noChangeAspect="1"/>
          </p:cNvPicPr>
          <p:nvPr/>
        </p:nvPicPr>
        <p:blipFill>
          <a:blip r:embed="rId3"/>
          <a:stretch>
            <a:fillRect/>
          </a:stretch>
        </p:blipFill>
        <p:spPr>
          <a:xfrm>
            <a:off x="6282529" y="2761582"/>
            <a:ext cx="4639322" cy="2591162"/>
          </a:xfrm>
          <a:prstGeom prst="rect">
            <a:avLst/>
          </a:prstGeom>
        </p:spPr>
      </p:pic>
    </p:spTree>
    <p:extLst>
      <p:ext uri="{BB962C8B-B14F-4D97-AF65-F5344CB8AC3E}">
        <p14:creationId xmlns:p14="http://schemas.microsoft.com/office/powerpoint/2010/main" val="429204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055796A-250A-478D-ACF5-8533ED5EBF57}"/>
              </a:ext>
            </a:extLst>
          </p:cNvPr>
          <p:cNvPicPr>
            <a:picLocks noGrp="1" noChangeAspect="1"/>
          </p:cNvPicPr>
          <p:nvPr>
            <p:ph idx="1"/>
          </p:nvPr>
        </p:nvPicPr>
        <p:blipFill>
          <a:blip r:embed="rId2"/>
          <a:stretch>
            <a:fillRect/>
          </a:stretch>
        </p:blipFill>
        <p:spPr>
          <a:xfrm>
            <a:off x="6231467" y="565187"/>
            <a:ext cx="4515480" cy="2638793"/>
          </a:xfrm>
        </p:spPr>
      </p:pic>
      <p:sp>
        <p:nvSpPr>
          <p:cNvPr id="4" name="Text Placeholder 3">
            <a:extLst>
              <a:ext uri="{FF2B5EF4-FFF2-40B4-BE49-F238E27FC236}">
                <a16:creationId xmlns:a16="http://schemas.microsoft.com/office/drawing/2014/main" id="{93D26CA8-D12C-4D69-A25F-02952F3924D7}"/>
              </a:ext>
            </a:extLst>
          </p:cNvPr>
          <p:cNvSpPr>
            <a:spLocks noGrp="1"/>
          </p:cNvSpPr>
          <p:nvPr>
            <p:ph type="body" sz="half" idx="2"/>
          </p:nvPr>
        </p:nvSpPr>
        <p:spPr>
          <a:xfrm>
            <a:off x="277792" y="370390"/>
            <a:ext cx="4494233" cy="5498598"/>
          </a:xfrm>
        </p:spPr>
        <p:txBody>
          <a:bodyPr>
            <a:normAutofit/>
          </a:bodyPr>
          <a:lstStyle/>
          <a:p>
            <a:endParaRPr lang="ro-RO" altLang="ja-JP" sz="2000" b="1" i="0" u="none" strike="noStrike" baseline="0" dirty="0">
              <a:latin typeface="CMMI12"/>
            </a:endParaRPr>
          </a:p>
          <a:p>
            <a:endParaRPr lang="ro-RO" altLang="ja-JP" sz="2000" b="1" dirty="0">
              <a:latin typeface="CMMI12"/>
            </a:endParaRPr>
          </a:p>
          <a:p>
            <a:r>
              <a:rPr lang="en-US" altLang="ja-JP" sz="2000" b="1" i="0" u="none" strike="noStrike" baseline="0" dirty="0">
                <a:latin typeface="CMMI12"/>
              </a:rPr>
              <a:t>C </a:t>
            </a:r>
            <a:r>
              <a:rPr lang="en-US" altLang="ja-JP" sz="2000" b="1" i="0" u="none" strike="noStrike" baseline="0" dirty="0">
                <a:latin typeface="CMR12"/>
              </a:rPr>
              <a:t>= </a:t>
            </a:r>
            <a:r>
              <a:rPr lang="en-US" altLang="ja-JP" sz="2000" b="1" i="0" u="none" strike="noStrike" baseline="0" dirty="0" err="1">
                <a:latin typeface="CMMI12"/>
              </a:rPr>
              <a:t>C</a:t>
            </a:r>
            <a:r>
              <a:rPr lang="en-US" altLang="ja-JP" sz="2000" b="1" i="0" u="none" strike="noStrike" baseline="0" dirty="0" err="1">
                <a:latin typeface="CMMI8"/>
              </a:rPr>
              <a:t>vechi</a:t>
            </a:r>
            <a:r>
              <a:rPr lang="en-US" altLang="ja-JP" sz="2000" b="1" i="0" u="none" strike="noStrike" baseline="0" dirty="0">
                <a:latin typeface="CMMI8"/>
              </a:rPr>
              <a:t> </a:t>
            </a:r>
            <a:r>
              <a:rPr lang="ja-JP" altLang="en-US" sz="2000" b="1" i="0" u="none" strike="noStrike" baseline="0" dirty="0">
                <a:latin typeface="CMSY10"/>
              </a:rPr>
              <a:t>・ </a:t>
            </a:r>
            <a:r>
              <a:rPr lang="en-US" altLang="ja-JP" sz="2000" b="1" i="0" u="none" strike="noStrike" baseline="0" dirty="0">
                <a:latin typeface="CMMI12"/>
              </a:rPr>
              <a:t>f </a:t>
            </a:r>
            <a:r>
              <a:rPr lang="en-US" altLang="ja-JP" sz="2000" b="1" i="0" u="none" strike="noStrike" baseline="0" dirty="0">
                <a:latin typeface="CMR12"/>
              </a:rPr>
              <a:t>+ </a:t>
            </a:r>
            <a:r>
              <a:rPr lang="en-US" altLang="ja-JP" sz="2000" b="1" i="0" u="none" strike="noStrike" baseline="0" dirty="0" err="1">
                <a:latin typeface="CMMI12"/>
              </a:rPr>
              <a:t>C</a:t>
            </a:r>
            <a:r>
              <a:rPr lang="en-US" altLang="ja-JP" sz="2000" b="1" i="0" u="none" strike="noStrike" baseline="0" dirty="0" err="1">
                <a:latin typeface="CMMI8"/>
              </a:rPr>
              <a:t>nou</a:t>
            </a:r>
            <a:r>
              <a:rPr lang="en-US" altLang="ja-JP" sz="2000" b="1" i="0" u="none" strike="noStrike" baseline="0" dirty="0">
                <a:latin typeface="CMMI8"/>
              </a:rPr>
              <a:t> </a:t>
            </a:r>
            <a:r>
              <a:rPr lang="ja-JP" altLang="en-US" sz="2000" b="1" i="0" u="none" strike="noStrike" baseline="0" dirty="0">
                <a:latin typeface="CMSY10"/>
              </a:rPr>
              <a:t>・ </a:t>
            </a:r>
            <a:r>
              <a:rPr lang="en-US" altLang="ja-JP" sz="2000" b="1" i="0" u="none" strike="noStrike" baseline="0" dirty="0" err="1">
                <a:latin typeface="CMMI12"/>
              </a:rPr>
              <a:t>i</a:t>
            </a:r>
            <a:r>
              <a:rPr lang="en-US" altLang="ja-JP" sz="2000" b="1" i="0" u="none" strike="noStrike" baseline="0" dirty="0">
                <a:latin typeface="CMMI12"/>
              </a:rPr>
              <a:t>.</a:t>
            </a:r>
            <a:endParaRPr lang="ro-RO" altLang="ja-JP" sz="2000" b="1" i="0" u="none" strike="noStrike" baseline="0"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endParaRPr lang="ro-RO" sz="2000" b="1" dirty="0">
              <a:latin typeface="CMMI12"/>
            </a:endParaRPr>
          </a:p>
          <a:p>
            <a:r>
              <a:rPr lang="en-US" sz="2000" b="1" i="0" u="none" strike="noStrike" baseline="0" dirty="0">
                <a:latin typeface="CMMI12"/>
              </a:rPr>
              <a:t>o </a:t>
            </a:r>
            <a:r>
              <a:rPr lang="en-US" sz="2000" b="1" i="0" u="none" strike="noStrike" baseline="0" dirty="0">
                <a:latin typeface="CMR12"/>
              </a:rPr>
              <a:t>= </a:t>
            </a:r>
            <a:r>
              <a:rPr lang="en-US" sz="2000" b="1" i="0" u="none" strike="noStrike" baseline="0" dirty="0">
                <a:latin typeface="SFRM1200"/>
              </a:rPr>
              <a:t>sigmoid</a:t>
            </a:r>
            <a:r>
              <a:rPr lang="en-US" sz="2000" b="1" i="0" u="none" strike="noStrike" baseline="0" dirty="0">
                <a:latin typeface="CMR12"/>
              </a:rPr>
              <a:t>(</a:t>
            </a:r>
            <a:r>
              <a:rPr lang="en-US" sz="2000" b="1" i="0" u="none" strike="noStrike" baseline="0" dirty="0">
                <a:latin typeface="CMMI12"/>
              </a:rPr>
              <a:t>W</a:t>
            </a:r>
            <a:r>
              <a:rPr lang="en-US" sz="2000" b="1" i="0" u="none" strike="noStrike" baseline="0" dirty="0">
                <a:latin typeface="CMMI8"/>
              </a:rPr>
              <a:t>o </a:t>
            </a:r>
            <a:r>
              <a:rPr lang="en-US" sz="2000" b="1" i="0" u="none" strike="noStrike" baseline="0" dirty="0">
                <a:latin typeface="CMSY10"/>
              </a:rPr>
              <a:t>・ </a:t>
            </a:r>
            <a:r>
              <a:rPr lang="en-US" sz="2000" b="1" i="0" u="none" strike="noStrike" baseline="0" dirty="0">
                <a:latin typeface="CMR12"/>
              </a:rPr>
              <a:t>[</a:t>
            </a:r>
            <a:r>
              <a:rPr lang="en-US" sz="2000" b="1" i="0" u="none" strike="noStrike" baseline="0" dirty="0">
                <a:latin typeface="CMMI12"/>
              </a:rPr>
              <a:t>x, h</a:t>
            </a:r>
            <a:r>
              <a:rPr lang="en-US" sz="2000" b="1" i="0" u="none" strike="noStrike" baseline="0" dirty="0">
                <a:latin typeface="CMR12"/>
              </a:rPr>
              <a:t>] + </a:t>
            </a:r>
            <a:r>
              <a:rPr lang="en-US" sz="2000" b="1" i="0" u="none" strike="noStrike" baseline="0" dirty="0" err="1">
                <a:latin typeface="CMMI12"/>
              </a:rPr>
              <a:t>b</a:t>
            </a:r>
            <a:r>
              <a:rPr lang="en-US" sz="2000" b="1" i="0" u="none" strike="noStrike" baseline="0" dirty="0" err="1">
                <a:latin typeface="CMMI8"/>
              </a:rPr>
              <a:t>o</a:t>
            </a:r>
            <a:r>
              <a:rPr lang="en-US" sz="2000" b="1" i="0" u="none" strike="noStrike" baseline="0" dirty="0">
                <a:latin typeface="CMR12"/>
              </a:rPr>
              <a:t>)</a:t>
            </a:r>
            <a:r>
              <a:rPr lang="en-US" sz="2000" b="1" i="0" u="none" strike="noStrike" baseline="0" dirty="0">
                <a:latin typeface="CMMI12"/>
              </a:rPr>
              <a:t>.</a:t>
            </a:r>
            <a:endParaRPr lang="ro-RO" sz="2000" b="1" dirty="0">
              <a:latin typeface="CMMI12"/>
            </a:endParaRPr>
          </a:p>
          <a:p>
            <a:r>
              <a:rPr lang="en-US" sz="2000" b="1" i="0" u="none" strike="noStrike" baseline="0" dirty="0" err="1">
                <a:latin typeface="CMMI12"/>
              </a:rPr>
              <a:t>h</a:t>
            </a:r>
            <a:r>
              <a:rPr lang="en-US" sz="2000" b="1" i="0" u="none" strike="noStrike" baseline="0" dirty="0" err="1">
                <a:latin typeface="CMMI8"/>
              </a:rPr>
              <a:t>nou</a:t>
            </a:r>
            <a:r>
              <a:rPr lang="en-US" sz="2000" b="1" i="0" u="none" strike="noStrike" baseline="0" dirty="0">
                <a:latin typeface="CMMI8"/>
              </a:rPr>
              <a:t> </a:t>
            </a:r>
            <a:r>
              <a:rPr lang="en-US" sz="2000" b="1" i="0" u="none" strike="noStrike" baseline="0" dirty="0">
                <a:latin typeface="CMR12"/>
              </a:rPr>
              <a:t>= </a:t>
            </a:r>
            <a:r>
              <a:rPr lang="en-US" sz="2000" b="1" i="0" u="none" strike="noStrike" baseline="0" dirty="0">
                <a:latin typeface="CMMI12"/>
              </a:rPr>
              <a:t>o </a:t>
            </a:r>
            <a:r>
              <a:rPr lang="en-US" sz="2000" b="1" i="0" u="none" strike="noStrike" baseline="0" dirty="0">
                <a:latin typeface="CMSY10"/>
              </a:rPr>
              <a:t>・ </a:t>
            </a:r>
            <a:r>
              <a:rPr lang="en-US" sz="2000" b="1" i="0" u="none" strike="noStrike" baseline="0" dirty="0">
                <a:latin typeface="CMR12"/>
              </a:rPr>
              <a:t>tanh(</a:t>
            </a:r>
            <a:r>
              <a:rPr lang="en-US" sz="2000" b="1" i="0" u="none" strike="noStrike" baseline="0" dirty="0">
                <a:latin typeface="CMMI12"/>
              </a:rPr>
              <a:t>C</a:t>
            </a:r>
            <a:r>
              <a:rPr lang="en-US" sz="2000" b="1" i="0" u="none" strike="noStrike" baseline="0" dirty="0">
                <a:latin typeface="CMR12"/>
              </a:rPr>
              <a:t>)</a:t>
            </a:r>
            <a:endParaRPr lang="en-US" sz="2000" b="1" dirty="0"/>
          </a:p>
        </p:txBody>
      </p:sp>
      <p:pic>
        <p:nvPicPr>
          <p:cNvPr id="8" name="Picture 7">
            <a:extLst>
              <a:ext uri="{FF2B5EF4-FFF2-40B4-BE49-F238E27FC236}">
                <a16:creationId xmlns:a16="http://schemas.microsoft.com/office/drawing/2014/main" id="{AAC465D8-B99C-4EBA-A4C7-AB8FE0EF0B4B}"/>
              </a:ext>
            </a:extLst>
          </p:cNvPr>
          <p:cNvPicPr>
            <a:picLocks noChangeAspect="1"/>
          </p:cNvPicPr>
          <p:nvPr/>
        </p:nvPicPr>
        <p:blipFill>
          <a:blip r:embed="rId3"/>
          <a:stretch>
            <a:fillRect/>
          </a:stretch>
        </p:blipFill>
        <p:spPr>
          <a:xfrm>
            <a:off x="6437084" y="3429000"/>
            <a:ext cx="4410691" cy="2486372"/>
          </a:xfrm>
          <a:prstGeom prst="rect">
            <a:avLst/>
          </a:prstGeom>
        </p:spPr>
      </p:pic>
    </p:spTree>
    <p:extLst>
      <p:ext uri="{BB962C8B-B14F-4D97-AF65-F5344CB8AC3E}">
        <p14:creationId xmlns:p14="http://schemas.microsoft.com/office/powerpoint/2010/main" val="3382058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0B71C19-8090-4BB0-88BF-B64CDC766DC7}"/>
                  </a:ext>
                </a:extLst>
              </p:cNvPr>
              <p:cNvSpPr>
                <a:spLocks noGrp="1"/>
              </p:cNvSpPr>
              <p:nvPr>
                <p:ph type="body" sz="half" idx="2"/>
              </p:nvPr>
            </p:nvSpPr>
            <p:spPr>
              <a:xfrm>
                <a:off x="517967" y="940131"/>
                <a:ext cx="11484980" cy="4977737"/>
              </a:xfrm>
            </p:spPr>
            <p:txBody>
              <a:bodyPr>
                <a:normAutofit/>
              </a:bodyPr>
              <a:lstStyle/>
              <a:p>
                <a:pPr algn="l"/>
                <a:endParaRPr lang="ro-RO" sz="2000" b="0" i="0" u="none" strike="noStrike" baseline="0" dirty="0">
                  <a:latin typeface="SFRM1200"/>
                </a:endParaRPr>
              </a:p>
              <a:p>
                <a:pPr algn="l"/>
                <a:r>
                  <a:rPr lang="ro-RO" sz="2000" dirty="0">
                    <a:latin typeface="SFRM1200"/>
                  </a:rPr>
                  <a:t>     </a:t>
                </a:r>
                <a:r>
                  <a:rPr lang="pt-BR" sz="2000" b="0" i="0" u="none" strike="noStrike" baseline="0" dirty="0">
                    <a:latin typeface="SFRM1200"/>
                  </a:rPr>
                  <a:t>Repetăm procedeul folosind noua memorie </a:t>
                </a:r>
                <a:r>
                  <a:rPr lang="ro-RO" sz="2000" b="0" i="0" u="none" strike="noStrike" baseline="0" dirty="0">
                    <a:latin typeface="SFRM1200"/>
                  </a:rPr>
                  <a:t>ș</a:t>
                </a:r>
                <a:r>
                  <a:rPr lang="pt-BR" sz="2000" b="0" i="0" u="none" strike="noStrike" baseline="0" dirty="0">
                    <a:latin typeface="SFRM1200"/>
                  </a:rPr>
                  <a:t>i parcurgând seria de timp. Când</a:t>
                </a:r>
                <a:r>
                  <a:rPr lang="ro-RO" sz="2000" b="0" i="0" u="none" strike="noStrike" baseline="0" dirty="0">
                    <a:latin typeface="SFRM1200"/>
                  </a:rPr>
                  <a:t> </a:t>
                </a:r>
                <a:r>
                  <a:rPr lang="en-US" sz="2000" b="0" i="0" u="none" strike="noStrike" baseline="0" dirty="0" err="1">
                    <a:latin typeface="SFRM1200"/>
                  </a:rPr>
                  <a:t>ajungem</a:t>
                </a:r>
                <a:r>
                  <a:rPr lang="en-US" sz="2000" b="0" i="0" u="none" strike="noStrike" baseline="0" dirty="0">
                    <a:latin typeface="SFRM1200"/>
                  </a:rPr>
                  <a:t> la </a:t>
                </a:r>
                <a:r>
                  <a:rPr lang="en-US" sz="2000" b="0" i="0" u="none" strike="noStrike" baseline="0" dirty="0" err="1">
                    <a:latin typeface="SFRM1200"/>
                  </a:rPr>
                  <a:t>finalul</a:t>
                </a:r>
                <a:r>
                  <a:rPr lang="en-US" sz="2000" b="0" i="0" u="none" strike="noStrike" baseline="0" dirty="0">
                    <a:latin typeface="SFRM1200"/>
                  </a:rPr>
                  <a:t> </a:t>
                </a:r>
                <a:r>
                  <a:rPr lang="en-US" sz="2000" b="0" i="0" u="none" strike="noStrike" baseline="0" dirty="0" err="1">
                    <a:latin typeface="SFRM1200"/>
                  </a:rPr>
                  <a:t>ei</a:t>
                </a:r>
                <a:r>
                  <a:rPr lang="en-US" sz="2000" b="0" i="0" u="none" strike="noStrike" baseline="0" dirty="0">
                    <a:latin typeface="SFRM1200"/>
                  </a:rPr>
                  <a:t>, predict</a:t>
                </a:r>
                <a:r>
                  <a:rPr lang="en-US" sz="2000" b="0" i="0" u="none" strike="noStrike" baseline="0" dirty="0">
                    <a:latin typeface="SFRM0600"/>
                  </a:rPr>
                  <a:t>, </a:t>
                </a:r>
                <a:r>
                  <a:rPr lang="en-US" sz="2000" b="0" i="0" u="none" strike="noStrike" baseline="0" dirty="0" err="1">
                    <a:latin typeface="SFRM1200"/>
                  </a:rPr>
                  <a:t>ia</a:t>
                </a:r>
                <a:r>
                  <a:rPr lang="en-US" sz="2000" b="0" i="0" u="none" strike="noStrike" baseline="0" dirty="0">
                    <a:latin typeface="SFRM1200"/>
                  </a:rPr>
                  <a:t> </a:t>
                </a:r>
                <a:r>
                  <a:rPr lang="en-US" sz="2000" b="0" i="0" u="none" strike="noStrike" baseline="0" dirty="0" err="1">
                    <a:latin typeface="SFRM1200"/>
                  </a:rPr>
                  <a:t>va</a:t>
                </a:r>
                <a:r>
                  <a:rPr lang="en-US" sz="2000" b="0" i="0" u="none" strike="noStrike" baseline="0" dirty="0">
                    <a:latin typeface="SFRM1200"/>
                  </a:rPr>
                  <a:t> fi </a:t>
                </a:r>
                <a:r>
                  <a:rPr lang="en-US" sz="2000" b="0" i="0" u="none" strike="noStrike" baseline="0" dirty="0" err="1">
                    <a:latin typeface="SFRM1200"/>
                  </a:rPr>
                  <a:t>dată</a:t>
                </a:r>
                <a:r>
                  <a:rPr lang="en-US" sz="2000" b="0" i="0" u="none" strike="noStrike" baseline="0" dirty="0">
                    <a:latin typeface="SFRM1200"/>
                  </a:rPr>
                  <a:t> de </a:t>
                </a:r>
                <a:r>
                  <a:rPr lang="en-US" sz="2000" b="0" i="0" u="none" strike="noStrike" baseline="0" dirty="0" err="1">
                    <a:latin typeface="SFRM1200"/>
                  </a:rPr>
                  <a:t>valoarea</a:t>
                </a:r>
                <a:r>
                  <a:rPr lang="en-US" sz="2000" b="0" i="0" u="none" strike="noStrike" baseline="0" dirty="0">
                    <a:latin typeface="SFRM1200"/>
                  </a:rPr>
                  <a:t> </a:t>
                </a:r>
                <a:r>
                  <a:rPr lang="en-US" sz="2000" b="0" i="0" u="none" strike="noStrike" baseline="0" dirty="0" err="1">
                    <a:latin typeface="SFRM1200"/>
                  </a:rPr>
                  <a:t>sau</a:t>
                </a:r>
                <a:r>
                  <a:rPr lang="en-US" sz="2000" b="0" i="0" u="none" strike="noStrike" baseline="0" dirty="0">
                    <a:latin typeface="SFRM1200"/>
                  </a:rPr>
                  <a:t> de </a:t>
                </a:r>
                <a:r>
                  <a:rPr lang="en-US" sz="2000" b="0" i="0" u="none" strike="noStrike" baseline="0" dirty="0" err="1">
                    <a:latin typeface="SFRM1200"/>
                  </a:rPr>
                  <a:t>valorile</a:t>
                </a:r>
                <a:r>
                  <a:rPr lang="en-US" sz="2000" b="0" i="0" u="none" strike="noStrike" baseline="0" dirty="0">
                    <a:latin typeface="SFRM1200"/>
                  </a:rPr>
                  <a:t> din </a:t>
                </a:r>
                <a:r>
                  <a:rPr lang="en-US" sz="2000" b="0" i="0" u="none" strike="noStrike" baseline="0" dirty="0" err="1">
                    <a:latin typeface="CMMI12"/>
                  </a:rPr>
                  <a:t>h</a:t>
                </a:r>
                <a:r>
                  <a:rPr lang="en-US" sz="2000" b="0" i="0" u="none" strike="noStrike" baseline="0" dirty="0" err="1">
                    <a:latin typeface="CMMI8"/>
                  </a:rPr>
                  <a:t>nou</a:t>
                </a:r>
                <a:r>
                  <a:rPr lang="en-US" sz="2000" b="0" i="0" u="none" strike="noStrike" baseline="0" dirty="0">
                    <a:latin typeface="SFRM1200"/>
                  </a:rPr>
                  <a:t>.</a:t>
                </a:r>
                <a:endParaRPr lang="ro-RO" sz="2000" dirty="0">
                  <a:latin typeface="SFRM1200"/>
                </a:endParaRPr>
              </a:p>
              <a:p>
                <a:pPr algn="l"/>
                <a:endParaRPr lang="en-US" sz="2000" b="0" i="0" u="none" strike="noStrike" baseline="0" dirty="0">
                  <a:latin typeface="SFRM1200"/>
                </a:endParaRPr>
              </a:p>
              <a:p>
                <a:pPr algn="l"/>
                <a:r>
                  <a:rPr lang="ro-RO" sz="2000" b="0" i="0" u="none" strike="noStrike" baseline="0" dirty="0">
                    <a:latin typeface="SFRM1200"/>
                  </a:rPr>
                  <a:t>      </a:t>
                </a:r>
                <a:r>
                  <a:rPr lang="en-US" sz="2000" b="0" i="0" u="none" strike="noStrike" baseline="0" dirty="0" err="1">
                    <a:latin typeface="SFRM1200"/>
                  </a:rPr>
                  <a:t>Observăm</a:t>
                </a:r>
                <a:r>
                  <a:rPr lang="en-US" sz="2000" b="0" i="0" u="none" strike="noStrike" baseline="0" dirty="0">
                    <a:latin typeface="SFRM1200"/>
                  </a:rPr>
                  <a:t> </a:t>
                </a:r>
                <a:r>
                  <a:rPr lang="en-US" sz="2000" b="0" i="0" u="none" strike="noStrike" baseline="0" dirty="0" err="1">
                    <a:latin typeface="SFRM1200"/>
                  </a:rPr>
                  <a:t>că</a:t>
                </a:r>
                <a:r>
                  <a:rPr lang="en-US" sz="2000" b="0" i="0" u="none" strike="noStrike" baseline="0" dirty="0">
                    <a:latin typeface="SFRM1200"/>
                  </a:rPr>
                  <a:t> </a:t>
                </a:r>
                <a14:m>
                  <m:oMath xmlns:m="http://schemas.openxmlformats.org/officeDocument/2006/math">
                    <m:f>
                      <m:fPr>
                        <m:ctrlPr>
                          <a:rPr lang="ro-RO" sz="2400" i="1" dirty="0" smtClean="0">
                            <a:latin typeface="Cambria Math" panose="02040503050406030204" pitchFamily="18" charset="0"/>
                          </a:rPr>
                        </m:ctrlPr>
                      </m:fPr>
                      <m:num>
                        <m:r>
                          <a:rPr lang="ro-RO" sz="2400" i="1" dirty="0" smtClean="0">
                            <a:latin typeface="Cambria Math" panose="02040503050406030204" pitchFamily="18" charset="0"/>
                          </a:rPr>
                          <m:t>𝜕</m:t>
                        </m:r>
                        <m:r>
                          <a:rPr lang="ro-RO" sz="2400" b="0" i="1" dirty="0" smtClean="0">
                            <a:latin typeface="Cambria Math" panose="02040503050406030204" pitchFamily="18" charset="0"/>
                          </a:rPr>
                          <m:t>𝐶</m:t>
                        </m:r>
                      </m:num>
                      <m:den>
                        <m:r>
                          <a:rPr lang="ro-RO" sz="2400" i="1" dirty="0" smtClean="0">
                            <a:latin typeface="Cambria Math" panose="02040503050406030204" pitchFamily="18" charset="0"/>
                          </a:rPr>
                          <m:t>𝜕</m:t>
                        </m:r>
                        <m:r>
                          <a:rPr lang="ro-RO" sz="2400" b="0" i="1" dirty="0" smtClean="0">
                            <a:latin typeface="Cambria Math" panose="02040503050406030204" pitchFamily="18" charset="0"/>
                          </a:rPr>
                          <m:t>𝐶𝑣𝑒𝑐h𝑖</m:t>
                        </m:r>
                      </m:den>
                    </m:f>
                    <m:r>
                      <a:rPr lang="ro-RO" sz="2400" i="1" dirty="0">
                        <a:latin typeface="Cambria Math" panose="02040503050406030204" pitchFamily="18" charset="0"/>
                      </a:rPr>
                      <m:t> </m:t>
                    </m:r>
                  </m:oMath>
                </a14:m>
                <a:r>
                  <a:rPr lang="pt-BR" sz="2000" b="0" i="0" u="none" strike="noStrike" baseline="0" dirty="0">
                    <a:latin typeface="CMR12"/>
                  </a:rPr>
                  <a:t>= </a:t>
                </a:r>
                <a:r>
                  <a:rPr lang="pt-BR" sz="2000" b="0" i="0" u="none" strike="noStrike" baseline="0" dirty="0">
                    <a:latin typeface="CMMI12"/>
                  </a:rPr>
                  <a:t>f</a:t>
                </a:r>
                <a:r>
                  <a:rPr lang="pt-BR" sz="2000" b="0" i="0" u="none" strike="noStrike" baseline="0" dirty="0">
                    <a:latin typeface="SFRM1200"/>
                  </a:rPr>
                  <a:t>, </a:t>
                </a:r>
                <a:r>
                  <a:rPr lang="ro-RO" sz="2000" dirty="0">
                    <a:latin typeface="SFRM1200"/>
                  </a:rPr>
                  <a:t>ș</a:t>
                </a:r>
                <a:r>
                  <a:rPr lang="pt-BR" sz="2000" b="0" i="0" u="none" strike="noStrike" baseline="0" dirty="0">
                    <a:latin typeface="SFRM1200"/>
                  </a:rPr>
                  <a:t>i deoarece f este o valoare între 0 şi 1 riscul de a apărea</a:t>
                </a:r>
                <a:r>
                  <a:rPr lang="ro-RO" sz="2000" b="0" i="0" u="none" strike="noStrike" baseline="0" dirty="0">
                    <a:latin typeface="SFRM1200"/>
                  </a:rPr>
                  <a:t> </a:t>
                </a:r>
                <a:r>
                  <a:rPr lang="it-IT" sz="2000" b="0" i="0" u="none" strike="noStrike" baseline="0" dirty="0">
                    <a:latin typeface="SFRM1200"/>
                  </a:rPr>
                  <a:t>problema gradientului este mult mai scăzut.</a:t>
                </a:r>
                <a:endParaRPr lang="en-US" sz="2000" dirty="0"/>
              </a:p>
            </p:txBody>
          </p:sp>
        </mc:Choice>
        <mc:Fallback xmlns="">
          <p:sp>
            <p:nvSpPr>
              <p:cNvPr id="4" name="Text Placeholder 3">
                <a:extLst>
                  <a:ext uri="{FF2B5EF4-FFF2-40B4-BE49-F238E27FC236}">
                    <a16:creationId xmlns:a16="http://schemas.microsoft.com/office/drawing/2014/main" id="{90B71C19-8090-4BB0-88BF-B64CDC766DC7}"/>
                  </a:ext>
                </a:extLst>
              </p:cNvPr>
              <p:cNvSpPr>
                <a:spLocks noGrp="1" noRot="1" noChangeAspect="1" noMove="1" noResize="1" noEditPoints="1" noAdjustHandles="1" noChangeArrowheads="1" noChangeShapeType="1" noTextEdit="1"/>
              </p:cNvSpPr>
              <p:nvPr>
                <p:ph type="body" sz="half" idx="2"/>
              </p:nvPr>
            </p:nvSpPr>
            <p:spPr>
              <a:xfrm>
                <a:off x="517967" y="940131"/>
                <a:ext cx="11484980" cy="4977737"/>
              </a:xfrm>
              <a:blipFill>
                <a:blip r:embed="rId2"/>
                <a:stretch>
                  <a:fillRect l="-584" r="-265"/>
                </a:stretch>
              </a:blipFill>
            </p:spPr>
            <p:txBody>
              <a:bodyPr/>
              <a:lstStyle/>
              <a:p>
                <a:r>
                  <a:rPr lang="en-US">
                    <a:noFill/>
                  </a:rPr>
                  <a:t> </a:t>
                </a:r>
              </a:p>
            </p:txBody>
          </p:sp>
        </mc:Fallback>
      </mc:AlternateContent>
      <p:pic>
        <p:nvPicPr>
          <p:cNvPr id="13" name="Content Placeholder 12">
            <a:extLst>
              <a:ext uri="{FF2B5EF4-FFF2-40B4-BE49-F238E27FC236}">
                <a16:creationId xmlns:a16="http://schemas.microsoft.com/office/drawing/2014/main" id="{27F240F9-4931-4216-BC1E-2A266F9948AB}"/>
              </a:ext>
            </a:extLst>
          </p:cNvPr>
          <p:cNvPicPr>
            <a:picLocks noGrp="1" noChangeAspect="1"/>
          </p:cNvPicPr>
          <p:nvPr>
            <p:ph idx="1"/>
          </p:nvPr>
        </p:nvPicPr>
        <p:blipFill>
          <a:blip r:embed="rId3"/>
          <a:stretch>
            <a:fillRect/>
          </a:stretch>
        </p:blipFill>
        <p:spPr>
          <a:xfrm>
            <a:off x="0" y="3428999"/>
            <a:ext cx="5477639" cy="1276528"/>
          </a:xfrm>
        </p:spPr>
      </p:pic>
    </p:spTree>
    <p:extLst>
      <p:ext uri="{BB962C8B-B14F-4D97-AF65-F5344CB8AC3E}">
        <p14:creationId xmlns:p14="http://schemas.microsoft.com/office/powerpoint/2010/main" val="218811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247A-C0DA-4372-BEAF-DDC46750AE9A}"/>
              </a:ext>
            </a:extLst>
          </p:cNvPr>
          <p:cNvSpPr>
            <a:spLocks noGrp="1"/>
          </p:cNvSpPr>
          <p:nvPr>
            <p:ph type="title"/>
          </p:nvPr>
        </p:nvSpPr>
        <p:spPr/>
        <p:txBody>
          <a:bodyPr>
            <a:normAutofit/>
          </a:bodyPr>
          <a:lstStyle/>
          <a:p>
            <a:r>
              <a:rPr lang="ro-RO" sz="3200" b="1" dirty="0" err="1"/>
              <a:t>Functia</a:t>
            </a:r>
            <a:r>
              <a:rPr lang="ro-RO" sz="3200" b="1" dirty="0"/>
              <a:t> de </a:t>
            </a:r>
            <a:r>
              <a:rPr lang="ro-RO" sz="3200" b="1" dirty="0" err="1"/>
              <a:t>forward</a:t>
            </a:r>
            <a:r>
              <a:rPr lang="ro-RO" sz="3200" b="1" dirty="0"/>
              <a:t> pentru o  unitate LSTM in </a:t>
            </a:r>
            <a:r>
              <a:rPr lang="ro-RO" sz="3200" b="1" dirty="0" err="1"/>
              <a:t>python</a:t>
            </a:r>
            <a:r>
              <a:rPr lang="en-US" sz="3200" b="1" dirty="0"/>
              <a:t> </a:t>
            </a:r>
            <a:r>
              <a:rPr lang="en-US" sz="3200" b="1" dirty="0" err="1"/>
              <a:t>folosind</a:t>
            </a:r>
            <a:r>
              <a:rPr lang="en-US" sz="3200" b="1" dirty="0"/>
              <a:t> </a:t>
            </a:r>
            <a:r>
              <a:rPr lang="en-US" sz="3200" b="1" dirty="0" err="1"/>
              <a:t>pytorch</a:t>
            </a:r>
            <a:endParaRPr lang="en-US" sz="3200" b="1" dirty="0"/>
          </a:p>
        </p:txBody>
      </p:sp>
      <p:pic>
        <p:nvPicPr>
          <p:cNvPr id="5" name="Content Placeholder 4">
            <a:extLst>
              <a:ext uri="{FF2B5EF4-FFF2-40B4-BE49-F238E27FC236}">
                <a16:creationId xmlns:a16="http://schemas.microsoft.com/office/drawing/2014/main" id="{F97A0C72-2058-4B67-A7AA-25762C501BC1}"/>
              </a:ext>
            </a:extLst>
          </p:cNvPr>
          <p:cNvPicPr>
            <a:picLocks noGrp="1" noChangeAspect="1"/>
          </p:cNvPicPr>
          <p:nvPr>
            <p:ph idx="1"/>
          </p:nvPr>
        </p:nvPicPr>
        <p:blipFill>
          <a:blip r:embed="rId2"/>
          <a:stretch>
            <a:fillRect/>
          </a:stretch>
        </p:blipFill>
        <p:spPr>
          <a:xfrm>
            <a:off x="1551007" y="1730415"/>
            <a:ext cx="9583838" cy="5127585"/>
          </a:xfrm>
        </p:spPr>
      </p:pic>
    </p:spTree>
    <p:extLst>
      <p:ext uri="{BB962C8B-B14F-4D97-AF65-F5344CB8AC3E}">
        <p14:creationId xmlns:p14="http://schemas.microsoft.com/office/powerpoint/2010/main" val="4185924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FDC4-698F-4018-A583-49C1B253290E}"/>
              </a:ext>
            </a:extLst>
          </p:cNvPr>
          <p:cNvSpPr>
            <a:spLocks noGrp="1"/>
          </p:cNvSpPr>
          <p:nvPr>
            <p:ph type="title"/>
          </p:nvPr>
        </p:nvSpPr>
        <p:spPr/>
        <p:txBody>
          <a:bodyPr/>
          <a:lstStyle/>
          <a:p>
            <a:r>
              <a:rPr lang="en-US" b="1" dirty="0" err="1"/>
              <a:t>Rezultate</a:t>
            </a:r>
            <a:endParaRPr lang="en-US" b="1" dirty="0"/>
          </a:p>
        </p:txBody>
      </p:sp>
      <p:sp>
        <p:nvSpPr>
          <p:cNvPr id="3" name="Content Placeholder 2">
            <a:extLst>
              <a:ext uri="{FF2B5EF4-FFF2-40B4-BE49-F238E27FC236}">
                <a16:creationId xmlns:a16="http://schemas.microsoft.com/office/drawing/2014/main" id="{1DD7DE10-4DB4-4F0C-87B4-C0356D6137E5}"/>
              </a:ext>
            </a:extLst>
          </p:cNvPr>
          <p:cNvSpPr>
            <a:spLocks noGrp="1"/>
          </p:cNvSpPr>
          <p:nvPr>
            <p:ph idx="1"/>
          </p:nvPr>
        </p:nvSpPr>
        <p:spPr>
          <a:xfrm>
            <a:off x="838199" y="1825625"/>
            <a:ext cx="10748059" cy="4351338"/>
          </a:xfrm>
        </p:spPr>
        <p:txBody>
          <a:bodyPr>
            <a:normAutofit/>
          </a:bodyPr>
          <a:lstStyle/>
          <a:p>
            <a:pPr algn="l"/>
            <a:r>
              <a:rPr lang="ro-RO" sz="2400" dirty="0"/>
              <a:t>   Inițial, am antrenat o rețea neuronală  LSTM  doar pe seria de timp a coloanei ,,</a:t>
            </a:r>
            <a:r>
              <a:rPr lang="ro-RO" sz="2400" dirty="0" err="1"/>
              <a:t>Global_active_power</a:t>
            </a:r>
            <a:r>
              <a:rPr lang="en-US" sz="2400" dirty="0"/>
              <a:t>”</a:t>
            </a:r>
            <a:r>
              <a:rPr lang="ro-RO" sz="2400" dirty="0"/>
              <a:t> din setul de date menționat de mai sus.</a:t>
            </a:r>
          </a:p>
          <a:p>
            <a:pPr algn="l"/>
            <a:r>
              <a:rPr lang="ro-RO" sz="2400" dirty="0"/>
              <a:t>Pentru antrenament</a:t>
            </a:r>
            <a:r>
              <a:rPr lang="en-US" sz="2400" dirty="0"/>
              <a:t> am </a:t>
            </a:r>
            <a:r>
              <a:rPr lang="en-US" sz="2400" dirty="0" err="1"/>
              <a:t>folosit</a:t>
            </a:r>
            <a:r>
              <a:rPr lang="en-US" sz="2400" dirty="0"/>
              <a:t>:</a:t>
            </a:r>
          </a:p>
          <a:p>
            <a:pPr algn="l"/>
            <a:r>
              <a:rPr lang="en-US" sz="2400" dirty="0" err="1"/>
              <a:t>MinMaxScale</a:t>
            </a:r>
            <a:r>
              <a:rPr lang="en-US" sz="2400" dirty="0"/>
              <a:t> </a:t>
            </a:r>
            <a:r>
              <a:rPr lang="en-US" sz="2400" dirty="0" err="1"/>
              <a:t>pentru</a:t>
            </a:r>
            <a:r>
              <a:rPr lang="en-US" sz="2400" dirty="0"/>
              <a:t> date</a:t>
            </a:r>
          </a:p>
          <a:p>
            <a:pPr algn="l"/>
            <a:r>
              <a:rPr lang="en-US" sz="2400" dirty="0" err="1"/>
              <a:t>Secvente</a:t>
            </a:r>
            <a:r>
              <a:rPr lang="en-US" sz="2400" dirty="0"/>
              <a:t> de </a:t>
            </a:r>
            <a:r>
              <a:rPr lang="en-US" sz="2400" dirty="0" err="1"/>
              <a:t>lungime</a:t>
            </a:r>
            <a:r>
              <a:rPr lang="en-US" sz="2400" dirty="0"/>
              <a:t> 48 </a:t>
            </a:r>
            <a:r>
              <a:rPr lang="en-US" sz="2400" dirty="0" err="1"/>
              <a:t>si</a:t>
            </a:r>
            <a:r>
              <a:rPr lang="en-US" sz="2400" dirty="0"/>
              <a:t> un batch de 64</a:t>
            </a:r>
          </a:p>
          <a:p>
            <a:pPr algn="l"/>
            <a:r>
              <a:rPr lang="en-US" sz="2400" dirty="0"/>
              <a:t>3 </a:t>
            </a:r>
            <a:r>
              <a:rPr lang="en-US" sz="2400" dirty="0" err="1"/>
              <a:t>straturi</a:t>
            </a:r>
            <a:r>
              <a:rPr lang="en-US" sz="2400" dirty="0"/>
              <a:t>  </a:t>
            </a:r>
            <a:r>
              <a:rPr lang="en-US" sz="2400" dirty="0" err="1"/>
              <a:t>si</a:t>
            </a:r>
            <a:r>
              <a:rPr lang="en-US" sz="2400" dirty="0"/>
              <a:t> un dropout de 20%</a:t>
            </a:r>
          </a:p>
          <a:p>
            <a:pPr algn="l"/>
            <a:r>
              <a:rPr lang="en-US" sz="2400" dirty="0" err="1"/>
              <a:t>Func</a:t>
            </a:r>
            <a:r>
              <a:rPr lang="ro-RO" sz="2400" dirty="0" err="1"/>
              <a:t>ția</a:t>
            </a:r>
            <a:r>
              <a:rPr lang="ro-RO" sz="2400" dirty="0"/>
              <a:t> de pierdere optimizată este Huber </a:t>
            </a:r>
            <a:r>
              <a:rPr lang="ro-RO" sz="2400" dirty="0" err="1"/>
              <a:t>Loss</a:t>
            </a:r>
            <a:r>
              <a:rPr lang="ro-RO" sz="2400" dirty="0"/>
              <a:t>( un hibrid intre MSE si MAE)</a:t>
            </a:r>
          </a:p>
          <a:p>
            <a:pPr algn="l"/>
            <a:r>
              <a:rPr lang="ro-RO" sz="2400" dirty="0"/>
              <a:t>Optimizatorul folosit este Adam</a:t>
            </a:r>
            <a:endParaRPr lang="en-US" sz="2400" dirty="0"/>
          </a:p>
          <a:p>
            <a:pPr algn="l"/>
            <a:endParaRPr lang="ro-RO" sz="2400" dirty="0"/>
          </a:p>
        </p:txBody>
      </p:sp>
    </p:spTree>
    <p:extLst>
      <p:ext uri="{BB962C8B-B14F-4D97-AF65-F5344CB8AC3E}">
        <p14:creationId xmlns:p14="http://schemas.microsoft.com/office/powerpoint/2010/main" val="1736098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A5118-CC87-4935-A84E-3FCFA1ED8FE3}"/>
              </a:ext>
            </a:extLst>
          </p:cNvPr>
          <p:cNvSpPr>
            <a:spLocks noGrp="1"/>
          </p:cNvSpPr>
          <p:nvPr>
            <p:ph type="title"/>
          </p:nvPr>
        </p:nvSpPr>
        <p:spPr/>
        <p:txBody>
          <a:bodyPr>
            <a:normAutofit/>
          </a:bodyPr>
          <a:lstStyle/>
          <a:p>
            <a:pPr algn="l"/>
            <a:r>
              <a:rPr lang="ro-RO" dirty="0"/>
              <a:t>Rezultate fără exogene</a:t>
            </a:r>
            <a:br>
              <a:rPr lang="ro-RO" dirty="0"/>
            </a:br>
            <a:r>
              <a:rPr lang="en-US" sz="1800" b="0" i="0" u="none" strike="noStrike" baseline="0" dirty="0">
                <a:latin typeface="SFRM1200"/>
              </a:rPr>
              <a:t>Test</a:t>
            </a:r>
            <a:r>
              <a:rPr lang="ro-RO" sz="1800" b="0" i="0" u="none" strike="noStrike" baseline="0" dirty="0">
                <a:latin typeface="SFRM1200"/>
              </a:rPr>
              <a:t> </a:t>
            </a:r>
            <a:r>
              <a:rPr lang="en-US" sz="1800" b="0" i="0" u="none" strike="noStrike" baseline="0" dirty="0">
                <a:latin typeface="SFRM1200"/>
              </a:rPr>
              <a:t>Loss (MSE): 0.003395, Test RMSE: 0.058268.</a:t>
            </a:r>
            <a:endParaRPr lang="en-US" dirty="0"/>
          </a:p>
        </p:txBody>
      </p:sp>
      <p:pic>
        <p:nvPicPr>
          <p:cNvPr id="5" name="Content Placeholder 4">
            <a:extLst>
              <a:ext uri="{FF2B5EF4-FFF2-40B4-BE49-F238E27FC236}">
                <a16:creationId xmlns:a16="http://schemas.microsoft.com/office/drawing/2014/main" id="{60FC3CD2-D273-4181-AB7A-42DCDA25AB3A}"/>
              </a:ext>
            </a:extLst>
          </p:cNvPr>
          <p:cNvPicPr>
            <a:picLocks noGrp="1" noChangeAspect="1"/>
          </p:cNvPicPr>
          <p:nvPr>
            <p:ph idx="1"/>
          </p:nvPr>
        </p:nvPicPr>
        <p:blipFill>
          <a:blip r:embed="rId2"/>
          <a:stretch>
            <a:fillRect/>
          </a:stretch>
        </p:blipFill>
        <p:spPr>
          <a:xfrm>
            <a:off x="2133047" y="2615213"/>
            <a:ext cx="7925906" cy="2772162"/>
          </a:xfrm>
        </p:spPr>
      </p:pic>
    </p:spTree>
    <p:extLst>
      <p:ext uri="{BB962C8B-B14F-4D97-AF65-F5344CB8AC3E}">
        <p14:creationId xmlns:p14="http://schemas.microsoft.com/office/powerpoint/2010/main" val="1203172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234D-6EFD-4046-990E-D2C867E6FCA0}"/>
              </a:ext>
            </a:extLst>
          </p:cNvPr>
          <p:cNvSpPr>
            <a:spLocks noGrp="1"/>
          </p:cNvSpPr>
          <p:nvPr>
            <p:ph type="title"/>
          </p:nvPr>
        </p:nvSpPr>
        <p:spPr/>
        <p:txBody>
          <a:bodyPr/>
          <a:lstStyle/>
          <a:p>
            <a:r>
              <a:rPr lang="ro-RO" dirty="0"/>
              <a:t>Rezultate cu date exogene</a:t>
            </a:r>
            <a:br>
              <a:rPr lang="ro-RO" dirty="0"/>
            </a:br>
            <a:r>
              <a:rPr lang="en-US" sz="1800" b="0" i="0" u="none" strike="noStrike" baseline="0" dirty="0">
                <a:latin typeface="SFRM1200"/>
              </a:rPr>
              <a:t>Test Loss (MSE): 0.003182, Test RMSE: 0.056405.</a:t>
            </a:r>
            <a:endParaRPr lang="en-US" dirty="0"/>
          </a:p>
        </p:txBody>
      </p:sp>
      <p:pic>
        <p:nvPicPr>
          <p:cNvPr id="5" name="Content Placeholder 4">
            <a:extLst>
              <a:ext uri="{FF2B5EF4-FFF2-40B4-BE49-F238E27FC236}">
                <a16:creationId xmlns:a16="http://schemas.microsoft.com/office/drawing/2014/main" id="{98FA4DCF-63E7-4F3B-AD5D-255793FCE550}"/>
              </a:ext>
            </a:extLst>
          </p:cNvPr>
          <p:cNvPicPr>
            <a:picLocks noGrp="1" noChangeAspect="1"/>
          </p:cNvPicPr>
          <p:nvPr>
            <p:ph idx="1"/>
          </p:nvPr>
        </p:nvPicPr>
        <p:blipFill>
          <a:blip r:embed="rId2"/>
          <a:stretch>
            <a:fillRect/>
          </a:stretch>
        </p:blipFill>
        <p:spPr>
          <a:xfrm>
            <a:off x="2269661" y="1825625"/>
            <a:ext cx="7652678" cy="4351338"/>
          </a:xfrm>
        </p:spPr>
      </p:pic>
    </p:spTree>
    <p:extLst>
      <p:ext uri="{BB962C8B-B14F-4D97-AF65-F5344CB8AC3E}">
        <p14:creationId xmlns:p14="http://schemas.microsoft.com/office/powerpoint/2010/main" val="3567142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88C-B6E9-44CB-A546-70A8E046661D}"/>
              </a:ext>
            </a:extLst>
          </p:cNvPr>
          <p:cNvSpPr>
            <a:spLocks noGrp="1"/>
          </p:cNvSpPr>
          <p:nvPr>
            <p:ph type="title"/>
          </p:nvPr>
        </p:nvSpPr>
        <p:spPr/>
        <p:txBody>
          <a:bodyPr/>
          <a:lstStyle/>
          <a:p>
            <a:r>
              <a:rPr lang="ro-RO" b="1" dirty="0"/>
              <a:t>Alte modele de predicție</a:t>
            </a:r>
            <a:br>
              <a:rPr lang="ro-RO" dirty="0"/>
            </a:br>
            <a:r>
              <a:rPr lang="ro-RO" b="1" u="sng" dirty="0" err="1"/>
              <a:t>Transformer</a:t>
            </a:r>
            <a:endParaRPr lang="en-US" b="1" u="sng" dirty="0"/>
          </a:p>
        </p:txBody>
      </p:sp>
      <p:sp>
        <p:nvSpPr>
          <p:cNvPr id="3" name="Content Placeholder 2">
            <a:extLst>
              <a:ext uri="{FF2B5EF4-FFF2-40B4-BE49-F238E27FC236}">
                <a16:creationId xmlns:a16="http://schemas.microsoft.com/office/drawing/2014/main" id="{87664D9C-AF68-4955-BEE6-539AF2E766AB}"/>
              </a:ext>
            </a:extLst>
          </p:cNvPr>
          <p:cNvSpPr>
            <a:spLocks noGrp="1"/>
          </p:cNvSpPr>
          <p:nvPr>
            <p:ph idx="1"/>
          </p:nvPr>
        </p:nvSpPr>
        <p:spPr/>
        <p:txBody>
          <a:bodyPr/>
          <a:lstStyle/>
          <a:p>
            <a:pPr algn="l"/>
            <a:r>
              <a:rPr lang="ro-RO" dirty="0"/>
              <a:t>Chiar dacă rețelele neuronale LSTM sunt mult mai bune in ceea ce privește memoria pe termen lung acestea sunt tot supuse riscului </a:t>
            </a:r>
            <a:r>
              <a:rPr lang="ro-RO" dirty="0" err="1"/>
              <a:t>riscului</a:t>
            </a:r>
            <a:r>
              <a:rPr lang="ro-RO" dirty="0"/>
              <a:t> problemei gradientului. </a:t>
            </a:r>
          </a:p>
          <a:p>
            <a:pPr algn="l"/>
            <a:r>
              <a:rPr lang="ro-RO" dirty="0"/>
              <a:t>La </a:t>
            </a:r>
            <a:r>
              <a:rPr lang="ro-RO" dirty="0" err="1"/>
              <a:t>transformeri</a:t>
            </a:r>
            <a:r>
              <a:rPr lang="ro-RO" dirty="0"/>
              <a:t> în schimb aceasta problemă dispare de tot deoarece între fiecare două poziții din secvență, fie ele cuvinte, </a:t>
            </a:r>
            <a:r>
              <a:rPr lang="ro-RO" dirty="0" err="1"/>
              <a:t>tokeni</a:t>
            </a:r>
            <a:r>
              <a:rPr lang="ro-RO" dirty="0"/>
              <a:t> sau numere dintr-o serie de timp, ,,distanța</a:t>
            </a:r>
            <a:r>
              <a:rPr lang="en-US" dirty="0"/>
              <a:t>” </a:t>
            </a:r>
            <a:r>
              <a:rPr lang="en-US" dirty="0" err="1"/>
              <a:t>este</a:t>
            </a:r>
            <a:r>
              <a:rPr lang="en-US" dirty="0"/>
              <a:t> 1.</a:t>
            </a:r>
            <a:r>
              <a:rPr lang="ro-RO" dirty="0"/>
              <a:t> Cu alte cuvinte un </a:t>
            </a:r>
            <a:r>
              <a:rPr lang="ro-RO" dirty="0" err="1"/>
              <a:t>transformer</a:t>
            </a:r>
            <a:r>
              <a:rPr lang="ro-RO" dirty="0"/>
              <a:t> se poate uita oricât de mult in spate, fără ca acesta să piardă context.</a:t>
            </a:r>
          </a:p>
          <a:p>
            <a:pPr algn="l"/>
            <a:r>
              <a:rPr lang="ro-RO" dirty="0"/>
              <a:t>Un alt avantaj important al </a:t>
            </a:r>
            <a:r>
              <a:rPr lang="ro-RO" dirty="0" err="1"/>
              <a:t>transformerilor</a:t>
            </a:r>
            <a:r>
              <a:rPr lang="ro-RO" dirty="0"/>
              <a:t> față de RNN sau LSTM este paralelizarea.</a:t>
            </a:r>
          </a:p>
        </p:txBody>
      </p:sp>
    </p:spTree>
    <p:extLst>
      <p:ext uri="{BB962C8B-B14F-4D97-AF65-F5344CB8AC3E}">
        <p14:creationId xmlns:p14="http://schemas.microsoft.com/office/powerpoint/2010/main" val="191421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032D4-8B50-4A9B-B8B3-10F754382725}"/>
              </a:ext>
            </a:extLst>
          </p:cNvPr>
          <p:cNvSpPr>
            <a:spLocks noGrp="1"/>
          </p:cNvSpPr>
          <p:nvPr>
            <p:ph type="title"/>
          </p:nvPr>
        </p:nvSpPr>
        <p:spPr/>
        <p:txBody>
          <a:bodyPr/>
          <a:lstStyle/>
          <a:p>
            <a:r>
              <a:rPr lang="ro-RO" dirty="0"/>
              <a:t>Rezultat </a:t>
            </a:r>
            <a:r>
              <a:rPr lang="ro-RO" dirty="0" err="1"/>
              <a:t>Tranformer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CDD448-6C88-40DD-835B-FDCB1EDCFD44}"/>
                  </a:ext>
                </a:extLst>
              </p:cNvPr>
              <p:cNvSpPr>
                <a:spLocks noGrp="1"/>
              </p:cNvSpPr>
              <p:nvPr>
                <p:ph idx="1"/>
              </p:nvPr>
            </p:nvSpPr>
            <p:spPr/>
            <p:txBody>
              <a:bodyPr/>
              <a:lstStyle/>
              <a:p>
                <a:r>
                  <a:rPr lang="en-US" dirty="0"/>
                  <a:t>Am </a:t>
                </a:r>
                <a:r>
                  <a:rPr lang="en-US" dirty="0" err="1"/>
                  <a:t>antrenat</a:t>
                </a:r>
                <a:r>
                  <a:rPr lang="en-US" dirty="0"/>
                  <a:t> un transformer cu </a:t>
                </a:r>
                <a:r>
                  <a:rPr lang="en-US" dirty="0" err="1"/>
                  <a:t>următorii</a:t>
                </a:r>
                <a:r>
                  <a:rPr lang="en-US" dirty="0"/>
                  <a:t> </a:t>
                </a:r>
                <a:r>
                  <a:rPr lang="en-US" dirty="0" err="1"/>
                  <a:t>hiperparametri</a:t>
                </a:r>
                <a:r>
                  <a:rPr lang="en-US" dirty="0"/>
                  <a:t>: </a:t>
                </a:r>
                <a:r>
                  <a:rPr lang="en-US" dirty="0" err="1"/>
                  <a:t>Lungimea</a:t>
                </a:r>
                <a:r>
                  <a:rPr lang="en-US" dirty="0"/>
                  <a:t> </a:t>
                </a:r>
                <a:r>
                  <a:rPr lang="en-US" dirty="0" err="1"/>
                  <a:t>secvenței</a:t>
                </a:r>
                <a:r>
                  <a:rPr lang="en-US" dirty="0"/>
                  <a:t>: 24, Stare </a:t>
                </a:r>
                <a:r>
                  <a:rPr lang="en-US" dirty="0" err="1"/>
                  <a:t>ascunsă</a:t>
                </a:r>
                <a:r>
                  <a:rPr lang="en-US" dirty="0"/>
                  <a:t>: 64, </a:t>
                </a:r>
                <a:r>
                  <a:rPr lang="en-US" dirty="0" err="1"/>
                  <a:t>Straturi</a:t>
                </a:r>
                <a:r>
                  <a:rPr lang="en-US" dirty="0"/>
                  <a:t>: 2, </a:t>
                </a:r>
                <a:r>
                  <a:rPr lang="en-US" dirty="0" err="1"/>
                  <a:t>Capete</a:t>
                </a:r>
                <a:r>
                  <a:rPr lang="en-US" dirty="0"/>
                  <a:t>: 4, </a:t>
                </a:r>
                <a:r>
                  <a:rPr lang="en-US" dirty="0" err="1"/>
                  <a:t>Epoci</a:t>
                </a:r>
                <a:r>
                  <a:rPr lang="en-US" dirty="0"/>
                  <a:t>: 50, </a:t>
                </a:r>
                <a:r>
                  <a:rPr lang="en-US" dirty="0" err="1"/>
                  <a:t>Normalizare</a:t>
                </a:r>
                <a:r>
                  <a:rPr lang="en-US" dirty="0"/>
                  <a:t>: </a:t>
                </a:r>
                <a:r>
                  <a:rPr lang="en-US" dirty="0" err="1"/>
                  <a:t>StandardScaler</a:t>
                </a:r>
                <a:r>
                  <a:rPr lang="en-US" dirty="0"/>
                  <a:t>, Rata de </a:t>
                </a:r>
                <a:r>
                  <a:rPr lang="en-US" dirty="0" err="1"/>
                  <a:t>învățare</a:t>
                </a:r>
                <a:r>
                  <a:rPr lang="en-US" dirty="0"/>
                  <a:t>: </a:t>
                </a:r>
                <a:r>
                  <a:rPr lang="ro-RO" dirty="0"/>
                  <a:t>5 *</a:t>
                </a:r>
                <a14:m>
                  <m:oMath xmlns:m="http://schemas.openxmlformats.org/officeDocument/2006/math">
                    <m:sSup>
                      <m:sSupPr>
                        <m:ctrlPr>
                          <a:rPr lang="en-US" i="1" smtClean="0">
                            <a:latin typeface="Cambria Math" panose="02040503050406030204" pitchFamily="18" charset="0"/>
                          </a:rPr>
                        </m:ctrlPr>
                      </m:sSupPr>
                      <m:e>
                        <m:r>
                          <a:rPr lang="ro-RO" b="0" i="1" smtClean="0">
                            <a:latin typeface="Cambria Math" panose="02040503050406030204" pitchFamily="18" charset="0"/>
                          </a:rPr>
                          <m:t>10</m:t>
                        </m:r>
                      </m:e>
                      <m:sup>
                        <m:r>
                          <a:rPr lang="ro-RO" b="0" i="1" smtClean="0">
                            <a:latin typeface="Cambria Math" panose="02040503050406030204" pitchFamily="18" charset="0"/>
                          </a:rPr>
                          <m:t>−4</m:t>
                        </m:r>
                      </m:sup>
                    </m:sSup>
                  </m:oMath>
                </a14:m>
                <a:r>
                  <a:rPr lang="en-US" dirty="0"/>
                  <a:t>, </a:t>
                </a:r>
                <a:r>
                  <a:rPr lang="en-US" dirty="0" err="1"/>
                  <a:t>Funcție</a:t>
                </a:r>
                <a:r>
                  <a:rPr lang="en-US" dirty="0"/>
                  <a:t> de </a:t>
                </a:r>
                <a:r>
                  <a:rPr lang="en-US" dirty="0" err="1"/>
                  <a:t>optimizat</a:t>
                </a:r>
                <a:r>
                  <a:rPr lang="en-US" dirty="0"/>
                  <a:t>: Mean Squared Error, </a:t>
                </a:r>
                <a:r>
                  <a:rPr lang="en-US" dirty="0" err="1"/>
                  <a:t>Optimizator</a:t>
                </a:r>
                <a:r>
                  <a:rPr lang="en-US" dirty="0"/>
                  <a:t>: Adam.</a:t>
                </a:r>
                <a:endParaRPr lang="ro-RO" dirty="0"/>
              </a:p>
              <a:p>
                <a:endParaRPr lang="ro-RO" dirty="0"/>
              </a:p>
              <a:p>
                <a:endParaRPr lang="en-US" dirty="0"/>
              </a:p>
            </p:txBody>
          </p:sp>
        </mc:Choice>
        <mc:Fallback xmlns="">
          <p:sp>
            <p:nvSpPr>
              <p:cNvPr id="3" name="Content Placeholder 2">
                <a:extLst>
                  <a:ext uri="{FF2B5EF4-FFF2-40B4-BE49-F238E27FC236}">
                    <a16:creationId xmlns:a16="http://schemas.microsoft.com/office/drawing/2014/main" id="{40CDD448-6C88-40DD-835B-FDCB1EDCFD4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FF8BF22-B2AC-41AA-9324-5363EADAA69E}"/>
              </a:ext>
            </a:extLst>
          </p:cNvPr>
          <p:cNvPicPr>
            <a:picLocks noChangeAspect="1"/>
          </p:cNvPicPr>
          <p:nvPr/>
        </p:nvPicPr>
        <p:blipFill>
          <a:blip r:embed="rId3"/>
          <a:stretch>
            <a:fillRect/>
          </a:stretch>
        </p:blipFill>
        <p:spPr>
          <a:xfrm>
            <a:off x="680440" y="3504732"/>
            <a:ext cx="6103622" cy="2988143"/>
          </a:xfrm>
          <a:prstGeom prst="rect">
            <a:avLst/>
          </a:prstGeom>
        </p:spPr>
      </p:pic>
      <p:graphicFrame>
        <p:nvGraphicFramePr>
          <p:cNvPr id="4" name="Object 3">
            <a:extLst>
              <a:ext uri="{FF2B5EF4-FFF2-40B4-BE49-F238E27FC236}">
                <a16:creationId xmlns:a16="http://schemas.microsoft.com/office/drawing/2014/main" id="{C4205C32-40AA-4464-4A55-B6D2D3443379}"/>
              </a:ext>
            </a:extLst>
          </p:cNvPr>
          <p:cNvGraphicFramePr>
            <a:graphicFrameLocks noChangeAspect="1"/>
          </p:cNvGraphicFramePr>
          <p:nvPr>
            <p:extLst>
              <p:ext uri="{D42A27DB-BD31-4B8C-83A1-F6EECF244321}">
                <p14:modId xmlns:p14="http://schemas.microsoft.com/office/powerpoint/2010/main" val="2422896687"/>
              </p:ext>
            </p:extLst>
          </p:nvPr>
        </p:nvGraphicFramePr>
        <p:xfrm>
          <a:off x="5724144" y="3551949"/>
          <a:ext cx="5787416" cy="2893708"/>
        </p:xfrm>
        <a:graphic>
          <a:graphicData uri="http://schemas.openxmlformats.org/presentationml/2006/ole">
            <mc:AlternateContent xmlns:mc="http://schemas.openxmlformats.org/markup-compatibility/2006">
              <mc:Choice xmlns:v="urn:schemas-microsoft-com:vml" Requires="v">
                <p:oleObj name="Acrobat Document" r:id="rId4" imgW="5486400" imgH="2743200" progId="Acrobat.Document.DC">
                  <p:embed/>
                </p:oleObj>
              </mc:Choice>
              <mc:Fallback>
                <p:oleObj name="Acrobat Document" r:id="rId4" imgW="5486400" imgH="2743200" progId="Acrobat.Document.DC">
                  <p:embed/>
                  <p:pic>
                    <p:nvPicPr>
                      <p:cNvPr id="4" name="Object 3">
                        <a:extLst>
                          <a:ext uri="{FF2B5EF4-FFF2-40B4-BE49-F238E27FC236}">
                            <a16:creationId xmlns:a16="http://schemas.microsoft.com/office/drawing/2014/main" id="{C4205C32-40AA-4464-4A55-B6D2D3443379}"/>
                          </a:ext>
                        </a:extLst>
                      </p:cNvPr>
                      <p:cNvPicPr/>
                      <p:nvPr/>
                    </p:nvPicPr>
                    <p:blipFill>
                      <a:blip r:embed="rId5"/>
                      <a:stretch>
                        <a:fillRect/>
                      </a:stretch>
                    </p:blipFill>
                    <p:spPr>
                      <a:xfrm>
                        <a:off x="5724144" y="3551949"/>
                        <a:ext cx="5787416" cy="2893708"/>
                      </a:xfrm>
                      <a:prstGeom prst="rect">
                        <a:avLst/>
                      </a:prstGeom>
                    </p:spPr>
                  </p:pic>
                </p:oleObj>
              </mc:Fallback>
            </mc:AlternateContent>
          </a:graphicData>
        </a:graphic>
      </p:graphicFrame>
    </p:spTree>
    <p:extLst>
      <p:ext uri="{BB962C8B-B14F-4D97-AF65-F5344CB8AC3E}">
        <p14:creationId xmlns:p14="http://schemas.microsoft.com/office/powerpoint/2010/main" val="493744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5F32-D58A-4E92-9A10-8DD233FBD751}"/>
              </a:ext>
            </a:extLst>
          </p:cNvPr>
          <p:cNvSpPr>
            <a:spLocks noGrp="1"/>
          </p:cNvSpPr>
          <p:nvPr>
            <p:ph type="title"/>
          </p:nvPr>
        </p:nvSpPr>
        <p:spPr/>
        <p:txBody>
          <a:bodyPr/>
          <a:lstStyle/>
          <a:p>
            <a:r>
              <a:rPr lang="ro-RO" dirty="0"/>
              <a:t>ARMA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FDBACC-6643-4A8E-859A-DA1120D926F6}"/>
                  </a:ext>
                </a:extLst>
              </p:cNvPr>
              <p:cNvSpPr>
                <a:spLocks noGrp="1"/>
              </p:cNvSpPr>
              <p:nvPr>
                <p:ph idx="1"/>
              </p:nvPr>
            </p:nvSpPr>
            <p:spPr>
              <a:xfrm>
                <a:off x="838200" y="1481559"/>
                <a:ext cx="10515600" cy="4695404"/>
              </a:xfrm>
            </p:spPr>
            <p:txBody>
              <a:bodyPr>
                <a:normAutofit/>
              </a:bodyPr>
              <a:lstStyle/>
              <a:p>
                <a:r>
                  <a:rPr lang="ro-RO" dirty="0"/>
                  <a:t>AR - Modelul AR, sau Autoregresiv, este după cum îi spune și numele un model de regresie adaptat la serii de timp. Ideea de bază este că trecutul influențează viitorul, iar acest lucru este modelat matematic de o combinație liniară a ultimelor p valori din trecut, unde p este dimensiunea modelului. Formula matematică este următoarea: </a:t>
                </a:r>
              </a:p>
              <a:p>
                <a14:m>
                  <m:oMath xmlns:m="http://schemas.openxmlformats.org/officeDocument/2006/math">
                    <m:acc>
                      <m:accPr>
                        <m:chr m:val="̂"/>
                        <m:ctrlPr>
                          <a:rPr lang="ro-RO" i="1" dirty="0" smtClean="0">
                            <a:latin typeface="Cambria Math" panose="02040503050406030204" pitchFamily="18" charset="0"/>
                          </a:rPr>
                        </m:ctrlPr>
                      </m:accPr>
                      <m:e>
                        <m:r>
                          <a:rPr lang="ro-RO" b="0" i="1" dirty="0" smtClean="0">
                            <a:latin typeface="Cambria Math" panose="02040503050406030204" pitchFamily="18" charset="0"/>
                          </a:rPr>
                          <m:t>𝑦</m:t>
                        </m:r>
                        <m:r>
                          <a:rPr lang="ro-RO" b="0" i="1" dirty="0" smtClean="0">
                            <a:latin typeface="Cambria Math" panose="02040503050406030204" pitchFamily="18" charset="0"/>
                          </a:rPr>
                          <m:t>_</m:t>
                        </m:r>
                        <m:r>
                          <a:rPr lang="ro-RO" b="0" i="1" dirty="0" smtClean="0">
                            <a:latin typeface="Cambria Math" panose="02040503050406030204" pitchFamily="18" charset="0"/>
                          </a:rPr>
                          <m:t>𝑖</m:t>
                        </m:r>
                      </m:e>
                    </m:acc>
                    <m:r>
                      <a:rPr lang="ro-RO" i="1" dirty="0" smtClean="0">
                        <a:latin typeface="Cambria Math" panose="02040503050406030204" pitchFamily="18" charset="0"/>
                      </a:rPr>
                      <m:t> </m:t>
                    </m:r>
                  </m:oMath>
                </a14:m>
                <a:r>
                  <a:rPr lang="ro-RO" dirty="0"/>
                  <a:t>= </a:t>
                </a:r>
                <a14:m>
                  <m:oMath xmlns:m="http://schemas.openxmlformats.org/officeDocument/2006/math">
                    <m:sSup>
                      <m:sSupPr>
                        <m:ctrlPr>
                          <a:rPr lang="ro-RO" i="1" smtClean="0">
                            <a:latin typeface="Cambria Math" panose="02040503050406030204" pitchFamily="18" charset="0"/>
                          </a:rPr>
                        </m:ctrlPr>
                      </m:sSupPr>
                      <m:e>
                        <m:r>
                          <a:rPr lang="ro-RO" b="0" i="1" smtClean="0">
                            <a:latin typeface="Cambria Math" panose="02040503050406030204" pitchFamily="18" charset="0"/>
                          </a:rPr>
                          <m:t>𝑋</m:t>
                        </m:r>
                      </m:e>
                      <m:sup>
                        <m:r>
                          <a:rPr lang="ro-RO" b="0" i="1" smtClean="0">
                            <a:latin typeface="Cambria Math" panose="02040503050406030204" pitchFamily="18" charset="0"/>
                          </a:rPr>
                          <m:t>𝑇</m:t>
                        </m:r>
                      </m:sup>
                    </m:sSup>
                  </m:oMath>
                </a14:m>
                <a:r>
                  <a:rPr lang="ro-RO" dirty="0"/>
                  <a:t>y, unde X reprezintă cele p ponderi ale modelului, iar y reprezintă ultimele p valori înainte de cea de pe poziția i</a:t>
                </a:r>
              </a:p>
              <a:p>
                <a:r>
                  <a:rPr lang="ro-RO" dirty="0"/>
                  <a:t>ARMA  - Modelul ARMA este combinația dintre AR și MA. Vom avea atât parametri autoregresivi, cât și parametri de mediere (</a:t>
                </a:r>
                <a:r>
                  <a:rPr lang="ro-RO" dirty="0" err="1"/>
                  <a:t>Moving</a:t>
                </a:r>
                <a:r>
                  <a:rPr lang="ro-RO" dirty="0"/>
                  <a:t> </a:t>
                </a:r>
                <a:r>
                  <a:rPr lang="ro-RO" dirty="0" err="1"/>
                  <a:t>Average</a:t>
                </a:r>
                <a:r>
                  <a:rPr lang="ro-RO" dirty="0"/>
                  <a:t>). Din acest motiv, minimizarea erorii acestor parametri este mult mai complicată.”</a:t>
                </a:r>
                <a:endParaRPr lang="en-US" dirty="0"/>
              </a:p>
            </p:txBody>
          </p:sp>
        </mc:Choice>
        <mc:Fallback xmlns="">
          <p:sp>
            <p:nvSpPr>
              <p:cNvPr id="3" name="Content Placeholder 2">
                <a:extLst>
                  <a:ext uri="{FF2B5EF4-FFF2-40B4-BE49-F238E27FC236}">
                    <a16:creationId xmlns:a16="http://schemas.microsoft.com/office/drawing/2014/main" id="{ECFDBACC-6643-4A8E-859A-DA1120D926F6}"/>
                  </a:ext>
                </a:extLst>
              </p:cNvPr>
              <p:cNvSpPr>
                <a:spLocks noGrp="1" noRot="1" noChangeAspect="1" noMove="1" noResize="1" noEditPoints="1" noAdjustHandles="1" noChangeArrowheads="1" noChangeShapeType="1" noTextEdit="1"/>
              </p:cNvSpPr>
              <p:nvPr>
                <p:ph idx="1"/>
              </p:nvPr>
            </p:nvSpPr>
            <p:spPr>
              <a:xfrm>
                <a:off x="838200" y="1481559"/>
                <a:ext cx="10515600" cy="4695404"/>
              </a:xfrm>
              <a:blipFill>
                <a:blip r:embed="rId2"/>
                <a:stretch>
                  <a:fillRect l="-1043" t="-2078" b="-1169"/>
                </a:stretch>
              </a:blipFill>
            </p:spPr>
            <p:txBody>
              <a:bodyPr/>
              <a:lstStyle/>
              <a:p>
                <a:r>
                  <a:rPr lang="en-US">
                    <a:noFill/>
                  </a:rPr>
                  <a:t> </a:t>
                </a:r>
              </a:p>
            </p:txBody>
          </p:sp>
        </mc:Fallback>
      </mc:AlternateContent>
    </p:spTree>
    <p:extLst>
      <p:ext uri="{BB962C8B-B14F-4D97-AF65-F5344CB8AC3E}">
        <p14:creationId xmlns:p14="http://schemas.microsoft.com/office/powerpoint/2010/main" val="792262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5411-66B5-40FA-9BC8-A619209FC682}"/>
              </a:ext>
            </a:extLst>
          </p:cNvPr>
          <p:cNvSpPr>
            <a:spLocks noGrp="1"/>
          </p:cNvSpPr>
          <p:nvPr>
            <p:ph type="title"/>
          </p:nvPr>
        </p:nvSpPr>
        <p:spPr>
          <a:xfrm>
            <a:off x="838200" y="162046"/>
            <a:ext cx="10515600" cy="1285574"/>
          </a:xfrm>
        </p:spPr>
        <p:txBody>
          <a:bodyPr/>
          <a:lstStyle/>
          <a:p>
            <a:r>
              <a:rPr lang="ro-RO" dirty="0"/>
              <a:t>Rezultat ARMA</a:t>
            </a:r>
            <a:endParaRPr lang="en-US" dirty="0"/>
          </a:p>
        </p:txBody>
      </p:sp>
      <p:sp>
        <p:nvSpPr>
          <p:cNvPr id="3" name="Content Placeholder 2">
            <a:extLst>
              <a:ext uri="{FF2B5EF4-FFF2-40B4-BE49-F238E27FC236}">
                <a16:creationId xmlns:a16="http://schemas.microsoft.com/office/drawing/2014/main" id="{AB3CA559-A08C-4946-AC7E-712381E0058A}"/>
              </a:ext>
            </a:extLst>
          </p:cNvPr>
          <p:cNvSpPr>
            <a:spLocks noGrp="1"/>
          </p:cNvSpPr>
          <p:nvPr>
            <p:ph idx="1"/>
          </p:nvPr>
        </p:nvSpPr>
        <p:spPr>
          <a:xfrm>
            <a:off x="838200" y="1447620"/>
            <a:ext cx="10515600" cy="4351338"/>
          </a:xfrm>
        </p:spPr>
        <p:txBody>
          <a:bodyPr/>
          <a:lstStyle/>
          <a:p>
            <a:r>
              <a:rPr lang="ro-RO" dirty="0"/>
              <a:t>        </a:t>
            </a:r>
            <a:r>
              <a:rPr lang="en-US" sz="2000" dirty="0" err="1"/>
              <a:t>În</a:t>
            </a:r>
            <a:r>
              <a:rPr lang="en-US" sz="2000" dirty="0"/>
              <a:t> </a:t>
            </a:r>
            <a:r>
              <a:rPr lang="en-US" sz="2000" dirty="0" err="1"/>
              <a:t>urma</a:t>
            </a:r>
            <a:r>
              <a:rPr lang="en-US" sz="2000" dirty="0"/>
              <a:t> </a:t>
            </a:r>
            <a:r>
              <a:rPr lang="en-US" sz="2000" dirty="0" err="1"/>
              <a:t>antrenării</a:t>
            </a:r>
            <a:r>
              <a:rPr lang="en-US" sz="2000" dirty="0"/>
              <a:t> </a:t>
            </a:r>
            <a:r>
              <a:rPr lang="en-US" sz="2000" dirty="0" err="1"/>
              <a:t>modelului</a:t>
            </a:r>
            <a:r>
              <a:rPr lang="en-US" sz="2000" dirty="0"/>
              <a:t> </a:t>
            </a:r>
            <a:r>
              <a:rPr lang="en-US" sz="2000" dirty="0" err="1"/>
              <a:t>sezonal</a:t>
            </a:r>
            <a:r>
              <a:rPr lang="en-US" sz="2000" dirty="0"/>
              <a:t> ARMA, care se </a:t>
            </a:r>
            <a:r>
              <a:rPr lang="en-US" sz="2000" dirty="0" err="1"/>
              <a:t>uită</a:t>
            </a:r>
            <a:r>
              <a:rPr lang="en-US" sz="2000" dirty="0"/>
              <a:t> la </a:t>
            </a:r>
            <a:r>
              <a:rPr lang="en-US" sz="2000" dirty="0" err="1"/>
              <a:t>secvențe</a:t>
            </a:r>
            <a:r>
              <a:rPr lang="en-US" sz="2000" dirty="0"/>
              <a:t> de </a:t>
            </a:r>
            <a:r>
              <a:rPr lang="en-US" sz="2000" dirty="0" err="1"/>
              <a:t>câte</a:t>
            </a:r>
            <a:r>
              <a:rPr lang="en-US" sz="2000" dirty="0"/>
              <a:t> 24 de </a:t>
            </a:r>
            <a:r>
              <a:rPr lang="en-US" sz="2000" dirty="0" err="1"/>
              <a:t>eșantioane</a:t>
            </a:r>
            <a:r>
              <a:rPr lang="en-US" sz="2000" dirty="0"/>
              <a:t>, </a:t>
            </a:r>
            <a:r>
              <a:rPr lang="en-US" sz="2000" dirty="0" err="1"/>
              <a:t>sau</a:t>
            </a:r>
            <a:r>
              <a:rPr lang="en-US" sz="2000" dirty="0"/>
              <a:t> 24 de ore, am </a:t>
            </a:r>
            <a:r>
              <a:rPr lang="en-US" sz="2000" dirty="0" err="1"/>
              <a:t>folosit</a:t>
            </a:r>
            <a:r>
              <a:rPr lang="en-US" sz="2000" dirty="0"/>
              <a:t> un </a:t>
            </a:r>
            <a:r>
              <a:rPr lang="en-US" sz="2000" dirty="0" err="1"/>
              <a:t>parametru</a:t>
            </a:r>
            <a:r>
              <a:rPr lang="en-US" sz="2000" dirty="0"/>
              <a:t> </a:t>
            </a:r>
            <a:r>
              <a:rPr lang="en-US" sz="2000" dirty="0" err="1"/>
              <a:t>autoregresiv</a:t>
            </a:r>
            <a:r>
              <a:rPr lang="en-US" sz="2000" dirty="0"/>
              <a:t>, un </a:t>
            </a:r>
            <a:r>
              <a:rPr lang="en-US" sz="2000" dirty="0" err="1"/>
              <a:t>ordin</a:t>
            </a:r>
            <a:r>
              <a:rPr lang="en-US" sz="2000" dirty="0"/>
              <a:t> de </a:t>
            </a:r>
            <a:r>
              <a:rPr lang="en-US" sz="2000" dirty="0" err="1"/>
              <a:t>diferențiere</a:t>
            </a:r>
            <a:r>
              <a:rPr lang="en-US" sz="2000" dirty="0"/>
              <a:t> </a:t>
            </a:r>
            <a:r>
              <a:rPr lang="en-US" sz="2000" dirty="0" err="1"/>
              <a:t>și</a:t>
            </a:r>
            <a:r>
              <a:rPr lang="en-US" sz="2000" dirty="0"/>
              <a:t> un </a:t>
            </a:r>
            <a:r>
              <a:rPr lang="en-US" sz="2000" dirty="0" err="1"/>
              <a:t>parametru</a:t>
            </a:r>
            <a:r>
              <a:rPr lang="en-US" sz="2000" dirty="0"/>
              <a:t> de </a:t>
            </a:r>
            <a:r>
              <a:rPr lang="en-US" sz="2000" dirty="0" err="1"/>
              <a:t>mediere</a:t>
            </a:r>
            <a:r>
              <a:rPr lang="en-US" sz="2000" dirty="0"/>
              <a:t>, </a:t>
            </a:r>
            <a:r>
              <a:rPr lang="en-US" sz="2000" dirty="0" err="1"/>
              <a:t>obținând</a:t>
            </a:r>
            <a:r>
              <a:rPr lang="en-US" sz="2000" dirty="0"/>
              <a:t> media </a:t>
            </a:r>
            <a:r>
              <a:rPr lang="en-US" sz="2000" dirty="0" err="1"/>
              <a:t>pătratelor</a:t>
            </a:r>
            <a:r>
              <a:rPr lang="en-US" sz="2000" dirty="0"/>
              <a:t> </a:t>
            </a:r>
            <a:r>
              <a:rPr lang="en-US" sz="2000" dirty="0" err="1"/>
              <a:t>erorilor</a:t>
            </a:r>
            <a:r>
              <a:rPr lang="en-US" sz="2000" dirty="0"/>
              <a:t> de 23.8666.</a:t>
            </a:r>
            <a:endParaRPr lang="ro-RO" sz="2000" dirty="0"/>
          </a:p>
          <a:p>
            <a:endParaRPr lang="en-US" b="1" dirty="0"/>
          </a:p>
        </p:txBody>
      </p:sp>
      <p:pic>
        <p:nvPicPr>
          <p:cNvPr id="5" name="Picture 4">
            <a:extLst>
              <a:ext uri="{FF2B5EF4-FFF2-40B4-BE49-F238E27FC236}">
                <a16:creationId xmlns:a16="http://schemas.microsoft.com/office/drawing/2014/main" id="{BF0601D0-162B-4627-ACC2-9F87022FCD7C}"/>
              </a:ext>
            </a:extLst>
          </p:cNvPr>
          <p:cNvPicPr>
            <a:picLocks noChangeAspect="1"/>
          </p:cNvPicPr>
          <p:nvPr/>
        </p:nvPicPr>
        <p:blipFill>
          <a:blip r:embed="rId2"/>
          <a:stretch>
            <a:fillRect/>
          </a:stretch>
        </p:blipFill>
        <p:spPr>
          <a:xfrm>
            <a:off x="838200" y="2790257"/>
            <a:ext cx="5182323" cy="4067743"/>
          </a:xfrm>
          <a:prstGeom prst="rect">
            <a:avLst/>
          </a:prstGeom>
        </p:spPr>
      </p:pic>
    </p:spTree>
    <p:extLst>
      <p:ext uri="{BB962C8B-B14F-4D97-AF65-F5344CB8AC3E}">
        <p14:creationId xmlns:p14="http://schemas.microsoft.com/office/powerpoint/2010/main" val="1868930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D4BED-7BA8-F92B-3D07-83277F593818}"/>
              </a:ext>
            </a:extLst>
          </p:cNvPr>
          <p:cNvSpPr>
            <a:spLocks noGrp="1"/>
          </p:cNvSpPr>
          <p:nvPr>
            <p:ph type="title"/>
          </p:nvPr>
        </p:nvSpPr>
        <p:spPr/>
        <p:txBody>
          <a:bodyPr/>
          <a:lstStyle/>
          <a:p>
            <a:r>
              <a:rPr lang="ro-RO" dirty="0"/>
              <a:t>Concluzii</a:t>
            </a:r>
            <a:endParaRPr lang="en-US" dirty="0"/>
          </a:p>
        </p:txBody>
      </p:sp>
      <p:sp>
        <p:nvSpPr>
          <p:cNvPr id="3" name="Content Placeholder 2">
            <a:extLst>
              <a:ext uri="{FF2B5EF4-FFF2-40B4-BE49-F238E27FC236}">
                <a16:creationId xmlns:a16="http://schemas.microsoft.com/office/drawing/2014/main" id="{85879E56-2EB4-6E90-8380-4946C9D93B4B}"/>
              </a:ext>
            </a:extLst>
          </p:cNvPr>
          <p:cNvSpPr>
            <a:spLocks noGrp="1"/>
          </p:cNvSpPr>
          <p:nvPr>
            <p:ph idx="1"/>
          </p:nvPr>
        </p:nvSpPr>
        <p:spPr/>
        <p:txBody>
          <a:bodyPr/>
          <a:lstStyle/>
          <a:p>
            <a:r>
              <a:rPr lang="ro-RO" dirty="0"/>
              <a:t>Modelul ARMA este de departe cel mai slab dintre cele prezentate</a:t>
            </a:r>
          </a:p>
          <a:p>
            <a:r>
              <a:rPr lang="ro-RO" dirty="0"/>
              <a:t>Datele exogene în LSTM au scăzut </a:t>
            </a:r>
            <a:r>
              <a:rPr lang="ro-RO" dirty="0" err="1"/>
              <a:t>loss-ul</a:t>
            </a:r>
            <a:r>
              <a:rPr lang="ro-RO" dirty="0"/>
              <a:t> cu ~6.28%</a:t>
            </a:r>
          </a:p>
          <a:p>
            <a:r>
              <a:rPr lang="ro-RO" dirty="0" err="1"/>
              <a:t>Transformer-ul</a:t>
            </a:r>
            <a:r>
              <a:rPr lang="ro-RO" dirty="0"/>
              <a:t> are un </a:t>
            </a:r>
            <a:r>
              <a:rPr lang="ro-RO" dirty="0" err="1"/>
              <a:t>loss</a:t>
            </a:r>
            <a:r>
              <a:rPr lang="ro-RO" dirty="0"/>
              <a:t> mai mare din cauza scalării standard, dar în grafice se vede că a dat cele mai bune rezultate</a:t>
            </a:r>
          </a:p>
          <a:p>
            <a:r>
              <a:rPr lang="ro-RO" dirty="0"/>
              <a:t>De asemenea, </a:t>
            </a:r>
            <a:r>
              <a:rPr lang="ro-RO" dirty="0" err="1"/>
              <a:t>transformer-ul</a:t>
            </a:r>
            <a:r>
              <a:rPr lang="ro-RO" dirty="0"/>
              <a:t> este mult mai rapid, am antrenat 50 de epoci în 3-4 minute față de LSTM unde 10 epoci au durat 15 minute.</a:t>
            </a:r>
            <a:endParaRPr lang="en-US" dirty="0"/>
          </a:p>
        </p:txBody>
      </p:sp>
    </p:spTree>
    <p:extLst>
      <p:ext uri="{BB962C8B-B14F-4D97-AF65-F5344CB8AC3E}">
        <p14:creationId xmlns:p14="http://schemas.microsoft.com/office/powerpoint/2010/main" val="864580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617A-38F1-DA42-1C0E-3DBA396EADD0}"/>
              </a:ext>
            </a:extLst>
          </p:cNvPr>
          <p:cNvSpPr>
            <a:spLocks noGrp="1"/>
          </p:cNvSpPr>
          <p:nvPr>
            <p:ph type="title"/>
          </p:nvPr>
        </p:nvSpPr>
        <p:spPr/>
        <p:txBody>
          <a:bodyPr/>
          <a:lstStyle/>
          <a:p>
            <a:r>
              <a:rPr lang="ro-RO" dirty="0"/>
              <a:t>Posibile îmbunătățiri</a:t>
            </a:r>
            <a:endParaRPr lang="en-US" dirty="0"/>
          </a:p>
        </p:txBody>
      </p:sp>
      <p:sp>
        <p:nvSpPr>
          <p:cNvPr id="3" name="Content Placeholder 2">
            <a:extLst>
              <a:ext uri="{FF2B5EF4-FFF2-40B4-BE49-F238E27FC236}">
                <a16:creationId xmlns:a16="http://schemas.microsoft.com/office/drawing/2014/main" id="{AEF9FE2F-144D-AB31-0071-2FD01401A2B6}"/>
              </a:ext>
            </a:extLst>
          </p:cNvPr>
          <p:cNvSpPr>
            <a:spLocks noGrp="1"/>
          </p:cNvSpPr>
          <p:nvPr>
            <p:ph idx="1"/>
          </p:nvPr>
        </p:nvSpPr>
        <p:spPr/>
        <p:txBody>
          <a:bodyPr/>
          <a:lstStyle/>
          <a:p>
            <a:r>
              <a:rPr lang="ro-RO" dirty="0"/>
              <a:t>Încercarea a mai multor combinații de </a:t>
            </a:r>
            <a:r>
              <a:rPr lang="ro-RO" dirty="0" err="1"/>
              <a:t>hiperparametri</a:t>
            </a:r>
            <a:r>
              <a:rPr lang="ro-RO" dirty="0"/>
              <a:t>, în special la ARMA pentru o performanță mai bună.</a:t>
            </a:r>
          </a:p>
          <a:p>
            <a:r>
              <a:rPr lang="ro-RO" dirty="0"/>
              <a:t>Antrenarea unui RNN pentru a vedea cum pe termen lung acesta nu face față.</a:t>
            </a:r>
          </a:p>
          <a:p>
            <a:r>
              <a:rPr lang="ro-RO" dirty="0"/>
              <a:t>Încercarea unor modele pre-antrenate pe secvențe</a:t>
            </a:r>
            <a:endParaRPr lang="en-US" dirty="0"/>
          </a:p>
        </p:txBody>
      </p:sp>
    </p:spTree>
    <p:extLst>
      <p:ext uri="{BB962C8B-B14F-4D97-AF65-F5344CB8AC3E}">
        <p14:creationId xmlns:p14="http://schemas.microsoft.com/office/powerpoint/2010/main" val="2966461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A1497-3C06-8BB7-4DE5-795D0CAE69B7}"/>
              </a:ext>
            </a:extLst>
          </p:cNvPr>
          <p:cNvSpPr>
            <a:spLocks noGrp="1"/>
          </p:cNvSpPr>
          <p:nvPr>
            <p:ph type="title"/>
          </p:nvPr>
        </p:nvSpPr>
        <p:spPr>
          <a:xfrm>
            <a:off x="3182112" y="676656"/>
            <a:ext cx="6318504" cy="5404104"/>
          </a:xfrm>
        </p:spPr>
        <p:txBody>
          <a:bodyPr/>
          <a:lstStyle/>
          <a:p>
            <a:r>
              <a:rPr lang="ro-RO" dirty="0"/>
              <a:t>Mulțumim pentru atenție!</a:t>
            </a:r>
            <a:endParaRPr lang="en-US" dirty="0"/>
          </a:p>
        </p:txBody>
      </p:sp>
      <p:sp>
        <p:nvSpPr>
          <p:cNvPr id="3" name="Content Placeholder 2">
            <a:extLst>
              <a:ext uri="{FF2B5EF4-FFF2-40B4-BE49-F238E27FC236}">
                <a16:creationId xmlns:a16="http://schemas.microsoft.com/office/drawing/2014/main" id="{B33C04FB-58A5-8786-4E42-5F98984394BB}"/>
              </a:ext>
            </a:extLst>
          </p:cNvPr>
          <p:cNvSpPr>
            <a:spLocks noGrp="1"/>
          </p:cNvSpPr>
          <p:nvPr>
            <p:ph idx="1"/>
          </p:nvPr>
        </p:nvSpPr>
        <p:spPr>
          <a:xfrm flipH="1">
            <a:off x="12810744" y="6857998"/>
            <a:ext cx="722376" cy="45719"/>
          </a:xfrm>
        </p:spPr>
        <p:txBody>
          <a:bodyPr>
            <a:normAutofit fontScale="25000" lnSpcReduction="20000"/>
          </a:bodyPr>
          <a:lstStyle/>
          <a:p>
            <a:endParaRPr lang="en-US" dirty="0"/>
          </a:p>
        </p:txBody>
      </p:sp>
    </p:spTree>
    <p:extLst>
      <p:ext uri="{BB962C8B-B14F-4D97-AF65-F5344CB8AC3E}">
        <p14:creationId xmlns:p14="http://schemas.microsoft.com/office/powerpoint/2010/main" val="537304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TotalTime>
  <Words>1760</Words>
  <Application>Microsoft Office PowerPoint</Application>
  <PresentationFormat>Widescreen</PresentationFormat>
  <Paragraphs>145</Paragraphs>
  <Slides>25</Slides>
  <Notes>0</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40" baseType="lpstr">
      <vt:lpstr>Arial</vt:lpstr>
      <vt:lpstr>Calibri</vt:lpstr>
      <vt:lpstr>Calibri Light</vt:lpstr>
      <vt:lpstr>Cambria Math</vt:lpstr>
      <vt:lpstr>CMMI12</vt:lpstr>
      <vt:lpstr>CMMI8</vt:lpstr>
      <vt:lpstr>CMR12</vt:lpstr>
      <vt:lpstr>CMR8</vt:lpstr>
      <vt:lpstr>CMSY10</vt:lpstr>
      <vt:lpstr>SFBX1200</vt:lpstr>
      <vt:lpstr>SFRM0600</vt:lpstr>
      <vt:lpstr>SFRM1200</vt:lpstr>
      <vt:lpstr>Times New Roman</vt:lpstr>
      <vt:lpstr>Office Theme</vt:lpstr>
      <vt:lpstr>Adobe Acrobat Document</vt:lpstr>
      <vt:lpstr>Rețele neuronale LSTM pentru serii de timp</vt:lpstr>
      <vt:lpstr>Rezumat</vt:lpstr>
      <vt:lpstr>Setul de date</vt:lpstr>
      <vt:lpstr>PowerPoint Presentation</vt:lpstr>
      <vt:lpstr>RNN( Recurent Neural Network)</vt:lpstr>
      <vt:lpstr>Rețeaua  neuronala recurentă scrisă desfășurat</vt:lpstr>
      <vt:lpstr>Cum funcționează modelul</vt:lpstr>
      <vt:lpstr>Vanishing gradient și Exploding Gradient</vt:lpstr>
      <vt:lpstr>LSTM(Long Short-Term-Memory) networks</vt:lpstr>
      <vt:lpstr>PowerPoint Presentation</vt:lpstr>
      <vt:lpstr>PowerPoint Presentation</vt:lpstr>
      <vt:lpstr>PowerPoint Presentation</vt:lpstr>
      <vt:lpstr>PowerPoint Presentation</vt:lpstr>
      <vt:lpstr>PowerPoint Presentation</vt:lpstr>
      <vt:lpstr>Functia de forward pentru o  unitate LSTM in python folosind pytorch</vt:lpstr>
      <vt:lpstr>Rezultate</vt:lpstr>
      <vt:lpstr>Rezultate fără exogene Test Loss (MSE): 0.003395, Test RMSE: 0.058268.</vt:lpstr>
      <vt:lpstr>Rezultate cu date exogene Test Loss (MSE): 0.003182, Test RMSE: 0.056405.</vt:lpstr>
      <vt:lpstr>Alte modele de predicție Transformer</vt:lpstr>
      <vt:lpstr>Rezultat Tranformer</vt:lpstr>
      <vt:lpstr>ARMA</vt:lpstr>
      <vt:lpstr>Rezultat ARMA</vt:lpstr>
      <vt:lpstr>Concluzii</vt:lpstr>
      <vt:lpstr>Posibile îmbunătățiri</vt:lpstr>
      <vt:lpstr>Mulțumim pentru atenție!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Rețele neuronale LSTM pentru serii de timp</dc:title>
  <dc:creator>ionutluminararu2005@gmail.com</dc:creator>
  <cp:lastModifiedBy>Mihai Duzi</cp:lastModifiedBy>
  <cp:revision>27</cp:revision>
  <dcterms:created xsi:type="dcterms:W3CDTF">2026-02-04T15:46:22Z</dcterms:created>
  <dcterms:modified xsi:type="dcterms:W3CDTF">2026-02-05T10:56:05Z</dcterms:modified>
</cp:coreProperties>
</file>